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J4pqhq6fbXV633zaIxAaTmdIL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boldItalic.fntdata"/><Relationship Id="rId25" Type="http://schemas.openxmlformats.org/officeDocument/2006/relationships/font" Target="fonts/Roboto-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ja-JP"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p:cSld name="タイトル">
    <p:spTree>
      <p:nvGrpSpPr>
        <p:cNvPr id="13" name="Shape 13"/>
        <p:cNvGrpSpPr/>
        <p:nvPr/>
      </p:nvGrpSpPr>
      <p:grpSpPr>
        <a:xfrm>
          <a:off x="0" y="0"/>
          <a:ext cx="0" cy="0"/>
          <a:chOff x="0" y="0"/>
          <a:chExt cx="0" cy="0"/>
        </a:xfrm>
      </p:grpSpPr>
      <p:sp>
        <p:nvSpPr>
          <p:cNvPr id="14" name="Google Shape;14;p21"/>
          <p:cNvSpPr txBox="1"/>
          <p:nvPr>
            <p:ph type="ctrTitle"/>
          </p:nvPr>
        </p:nvSpPr>
        <p:spPr>
          <a:xfrm>
            <a:off x="1741932" y="1378947"/>
            <a:ext cx="8708136" cy="1938992"/>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Clr>
                <a:schemeClr val="dk1"/>
              </a:buClr>
              <a:buSzPts val="6000"/>
              <a:buFont typeface="Arial"/>
              <a:buNone/>
              <a:defRPr b="1"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1"/>
          <p:cNvSpPr txBox="1"/>
          <p:nvPr>
            <p:ph idx="1" type="subTitle"/>
          </p:nvPr>
        </p:nvSpPr>
        <p:spPr>
          <a:xfrm>
            <a:off x="1874982" y="3571614"/>
            <a:ext cx="8575086" cy="8852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7F7F7F"/>
              </a:buClr>
              <a:buSzPts val="2400"/>
              <a:buFont typeface="Arial"/>
              <a:buNone/>
              <a:defRPr b="0" sz="2400">
                <a:solidFill>
                  <a:srgbClr val="7F7F7F"/>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デジタル庁ロゴ&#10;" id="16" name="Google Shape;16;p21"/>
          <p:cNvPicPr preferRelativeResize="0"/>
          <p:nvPr/>
        </p:nvPicPr>
        <p:blipFill rotWithShape="1">
          <a:blip r:embed="rId2">
            <a:alphaModFix/>
          </a:blip>
          <a:srcRect b="0" l="0" r="0" t="0"/>
          <a:stretch/>
        </p:blipFill>
        <p:spPr>
          <a:xfrm>
            <a:off x="1597391" y="4840084"/>
            <a:ext cx="3286944" cy="10651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p:cSld name="タイトルとコンテンツ">
    <p:spTree>
      <p:nvGrpSpPr>
        <p:cNvPr id="17" name="Shape 17"/>
        <p:cNvGrpSpPr/>
        <p:nvPr/>
      </p:nvGrpSpPr>
      <p:grpSpPr>
        <a:xfrm>
          <a:off x="0" y="0"/>
          <a:ext cx="0" cy="0"/>
          <a:chOff x="0" y="0"/>
          <a:chExt cx="0" cy="0"/>
        </a:xfrm>
      </p:grpSpPr>
      <p:sp>
        <p:nvSpPr>
          <p:cNvPr id="18" name="Google Shape;18;p22"/>
          <p:cNvSpPr txBox="1"/>
          <p:nvPr>
            <p:ph idx="1" type="body"/>
          </p:nvPr>
        </p:nvSpPr>
        <p:spPr>
          <a:xfrm>
            <a:off x="838200" y="1371241"/>
            <a:ext cx="10515600" cy="481599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2"/>
          <p:cNvSpPr/>
          <p:nvPr/>
        </p:nvSpPr>
        <p:spPr>
          <a:xfrm rot="10800000">
            <a:off x="-88553" y="779126"/>
            <a:ext cx="432000" cy="72000"/>
          </a:xfrm>
          <a:prstGeom prst="roundRect">
            <a:avLst>
              <a:gd fmla="val 50000" name="adj"/>
            </a:avLst>
          </a:prstGeom>
          <a:solidFill>
            <a:srgbClr val="1E50B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22"/>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2"/>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400" u="none" cap="none" strike="noStrike">
                <a:solidFill>
                  <a:srgbClr val="7F7F7F"/>
                </a:solidFill>
                <a:latin typeface="Roboto"/>
                <a:ea typeface="Roboto"/>
                <a:cs typeface="Roboto"/>
                <a:sym typeface="Roboto"/>
              </a:defRPr>
            </a:lvl1pPr>
            <a:lvl2pPr indent="0" lvl="1" marL="0" algn="r">
              <a:spcBef>
                <a:spcPts val="0"/>
              </a:spcBef>
              <a:buNone/>
              <a:defRPr b="0" i="0" sz="1400" u="none" cap="none" strike="noStrike">
                <a:solidFill>
                  <a:srgbClr val="7F7F7F"/>
                </a:solidFill>
                <a:latin typeface="Roboto"/>
                <a:ea typeface="Roboto"/>
                <a:cs typeface="Roboto"/>
                <a:sym typeface="Roboto"/>
              </a:defRPr>
            </a:lvl2pPr>
            <a:lvl3pPr indent="0" lvl="2" marL="0" algn="r">
              <a:spcBef>
                <a:spcPts val="0"/>
              </a:spcBef>
              <a:buNone/>
              <a:defRPr b="0" i="0" sz="1400" u="none" cap="none" strike="noStrike">
                <a:solidFill>
                  <a:srgbClr val="7F7F7F"/>
                </a:solidFill>
                <a:latin typeface="Roboto"/>
                <a:ea typeface="Roboto"/>
                <a:cs typeface="Roboto"/>
                <a:sym typeface="Roboto"/>
              </a:defRPr>
            </a:lvl3pPr>
            <a:lvl4pPr indent="0" lvl="3" marL="0" algn="r">
              <a:spcBef>
                <a:spcPts val="0"/>
              </a:spcBef>
              <a:buNone/>
              <a:defRPr b="0" i="0" sz="1400" u="none" cap="none" strike="noStrike">
                <a:solidFill>
                  <a:srgbClr val="7F7F7F"/>
                </a:solidFill>
                <a:latin typeface="Roboto"/>
                <a:ea typeface="Roboto"/>
                <a:cs typeface="Roboto"/>
                <a:sym typeface="Roboto"/>
              </a:defRPr>
            </a:lvl4pPr>
            <a:lvl5pPr indent="0" lvl="4" marL="0" algn="r">
              <a:spcBef>
                <a:spcPts val="0"/>
              </a:spcBef>
              <a:buNone/>
              <a:defRPr b="0" i="0" sz="1400" u="none" cap="none" strike="noStrike">
                <a:solidFill>
                  <a:srgbClr val="7F7F7F"/>
                </a:solidFill>
                <a:latin typeface="Roboto"/>
                <a:ea typeface="Roboto"/>
                <a:cs typeface="Roboto"/>
                <a:sym typeface="Roboto"/>
              </a:defRPr>
            </a:lvl5pPr>
            <a:lvl6pPr indent="0" lvl="5" marL="0" algn="r">
              <a:spcBef>
                <a:spcPts val="0"/>
              </a:spcBef>
              <a:buNone/>
              <a:defRPr b="0" i="0" sz="1400" u="none" cap="none" strike="noStrike">
                <a:solidFill>
                  <a:srgbClr val="7F7F7F"/>
                </a:solidFill>
                <a:latin typeface="Roboto"/>
                <a:ea typeface="Roboto"/>
                <a:cs typeface="Roboto"/>
                <a:sym typeface="Roboto"/>
              </a:defRPr>
            </a:lvl6pPr>
            <a:lvl7pPr indent="0" lvl="6" marL="0" algn="r">
              <a:spcBef>
                <a:spcPts val="0"/>
              </a:spcBef>
              <a:buNone/>
              <a:defRPr b="0" i="0" sz="1400" u="none" cap="none" strike="noStrike">
                <a:solidFill>
                  <a:srgbClr val="7F7F7F"/>
                </a:solidFill>
                <a:latin typeface="Roboto"/>
                <a:ea typeface="Roboto"/>
                <a:cs typeface="Roboto"/>
                <a:sym typeface="Roboto"/>
              </a:defRPr>
            </a:lvl7pPr>
            <a:lvl8pPr indent="0" lvl="7" marL="0" algn="r">
              <a:spcBef>
                <a:spcPts val="0"/>
              </a:spcBef>
              <a:buNone/>
              <a:defRPr b="0" i="0" sz="1400" u="none" cap="none" strike="noStrike">
                <a:solidFill>
                  <a:srgbClr val="7F7F7F"/>
                </a:solidFill>
                <a:latin typeface="Roboto"/>
                <a:ea typeface="Roboto"/>
                <a:cs typeface="Roboto"/>
                <a:sym typeface="Roboto"/>
              </a:defRPr>
            </a:lvl8pPr>
            <a:lvl9pPr indent="0" lvl="8" marL="0" algn="r">
              <a:spcBef>
                <a:spcPts val="0"/>
              </a:spcBef>
              <a:buNone/>
              <a:defRPr b="0" i="0" sz="14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タイトル" showMasterSp="0">
  <p:cSld name="セクションタイトル">
    <p:bg>
      <p:bgPr>
        <a:solidFill>
          <a:schemeClr val="lt1"/>
        </a:solidFill>
      </p:bgPr>
    </p:bg>
    <p:spTree>
      <p:nvGrpSpPr>
        <p:cNvPr id="22" name="Shape 22"/>
        <p:cNvGrpSpPr/>
        <p:nvPr/>
      </p:nvGrpSpPr>
      <p:grpSpPr>
        <a:xfrm>
          <a:off x="0" y="0"/>
          <a:ext cx="0" cy="0"/>
          <a:chOff x="0" y="0"/>
          <a:chExt cx="0" cy="0"/>
        </a:xfrm>
      </p:grpSpPr>
      <p:sp>
        <p:nvSpPr>
          <p:cNvPr id="23" name="Google Shape;23;p23"/>
          <p:cNvSpPr txBox="1"/>
          <p:nvPr>
            <p:ph idx="1" type="body"/>
          </p:nvPr>
        </p:nvSpPr>
        <p:spPr>
          <a:xfrm>
            <a:off x="960698" y="3607309"/>
            <a:ext cx="10386751" cy="7025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F7F7F"/>
              </a:buClr>
              <a:buSzPts val="2400"/>
              <a:buNone/>
              <a:defRPr sz="2400">
                <a:solidFill>
                  <a:srgbClr val="7F7F7F"/>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23"/>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sz="1400">
                <a:solidFill>
                  <a:srgbClr val="7F7F7F"/>
                </a:solidFill>
                <a:latin typeface="Roboto"/>
                <a:ea typeface="Roboto"/>
                <a:cs typeface="Roboto"/>
                <a:sym typeface="Roboto"/>
              </a:defRPr>
            </a:lvl1pPr>
            <a:lvl2pPr indent="0" lvl="1" marL="0" algn="r">
              <a:spcBef>
                <a:spcPts val="0"/>
              </a:spcBef>
              <a:buNone/>
              <a:defRPr b="0" sz="1400">
                <a:solidFill>
                  <a:srgbClr val="7F7F7F"/>
                </a:solidFill>
                <a:latin typeface="Roboto"/>
                <a:ea typeface="Roboto"/>
                <a:cs typeface="Roboto"/>
                <a:sym typeface="Roboto"/>
              </a:defRPr>
            </a:lvl2pPr>
            <a:lvl3pPr indent="0" lvl="2" marL="0" algn="r">
              <a:spcBef>
                <a:spcPts val="0"/>
              </a:spcBef>
              <a:buNone/>
              <a:defRPr b="0" sz="1400">
                <a:solidFill>
                  <a:srgbClr val="7F7F7F"/>
                </a:solidFill>
                <a:latin typeface="Roboto"/>
                <a:ea typeface="Roboto"/>
                <a:cs typeface="Roboto"/>
                <a:sym typeface="Roboto"/>
              </a:defRPr>
            </a:lvl3pPr>
            <a:lvl4pPr indent="0" lvl="3" marL="0" algn="r">
              <a:spcBef>
                <a:spcPts val="0"/>
              </a:spcBef>
              <a:buNone/>
              <a:defRPr b="0" sz="1400">
                <a:solidFill>
                  <a:srgbClr val="7F7F7F"/>
                </a:solidFill>
                <a:latin typeface="Roboto"/>
                <a:ea typeface="Roboto"/>
                <a:cs typeface="Roboto"/>
                <a:sym typeface="Roboto"/>
              </a:defRPr>
            </a:lvl4pPr>
            <a:lvl5pPr indent="0" lvl="4" marL="0" algn="r">
              <a:spcBef>
                <a:spcPts val="0"/>
              </a:spcBef>
              <a:buNone/>
              <a:defRPr b="0" sz="1400">
                <a:solidFill>
                  <a:srgbClr val="7F7F7F"/>
                </a:solidFill>
                <a:latin typeface="Roboto"/>
                <a:ea typeface="Roboto"/>
                <a:cs typeface="Roboto"/>
                <a:sym typeface="Roboto"/>
              </a:defRPr>
            </a:lvl5pPr>
            <a:lvl6pPr indent="0" lvl="5" marL="0" algn="r">
              <a:spcBef>
                <a:spcPts val="0"/>
              </a:spcBef>
              <a:buNone/>
              <a:defRPr b="0" sz="1400">
                <a:solidFill>
                  <a:srgbClr val="7F7F7F"/>
                </a:solidFill>
                <a:latin typeface="Roboto"/>
                <a:ea typeface="Roboto"/>
                <a:cs typeface="Roboto"/>
                <a:sym typeface="Roboto"/>
              </a:defRPr>
            </a:lvl6pPr>
            <a:lvl7pPr indent="0" lvl="6" marL="0" algn="r">
              <a:spcBef>
                <a:spcPts val="0"/>
              </a:spcBef>
              <a:buNone/>
              <a:defRPr b="0" sz="1400">
                <a:solidFill>
                  <a:srgbClr val="7F7F7F"/>
                </a:solidFill>
                <a:latin typeface="Roboto"/>
                <a:ea typeface="Roboto"/>
                <a:cs typeface="Roboto"/>
                <a:sym typeface="Roboto"/>
              </a:defRPr>
            </a:lvl7pPr>
            <a:lvl8pPr indent="0" lvl="7" marL="0" algn="r">
              <a:spcBef>
                <a:spcPts val="0"/>
              </a:spcBef>
              <a:buNone/>
              <a:defRPr b="0" sz="1400">
                <a:solidFill>
                  <a:srgbClr val="7F7F7F"/>
                </a:solidFill>
                <a:latin typeface="Roboto"/>
                <a:ea typeface="Roboto"/>
                <a:cs typeface="Roboto"/>
                <a:sym typeface="Roboto"/>
              </a:defRPr>
            </a:lvl8pPr>
            <a:lvl9pPr indent="0" lvl="8" marL="0" algn="r">
              <a:spcBef>
                <a:spcPts val="0"/>
              </a:spcBef>
              <a:buNone/>
              <a:defRPr b="0" sz="1400">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JP"/>
              <a:t>‹#›</a:t>
            </a:fld>
            <a:endParaRPr/>
          </a:p>
        </p:txBody>
      </p:sp>
      <p:sp>
        <p:nvSpPr>
          <p:cNvPr id="25" name="Google Shape;25;p23"/>
          <p:cNvSpPr/>
          <p:nvPr/>
        </p:nvSpPr>
        <p:spPr>
          <a:xfrm rot="10800000">
            <a:off x="-88553" y="2999808"/>
            <a:ext cx="432000" cy="72000"/>
          </a:xfrm>
          <a:prstGeom prst="roundRect">
            <a:avLst>
              <a:gd fmla="val 50000" name="adj"/>
            </a:avLst>
          </a:prstGeom>
          <a:solidFill>
            <a:srgbClr val="11AC5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23"/>
          <p:cNvSpPr txBox="1"/>
          <p:nvPr>
            <p:ph type="title"/>
          </p:nvPr>
        </p:nvSpPr>
        <p:spPr>
          <a:xfrm>
            <a:off x="838200" y="2684525"/>
            <a:ext cx="10515600" cy="702565"/>
          </a:xfrm>
          <a:prstGeom prst="rect">
            <a:avLst/>
          </a:prstGeom>
          <a:noFill/>
          <a:ln>
            <a:noFill/>
          </a:ln>
        </p:spPr>
        <p:txBody>
          <a:bodyPr anchorCtr="0" anchor="ctr" bIns="45700" lIns="91425" spcFirstLastPara="1" rIns="91425" wrap="square" tIns="4570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サマリとコンテンツ">
  <p:cSld name="タイトルとサマリとコンテンツ">
    <p:spTree>
      <p:nvGrpSpPr>
        <p:cNvPr id="27" name="Shape 27"/>
        <p:cNvGrpSpPr/>
        <p:nvPr/>
      </p:nvGrpSpPr>
      <p:grpSpPr>
        <a:xfrm>
          <a:off x="0" y="0"/>
          <a:ext cx="0" cy="0"/>
          <a:chOff x="0" y="0"/>
          <a:chExt cx="0" cy="0"/>
        </a:xfrm>
      </p:grpSpPr>
      <p:sp>
        <p:nvSpPr>
          <p:cNvPr id="28" name="Google Shape;28;p24"/>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ja-JP"/>
              <a:t>‹#›</a:t>
            </a:fld>
            <a:endParaRPr/>
          </a:p>
        </p:txBody>
      </p:sp>
      <p:sp>
        <p:nvSpPr>
          <p:cNvPr id="30" name="Google Shape;30;p24"/>
          <p:cNvSpPr txBox="1"/>
          <p:nvPr>
            <p:ph idx="1" type="body"/>
          </p:nvPr>
        </p:nvSpPr>
        <p:spPr>
          <a:xfrm>
            <a:off x="838201" y="1333178"/>
            <a:ext cx="10515600" cy="2191186"/>
          </a:xfrm>
          <a:prstGeom prst="rect">
            <a:avLst/>
          </a:prstGeom>
          <a:solidFill>
            <a:srgbClr val="F2F2F2"/>
          </a:solidFill>
          <a:ln>
            <a:noFill/>
          </a:ln>
        </p:spPr>
        <p:txBody>
          <a:bodyPr anchorCtr="0" anchor="t" bIns="216000" lIns="360000" spcFirstLastPara="1" rIns="360000" wrap="square" tIns="216000">
            <a:sp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4"/>
          <p:cNvSpPr txBox="1"/>
          <p:nvPr>
            <p:ph idx="2" type="body"/>
          </p:nvPr>
        </p:nvSpPr>
        <p:spPr>
          <a:xfrm>
            <a:off x="838200" y="3648074"/>
            <a:ext cx="10515600" cy="25033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4"/>
          <p:cNvSpPr/>
          <p:nvPr/>
        </p:nvSpPr>
        <p:spPr>
          <a:xfrm rot="10800000">
            <a:off x="-88553" y="779126"/>
            <a:ext cx="432000" cy="72000"/>
          </a:xfrm>
          <a:prstGeom prst="roundRect">
            <a:avLst>
              <a:gd fmla="val 50000" name="adj"/>
            </a:avLst>
          </a:prstGeom>
          <a:solidFill>
            <a:srgbClr val="1E50B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ロゴのみ">
  <p:cSld name="ロゴのみ">
    <p:spTree>
      <p:nvGrpSpPr>
        <p:cNvPr id="33" name="Shape 33"/>
        <p:cNvGrpSpPr/>
        <p:nvPr/>
      </p:nvGrpSpPr>
      <p:grpSpPr>
        <a:xfrm>
          <a:off x="0" y="0"/>
          <a:ext cx="0" cy="0"/>
          <a:chOff x="0" y="0"/>
          <a:chExt cx="0" cy="0"/>
        </a:xfrm>
      </p:grpSpPr>
      <p:pic>
        <p:nvPicPr>
          <p:cNvPr descr="デジタル庁ロゴ" id="34" name="Google Shape;34;p25"/>
          <p:cNvPicPr preferRelativeResize="0"/>
          <p:nvPr/>
        </p:nvPicPr>
        <p:blipFill rotWithShape="1">
          <a:blip r:embed="rId2">
            <a:alphaModFix/>
          </a:blip>
          <a:srcRect b="0" l="0" r="0" t="0"/>
          <a:stretch/>
        </p:blipFill>
        <p:spPr>
          <a:xfrm>
            <a:off x="3786161" y="2712273"/>
            <a:ext cx="4619677" cy="143345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lvl1pPr lvl="0" marR="0" rtl="0" algn="l">
              <a:lnSpc>
                <a:spcPct val="90000"/>
              </a:lnSpc>
              <a:spcBef>
                <a:spcPts val="0"/>
              </a:spcBef>
              <a:spcAft>
                <a:spcPts val="0"/>
              </a:spcAft>
              <a:buClr>
                <a:schemeClr val="dk1"/>
              </a:buClr>
              <a:buSzPts val="4400"/>
              <a:buFont typeface="Roboto"/>
              <a:buNone/>
              <a:defRPr b="1" i="0" sz="4400" u="none" cap="none" strike="noStrike">
                <a:solidFill>
                  <a:schemeClr val="dk1"/>
                </a:solidFill>
                <a:latin typeface="Roboto"/>
                <a:ea typeface="Roboto"/>
                <a:cs typeface="Roboto"/>
                <a:sym typeface="Robo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38200" y="1362076"/>
            <a:ext cx="10515600" cy="481488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0"/>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400" u="none" cap="none" strike="noStrike">
                <a:solidFill>
                  <a:srgbClr val="7F7F7F"/>
                </a:solidFill>
                <a:latin typeface="Roboto"/>
                <a:ea typeface="Roboto"/>
                <a:cs typeface="Roboto"/>
                <a:sym typeface="Roboto"/>
              </a:defRPr>
            </a:lvl1pPr>
            <a:lvl2pPr indent="0" lvl="1" marL="0" marR="0" rtl="0" algn="r">
              <a:spcBef>
                <a:spcPts val="0"/>
              </a:spcBef>
              <a:buNone/>
              <a:defRPr b="0" i="0" sz="1400" u="none" cap="none" strike="noStrike">
                <a:solidFill>
                  <a:srgbClr val="7F7F7F"/>
                </a:solidFill>
                <a:latin typeface="Roboto"/>
                <a:ea typeface="Roboto"/>
                <a:cs typeface="Roboto"/>
                <a:sym typeface="Roboto"/>
              </a:defRPr>
            </a:lvl2pPr>
            <a:lvl3pPr indent="0" lvl="2" marL="0" marR="0" rtl="0" algn="r">
              <a:spcBef>
                <a:spcPts val="0"/>
              </a:spcBef>
              <a:buNone/>
              <a:defRPr b="0" i="0" sz="1400" u="none" cap="none" strike="noStrike">
                <a:solidFill>
                  <a:srgbClr val="7F7F7F"/>
                </a:solidFill>
                <a:latin typeface="Roboto"/>
                <a:ea typeface="Roboto"/>
                <a:cs typeface="Roboto"/>
                <a:sym typeface="Roboto"/>
              </a:defRPr>
            </a:lvl3pPr>
            <a:lvl4pPr indent="0" lvl="3" marL="0" marR="0" rtl="0" algn="r">
              <a:spcBef>
                <a:spcPts val="0"/>
              </a:spcBef>
              <a:buNone/>
              <a:defRPr b="0" i="0" sz="1400" u="none" cap="none" strike="noStrike">
                <a:solidFill>
                  <a:srgbClr val="7F7F7F"/>
                </a:solidFill>
                <a:latin typeface="Roboto"/>
                <a:ea typeface="Roboto"/>
                <a:cs typeface="Roboto"/>
                <a:sym typeface="Roboto"/>
              </a:defRPr>
            </a:lvl4pPr>
            <a:lvl5pPr indent="0" lvl="4" marL="0" marR="0" rtl="0" algn="r">
              <a:spcBef>
                <a:spcPts val="0"/>
              </a:spcBef>
              <a:buNone/>
              <a:defRPr b="0" i="0" sz="1400" u="none" cap="none" strike="noStrike">
                <a:solidFill>
                  <a:srgbClr val="7F7F7F"/>
                </a:solidFill>
                <a:latin typeface="Roboto"/>
                <a:ea typeface="Roboto"/>
                <a:cs typeface="Roboto"/>
                <a:sym typeface="Roboto"/>
              </a:defRPr>
            </a:lvl5pPr>
            <a:lvl6pPr indent="0" lvl="5" marL="0" marR="0" rtl="0" algn="r">
              <a:spcBef>
                <a:spcPts val="0"/>
              </a:spcBef>
              <a:buNone/>
              <a:defRPr b="0" i="0" sz="1400" u="none" cap="none" strike="noStrike">
                <a:solidFill>
                  <a:srgbClr val="7F7F7F"/>
                </a:solidFill>
                <a:latin typeface="Roboto"/>
                <a:ea typeface="Roboto"/>
                <a:cs typeface="Roboto"/>
                <a:sym typeface="Roboto"/>
              </a:defRPr>
            </a:lvl6pPr>
            <a:lvl7pPr indent="0" lvl="6" marL="0" marR="0" rtl="0" algn="r">
              <a:spcBef>
                <a:spcPts val="0"/>
              </a:spcBef>
              <a:buNone/>
              <a:defRPr b="0" i="0" sz="1400" u="none" cap="none" strike="noStrike">
                <a:solidFill>
                  <a:srgbClr val="7F7F7F"/>
                </a:solidFill>
                <a:latin typeface="Roboto"/>
                <a:ea typeface="Roboto"/>
                <a:cs typeface="Roboto"/>
                <a:sym typeface="Roboto"/>
              </a:defRPr>
            </a:lvl7pPr>
            <a:lvl8pPr indent="0" lvl="7" marL="0" marR="0" rtl="0" algn="r">
              <a:spcBef>
                <a:spcPts val="0"/>
              </a:spcBef>
              <a:buNone/>
              <a:defRPr b="0" i="0" sz="1400" u="none" cap="none" strike="noStrike">
                <a:solidFill>
                  <a:srgbClr val="7F7F7F"/>
                </a:solidFill>
                <a:latin typeface="Roboto"/>
                <a:ea typeface="Roboto"/>
                <a:cs typeface="Roboto"/>
                <a:sym typeface="Roboto"/>
              </a:defRPr>
            </a:lvl8pPr>
            <a:lvl9pPr indent="0" lvl="8" marL="0" marR="0" rtl="0" algn="r">
              <a:spcBef>
                <a:spcPts val="0"/>
              </a:spcBef>
              <a:buNone/>
              <a:defRPr b="0" i="0" sz="14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
          <p:cNvSpPr txBox="1"/>
          <p:nvPr>
            <p:ph type="ctrTitle"/>
          </p:nvPr>
        </p:nvSpPr>
        <p:spPr>
          <a:xfrm>
            <a:off x="1741932" y="1378947"/>
            <a:ext cx="8859676" cy="193899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4800"/>
              <a:buFont typeface="Arial"/>
              <a:buNone/>
            </a:pPr>
            <a:r>
              <a:rPr lang="ja-JP" sz="4800"/>
              <a:t>ガバメントクラウドでの</a:t>
            </a:r>
            <a:br>
              <a:rPr lang="ja-JP" sz="4800"/>
            </a:br>
            <a:r>
              <a:rPr lang="ja-JP" sz="4800"/>
              <a:t>セキュリティの考え方</a:t>
            </a:r>
            <a:br>
              <a:rPr lang="ja-JP" sz="4800"/>
            </a:br>
            <a:r>
              <a:rPr lang="ja-JP" sz="4000"/>
              <a:t>〜範囲の絞り込みと日々の監視・修正</a:t>
            </a:r>
            <a:endParaRPr sz="4800"/>
          </a:p>
        </p:txBody>
      </p:sp>
      <p:sp>
        <p:nvSpPr>
          <p:cNvPr id="41" name="Google Shape;41;p1"/>
          <p:cNvSpPr txBox="1"/>
          <p:nvPr>
            <p:ph idx="1" type="subTitle"/>
          </p:nvPr>
        </p:nvSpPr>
        <p:spPr>
          <a:xfrm>
            <a:off x="1874982" y="3571614"/>
            <a:ext cx="8575086" cy="8852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F7F7F"/>
              </a:buClr>
              <a:buSzPts val="2400"/>
              <a:buFont typeface="Arial"/>
              <a:buNone/>
            </a:pPr>
            <a:r>
              <a:rPr lang="ja-JP"/>
              <a:t>2023年3月10日</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3"/>
          <p:cNvSpPr txBox="1"/>
          <p:nvPr>
            <p:ph idx="1" type="body"/>
          </p:nvPr>
        </p:nvSpPr>
        <p:spPr>
          <a:xfrm>
            <a:off x="838200" y="1371241"/>
            <a:ext cx="10515600" cy="481599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ja-JP"/>
              <a:t>ガバメントクラウド”管理”側でのセキュリティの考え方</a:t>
            </a:r>
            <a:endParaRPr/>
          </a:p>
          <a:p>
            <a:pPr indent="-228600" lvl="1" marL="685800" rtl="0" algn="l">
              <a:lnSpc>
                <a:spcPct val="90000"/>
              </a:lnSpc>
              <a:spcBef>
                <a:spcPts val="500"/>
              </a:spcBef>
              <a:spcAft>
                <a:spcPts val="0"/>
              </a:spcAft>
              <a:buClr>
                <a:schemeClr val="dk1"/>
              </a:buClr>
              <a:buSzPts val="2400"/>
              <a:buChar char="•"/>
            </a:pPr>
            <a:r>
              <a:rPr lang="ja-JP"/>
              <a:t>ガバメントクラウド概観</a:t>
            </a:r>
            <a:endParaRPr/>
          </a:p>
          <a:p>
            <a:pPr indent="-228600" lvl="1" marL="685800" rtl="0" algn="l">
              <a:lnSpc>
                <a:spcPct val="90000"/>
              </a:lnSpc>
              <a:spcBef>
                <a:spcPts val="500"/>
              </a:spcBef>
              <a:spcAft>
                <a:spcPts val="0"/>
              </a:spcAft>
              <a:buClr>
                <a:schemeClr val="dk1"/>
              </a:buClr>
              <a:buSzPts val="2400"/>
              <a:buChar char="•"/>
            </a:pPr>
            <a:r>
              <a:rPr lang="ja-JP"/>
              <a:t>スケーラビリティと大規模な環境管理が課題</a:t>
            </a:r>
            <a:endParaRPr/>
          </a:p>
          <a:p>
            <a:pPr indent="-228600" lvl="1" marL="685800" rtl="0" algn="l">
              <a:lnSpc>
                <a:spcPct val="90000"/>
              </a:lnSpc>
              <a:spcBef>
                <a:spcPts val="500"/>
              </a:spcBef>
              <a:spcAft>
                <a:spcPts val="0"/>
              </a:spcAft>
              <a:buClr>
                <a:schemeClr val="dk1"/>
              </a:buClr>
              <a:buSzPts val="2400"/>
              <a:buChar char="•"/>
            </a:pPr>
            <a:r>
              <a:rPr lang="ja-JP"/>
              <a:t>スケールとガバナンスの両立 – ガバナンスの自動化</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ja-JP"/>
              <a:t>ガバメントクラウド”利用者”側でのセキュリティの考え方</a:t>
            </a:r>
            <a:endParaRPr/>
          </a:p>
          <a:p>
            <a:pPr indent="-228600" lvl="1" marL="685800" rtl="0" algn="l">
              <a:lnSpc>
                <a:spcPct val="90000"/>
              </a:lnSpc>
              <a:spcBef>
                <a:spcPts val="500"/>
              </a:spcBef>
              <a:spcAft>
                <a:spcPts val="0"/>
              </a:spcAft>
              <a:buClr>
                <a:schemeClr val="dk1"/>
              </a:buClr>
              <a:buSzPts val="2400"/>
              <a:buChar char="•"/>
            </a:pPr>
            <a:r>
              <a:rPr lang="ja-JP"/>
              <a:t>責任共有モデルにより範囲を絞る</a:t>
            </a:r>
            <a:endParaRPr/>
          </a:p>
          <a:p>
            <a:pPr indent="-228600" lvl="1" marL="685800" rtl="0" algn="l">
              <a:lnSpc>
                <a:spcPct val="90000"/>
              </a:lnSpc>
              <a:spcBef>
                <a:spcPts val="500"/>
              </a:spcBef>
              <a:spcAft>
                <a:spcPts val="0"/>
              </a:spcAft>
              <a:buClr>
                <a:schemeClr val="dk1"/>
              </a:buClr>
              <a:buSzPts val="2400"/>
              <a:buChar char="•"/>
            </a:pPr>
            <a:r>
              <a:rPr lang="ja-JP"/>
              <a:t>セキュリティ対策の範囲を絞り込み、日常的な監視で重大な状況になる前に修正する</a:t>
            </a:r>
            <a:endParaRPr/>
          </a:p>
        </p:txBody>
      </p:sp>
      <p:sp>
        <p:nvSpPr>
          <p:cNvPr id="48" name="Google Shape;48;p3"/>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目次</a:t>
            </a:r>
            <a:endParaRPr/>
          </a:p>
        </p:txBody>
      </p:sp>
      <p:sp>
        <p:nvSpPr>
          <p:cNvPr id="49" name="Google Shape;49;p3"/>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4"/>
          <p:cNvSpPr txBox="1"/>
          <p:nvPr>
            <p:ph type="title"/>
          </p:nvPr>
        </p:nvSpPr>
        <p:spPr>
          <a:xfrm>
            <a:off x="838200" y="490964"/>
            <a:ext cx="10515600" cy="648319"/>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000"/>
              <a:buFont typeface="Roboto"/>
              <a:buNone/>
            </a:pPr>
            <a:r>
              <a:rPr lang="ja-JP" sz="4000"/>
              <a:t>ガバメントクラウドでのガバナンスの考え方</a:t>
            </a:r>
            <a:endParaRPr/>
          </a:p>
        </p:txBody>
      </p:sp>
      <p:sp>
        <p:nvSpPr>
          <p:cNvPr id="56" name="Google Shape;56;p4"/>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57" name="Google Shape;57;p4"/>
          <p:cNvSpPr/>
          <p:nvPr/>
        </p:nvSpPr>
        <p:spPr>
          <a:xfrm>
            <a:off x="838200" y="1371241"/>
            <a:ext cx="10515600" cy="70256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フレームワーク</a:t>
            </a:r>
            <a:endParaRPr sz="18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（例：NIST 「重要インフラのサイバーセキュリティを向上させるためのフレームワーク」）</a:t>
            </a:r>
            <a:endParaRPr sz="1400">
              <a:solidFill>
                <a:schemeClr val="dk1"/>
              </a:solidFill>
              <a:latin typeface="Arial"/>
              <a:ea typeface="Arial"/>
              <a:cs typeface="Arial"/>
              <a:sym typeface="Arial"/>
            </a:endParaRPr>
          </a:p>
        </p:txBody>
      </p:sp>
      <p:sp>
        <p:nvSpPr>
          <p:cNvPr id="58" name="Google Shape;58;p4"/>
          <p:cNvSpPr/>
          <p:nvPr/>
        </p:nvSpPr>
        <p:spPr>
          <a:xfrm>
            <a:off x="838200" y="2520556"/>
            <a:ext cx="5101492" cy="99636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ガバメントクラウド管理に対する</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セキュリティ機能と運用</a:t>
            </a:r>
            <a:endParaRPr sz="1800">
              <a:solidFill>
                <a:schemeClr val="dk1"/>
              </a:solidFill>
              <a:latin typeface="Arial"/>
              <a:ea typeface="Arial"/>
              <a:cs typeface="Arial"/>
              <a:sym typeface="Arial"/>
            </a:endParaRPr>
          </a:p>
        </p:txBody>
      </p:sp>
      <p:sp>
        <p:nvSpPr>
          <p:cNvPr id="59" name="Google Shape;59;p4"/>
          <p:cNvSpPr/>
          <p:nvPr/>
        </p:nvSpPr>
        <p:spPr>
          <a:xfrm>
            <a:off x="6252310" y="2524464"/>
            <a:ext cx="5101492" cy="99636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利用システムに対する</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セキュリティ機能の強制と</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実装や運用のベストプラクティス提供</a:t>
            </a:r>
            <a:endParaRPr sz="1800">
              <a:solidFill>
                <a:schemeClr val="dk1"/>
              </a:solidFill>
              <a:latin typeface="Arial"/>
              <a:ea typeface="Arial"/>
              <a:cs typeface="Arial"/>
              <a:sym typeface="Arial"/>
            </a:endParaRPr>
          </a:p>
        </p:txBody>
      </p:sp>
      <p:sp>
        <p:nvSpPr>
          <p:cNvPr id="60" name="Google Shape;60;p4"/>
          <p:cNvSpPr/>
          <p:nvPr/>
        </p:nvSpPr>
        <p:spPr>
          <a:xfrm>
            <a:off x="6252310" y="3621203"/>
            <a:ext cx="2430582" cy="66162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セキュリティ機能の強制</a:t>
            </a:r>
            <a:endParaRPr sz="1800">
              <a:solidFill>
                <a:schemeClr val="dk1"/>
              </a:solidFill>
              <a:latin typeface="Arial"/>
              <a:ea typeface="Arial"/>
              <a:cs typeface="Arial"/>
              <a:sym typeface="Arial"/>
            </a:endParaRPr>
          </a:p>
        </p:txBody>
      </p:sp>
      <p:sp>
        <p:nvSpPr>
          <p:cNvPr id="61" name="Google Shape;61;p4"/>
          <p:cNvSpPr/>
          <p:nvPr/>
        </p:nvSpPr>
        <p:spPr>
          <a:xfrm>
            <a:off x="8923218" y="3621203"/>
            <a:ext cx="2430582" cy="66162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ベストプラクティス</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提供</a:t>
            </a:r>
            <a:endParaRPr sz="1800">
              <a:solidFill>
                <a:schemeClr val="dk1"/>
              </a:solidFill>
              <a:latin typeface="Arial"/>
              <a:ea typeface="Arial"/>
              <a:cs typeface="Arial"/>
              <a:sym typeface="Arial"/>
            </a:endParaRPr>
          </a:p>
        </p:txBody>
      </p:sp>
      <p:sp>
        <p:nvSpPr>
          <p:cNvPr id="62" name="Google Shape;62;p4"/>
          <p:cNvSpPr/>
          <p:nvPr/>
        </p:nvSpPr>
        <p:spPr>
          <a:xfrm>
            <a:off x="6252310" y="4674053"/>
            <a:ext cx="1555259" cy="1604039"/>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予防的/発見的</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統制</a:t>
            </a:r>
            <a:endParaRPr sz="1800">
              <a:solidFill>
                <a:schemeClr val="dk1"/>
              </a:solidFill>
              <a:latin typeface="Arial"/>
              <a:ea typeface="Arial"/>
              <a:cs typeface="Arial"/>
              <a:sym typeface="Arial"/>
            </a:endParaRPr>
          </a:p>
        </p:txBody>
      </p:sp>
      <p:sp>
        <p:nvSpPr>
          <p:cNvPr id="63" name="Google Shape;63;p4"/>
          <p:cNvSpPr/>
          <p:nvPr/>
        </p:nvSpPr>
        <p:spPr>
          <a:xfrm>
            <a:off x="8025425" y="4674052"/>
            <a:ext cx="1555259" cy="1604039"/>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テンプレート</a:t>
            </a:r>
            <a:endParaRPr sz="1800">
              <a:solidFill>
                <a:schemeClr val="dk1"/>
              </a:solidFill>
              <a:latin typeface="Arial"/>
              <a:ea typeface="Arial"/>
              <a:cs typeface="Arial"/>
              <a:sym typeface="Arial"/>
            </a:endParaRPr>
          </a:p>
        </p:txBody>
      </p:sp>
      <p:sp>
        <p:nvSpPr>
          <p:cNvPr id="64" name="Google Shape;64;p4"/>
          <p:cNvSpPr/>
          <p:nvPr/>
        </p:nvSpPr>
        <p:spPr>
          <a:xfrm>
            <a:off x="9798541" y="4674054"/>
            <a:ext cx="1555259" cy="1604038"/>
          </a:xfrm>
          <a:prstGeom prst="rect">
            <a:avLst/>
          </a:prstGeom>
          <a:noFill/>
          <a:ln cap="flat" cmpd="sng" w="9525">
            <a:solidFill>
              <a:schemeClr val="dk1"/>
            </a:solidFill>
            <a:prstDash val="solid"/>
            <a:miter lim="800000"/>
            <a:headEnd len="sm" w="sm" type="none"/>
            <a:tailEnd len="sm" w="sm" type="none"/>
          </a:ln>
        </p:spPr>
        <p:txBody>
          <a:bodyPr anchorCtr="0" anchor="t" bIns="45700" lIns="90000" spcFirstLastPara="1" rIns="91425" wrap="square" tIns="45700">
            <a:noAutofit/>
          </a:bodyPr>
          <a:lstStyle/>
          <a:p>
            <a:pPr indent="0" lvl="0" marL="0" marR="0" rtl="0" algn="ctr">
              <a:spcBef>
                <a:spcPts val="0"/>
              </a:spcBef>
              <a:spcAft>
                <a:spcPts val="0"/>
              </a:spcAft>
              <a:buNone/>
            </a:pPr>
            <a:r>
              <a:rPr lang="ja-JP" sz="1600">
                <a:solidFill>
                  <a:schemeClr val="dk1"/>
                </a:solidFill>
                <a:latin typeface="Arial"/>
                <a:ea typeface="Arial"/>
                <a:cs typeface="Arial"/>
                <a:sym typeface="Arial"/>
              </a:rPr>
              <a:t>ダッシュボード</a:t>
            </a:r>
            <a:endParaRPr sz="1600">
              <a:solidFill>
                <a:schemeClr val="dk1"/>
              </a:solidFill>
              <a:latin typeface="Arial"/>
              <a:ea typeface="Arial"/>
              <a:cs typeface="Arial"/>
              <a:sym typeface="Arial"/>
            </a:endParaRPr>
          </a:p>
        </p:txBody>
      </p:sp>
      <p:sp>
        <p:nvSpPr>
          <p:cNvPr id="65" name="Google Shape;65;p4"/>
          <p:cNvSpPr/>
          <p:nvPr/>
        </p:nvSpPr>
        <p:spPr>
          <a:xfrm>
            <a:off x="6891216" y="4349488"/>
            <a:ext cx="277446" cy="257907"/>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 name="Google Shape;66;p4"/>
          <p:cNvSpPr/>
          <p:nvPr/>
        </p:nvSpPr>
        <p:spPr>
          <a:xfrm>
            <a:off x="10437447" y="4349131"/>
            <a:ext cx="277446" cy="257907"/>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 name="Google Shape;67;p4"/>
          <p:cNvSpPr/>
          <p:nvPr/>
        </p:nvSpPr>
        <p:spPr>
          <a:xfrm rot="-1342255">
            <a:off x="8284308" y="4348869"/>
            <a:ext cx="277446" cy="257907"/>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 name="Google Shape;68;p4"/>
          <p:cNvSpPr/>
          <p:nvPr/>
        </p:nvSpPr>
        <p:spPr>
          <a:xfrm flipH="1" rot="1342255">
            <a:off x="9031989" y="4348870"/>
            <a:ext cx="277446" cy="257907"/>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 name="Google Shape;69;p4"/>
          <p:cNvSpPr txBox="1"/>
          <p:nvPr/>
        </p:nvSpPr>
        <p:spPr>
          <a:xfrm>
            <a:off x="6298294" y="5317134"/>
            <a:ext cx="1354858" cy="830997"/>
          </a:xfrm>
          <a:prstGeom prst="rect">
            <a:avLst/>
          </a:prstGeom>
          <a:noFill/>
          <a:ln>
            <a:noFill/>
          </a:ln>
        </p:spPr>
        <p:txBody>
          <a:bodyPr anchorCtr="0" anchor="t" bIns="45700" lIns="91425" spcFirstLastPara="1" rIns="91425" wrap="square" tIns="45700">
            <a:spAutoFit/>
          </a:bodyPr>
          <a:lstStyle/>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パブリック通信</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禁止</a:t>
            </a:r>
            <a:endParaRPr sz="1200">
              <a:solidFill>
                <a:schemeClr val="dk1"/>
              </a:solidFill>
              <a:latin typeface="Arial"/>
              <a:ea typeface="Arial"/>
              <a:cs typeface="Arial"/>
              <a:sym typeface="Arial"/>
            </a:endParaRPr>
          </a:p>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誤設定の検知</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他</a:t>
            </a:r>
            <a:endParaRPr sz="1200">
              <a:solidFill>
                <a:schemeClr val="dk1"/>
              </a:solidFill>
              <a:latin typeface="Arial"/>
              <a:ea typeface="Arial"/>
              <a:cs typeface="Arial"/>
              <a:sym typeface="Arial"/>
            </a:endParaRPr>
          </a:p>
        </p:txBody>
      </p:sp>
      <p:sp>
        <p:nvSpPr>
          <p:cNvPr id="70" name="Google Shape;70;p4"/>
          <p:cNvSpPr txBox="1"/>
          <p:nvPr/>
        </p:nvSpPr>
        <p:spPr>
          <a:xfrm>
            <a:off x="8134945" y="5319660"/>
            <a:ext cx="1508746" cy="830997"/>
          </a:xfrm>
          <a:prstGeom prst="rect">
            <a:avLst/>
          </a:prstGeom>
          <a:noFill/>
          <a:ln>
            <a:noFill/>
          </a:ln>
        </p:spPr>
        <p:txBody>
          <a:bodyPr anchorCtr="0" anchor="t" bIns="45700" lIns="91425" spcFirstLastPara="1" rIns="91425" wrap="square" tIns="45700">
            <a:spAutoFit/>
          </a:bodyPr>
          <a:lstStyle/>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一部統制の適用</a:t>
            </a:r>
            <a:endParaRPr sz="1200">
              <a:solidFill>
                <a:schemeClr val="dk1"/>
              </a:solidFill>
              <a:latin typeface="Arial"/>
              <a:ea typeface="Arial"/>
              <a:cs typeface="Arial"/>
              <a:sym typeface="Arial"/>
            </a:endParaRPr>
          </a:p>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典型的構成（例：</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コンテナ環境）</a:t>
            </a:r>
            <a:endParaRPr sz="1200">
              <a:solidFill>
                <a:schemeClr val="dk1"/>
              </a:solidFill>
              <a:latin typeface="Arial"/>
              <a:ea typeface="Arial"/>
              <a:cs typeface="Arial"/>
              <a:sym typeface="Arial"/>
            </a:endParaRPr>
          </a:p>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利用ガイド</a:t>
            </a:r>
            <a:endParaRPr/>
          </a:p>
        </p:txBody>
      </p:sp>
      <p:sp>
        <p:nvSpPr>
          <p:cNvPr id="71" name="Google Shape;71;p4"/>
          <p:cNvSpPr/>
          <p:nvPr/>
        </p:nvSpPr>
        <p:spPr>
          <a:xfrm>
            <a:off x="8664331" y="2133242"/>
            <a:ext cx="277446" cy="348501"/>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 name="Google Shape;72;p4"/>
          <p:cNvSpPr/>
          <p:nvPr/>
        </p:nvSpPr>
        <p:spPr>
          <a:xfrm>
            <a:off x="3250224" y="2133242"/>
            <a:ext cx="277446" cy="348501"/>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 name="Google Shape;73;p4"/>
          <p:cNvSpPr/>
          <p:nvPr/>
        </p:nvSpPr>
        <p:spPr>
          <a:xfrm>
            <a:off x="838201" y="3621203"/>
            <a:ext cx="2430582" cy="66162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全体状況の把握</a:t>
            </a:r>
            <a:endParaRPr sz="1800">
              <a:solidFill>
                <a:schemeClr val="dk1"/>
              </a:solidFill>
              <a:latin typeface="Arial"/>
              <a:ea typeface="Arial"/>
              <a:cs typeface="Arial"/>
              <a:sym typeface="Arial"/>
            </a:endParaRPr>
          </a:p>
        </p:txBody>
      </p:sp>
      <p:sp>
        <p:nvSpPr>
          <p:cNvPr id="74" name="Google Shape;74;p4"/>
          <p:cNvSpPr/>
          <p:nvPr/>
        </p:nvSpPr>
        <p:spPr>
          <a:xfrm>
            <a:off x="3509109" y="3621203"/>
            <a:ext cx="2430582" cy="66162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強権限の制限・管理</a:t>
            </a:r>
            <a:endParaRPr sz="1800">
              <a:solidFill>
                <a:schemeClr val="dk1"/>
              </a:solidFill>
              <a:latin typeface="Arial"/>
              <a:ea typeface="Arial"/>
              <a:cs typeface="Arial"/>
              <a:sym typeface="Arial"/>
            </a:endParaRPr>
          </a:p>
        </p:txBody>
      </p:sp>
      <p:sp>
        <p:nvSpPr>
          <p:cNvPr id="75" name="Google Shape;75;p4"/>
          <p:cNvSpPr/>
          <p:nvPr/>
        </p:nvSpPr>
        <p:spPr>
          <a:xfrm>
            <a:off x="838201" y="4674052"/>
            <a:ext cx="2434490" cy="1604039"/>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ダッシュボード</a:t>
            </a:r>
            <a:endParaRPr sz="1800">
              <a:solidFill>
                <a:schemeClr val="dk1"/>
              </a:solidFill>
              <a:latin typeface="Arial"/>
              <a:ea typeface="Arial"/>
              <a:cs typeface="Arial"/>
              <a:sym typeface="Arial"/>
            </a:endParaRPr>
          </a:p>
        </p:txBody>
      </p:sp>
      <p:sp>
        <p:nvSpPr>
          <p:cNvPr id="76" name="Google Shape;76;p4"/>
          <p:cNvSpPr/>
          <p:nvPr/>
        </p:nvSpPr>
        <p:spPr>
          <a:xfrm>
            <a:off x="3507155" y="4674051"/>
            <a:ext cx="2434490" cy="1604039"/>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環境管理の自動化</a:t>
            </a:r>
            <a:endParaRPr sz="1800">
              <a:solidFill>
                <a:schemeClr val="dk1"/>
              </a:solidFill>
              <a:latin typeface="Arial"/>
              <a:ea typeface="Arial"/>
              <a:cs typeface="Arial"/>
              <a:sym typeface="Arial"/>
            </a:endParaRPr>
          </a:p>
        </p:txBody>
      </p:sp>
      <p:sp>
        <p:nvSpPr>
          <p:cNvPr id="77" name="Google Shape;77;p4"/>
          <p:cNvSpPr txBox="1"/>
          <p:nvPr/>
        </p:nvSpPr>
        <p:spPr>
          <a:xfrm>
            <a:off x="991343" y="5314278"/>
            <a:ext cx="2111366" cy="646331"/>
          </a:xfrm>
          <a:prstGeom prst="rect">
            <a:avLst/>
          </a:prstGeom>
          <a:noFill/>
          <a:ln>
            <a:noFill/>
          </a:ln>
        </p:spPr>
        <p:txBody>
          <a:bodyPr anchorCtr="0" anchor="t" bIns="45700" lIns="91425" spcFirstLastPara="1" rIns="91425" wrap="square" tIns="45700">
            <a:spAutoFit/>
          </a:bodyPr>
          <a:lstStyle/>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統計的処理後の状況可視化</a:t>
            </a:r>
            <a:endParaRPr sz="1200">
              <a:solidFill>
                <a:schemeClr val="dk1"/>
              </a:solidFill>
              <a:latin typeface="Arial"/>
              <a:ea typeface="Arial"/>
              <a:cs typeface="Arial"/>
              <a:sym typeface="Arial"/>
            </a:endParaRPr>
          </a:p>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ガバメントクラウドとしてのKPI可視化</a:t>
            </a:r>
            <a:endParaRPr/>
          </a:p>
        </p:txBody>
      </p:sp>
      <p:sp>
        <p:nvSpPr>
          <p:cNvPr id="78" name="Google Shape;78;p4"/>
          <p:cNvSpPr txBox="1"/>
          <p:nvPr/>
        </p:nvSpPr>
        <p:spPr>
          <a:xfrm>
            <a:off x="3668717" y="5314277"/>
            <a:ext cx="2083406" cy="1015663"/>
          </a:xfrm>
          <a:prstGeom prst="rect">
            <a:avLst/>
          </a:prstGeom>
          <a:noFill/>
          <a:ln>
            <a:noFill/>
          </a:ln>
        </p:spPr>
        <p:txBody>
          <a:bodyPr anchorCtr="0" anchor="t" bIns="45700" lIns="91425" spcFirstLastPara="1" rIns="91425" wrap="square" tIns="45700">
            <a:spAutoFit/>
          </a:bodyPr>
          <a:lstStyle/>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環境の独立性維持</a:t>
            </a:r>
            <a:endParaRPr sz="1200">
              <a:solidFill>
                <a:schemeClr val="dk1"/>
              </a:solidFill>
              <a:latin typeface="Arial"/>
              <a:ea typeface="Arial"/>
              <a:cs typeface="Arial"/>
              <a:sym typeface="Arial"/>
            </a:endParaRPr>
          </a:p>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処理の自動化</a:t>
            </a:r>
            <a:endParaRPr sz="1200">
              <a:solidFill>
                <a:schemeClr val="dk1"/>
              </a:solidFill>
              <a:latin typeface="Arial"/>
              <a:ea typeface="Arial"/>
              <a:cs typeface="Arial"/>
              <a:sym typeface="Arial"/>
            </a:endParaRPr>
          </a:p>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利用システムへの権限や管理作業の委譲</a:t>
            </a:r>
            <a:endParaRPr sz="1200">
              <a:solidFill>
                <a:schemeClr val="dk1"/>
              </a:solidFill>
              <a:latin typeface="Arial"/>
              <a:ea typeface="Arial"/>
              <a:cs typeface="Arial"/>
              <a:sym typeface="Arial"/>
            </a:endParaRPr>
          </a:p>
          <a:p>
            <a:pPr indent="-15875" lvl="0" marL="92075" marR="0" rtl="0" algn="l">
              <a:spcBef>
                <a:spcPts val="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p:txBody>
      </p:sp>
      <p:sp>
        <p:nvSpPr>
          <p:cNvPr id="79" name="Google Shape;79;p4"/>
          <p:cNvSpPr/>
          <p:nvPr/>
        </p:nvSpPr>
        <p:spPr>
          <a:xfrm>
            <a:off x="1908303" y="4348868"/>
            <a:ext cx="277446" cy="257907"/>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 name="Google Shape;80;p4"/>
          <p:cNvSpPr/>
          <p:nvPr/>
        </p:nvSpPr>
        <p:spPr>
          <a:xfrm>
            <a:off x="4585677" y="4348583"/>
            <a:ext cx="277446" cy="257907"/>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1" name="Google Shape;81;p4"/>
          <p:cNvPicPr preferRelativeResize="0"/>
          <p:nvPr/>
        </p:nvPicPr>
        <p:blipFill rotWithShape="1">
          <a:blip r:embed="rId3">
            <a:alphaModFix/>
          </a:blip>
          <a:srcRect b="0" l="0" r="0" t="0"/>
          <a:stretch/>
        </p:blipFill>
        <p:spPr>
          <a:xfrm>
            <a:off x="10016455" y="5106643"/>
            <a:ext cx="545247" cy="334637"/>
          </a:xfrm>
          <a:prstGeom prst="rect">
            <a:avLst/>
          </a:prstGeom>
          <a:noFill/>
          <a:ln>
            <a:noFill/>
          </a:ln>
        </p:spPr>
      </p:pic>
      <p:pic>
        <p:nvPicPr>
          <p:cNvPr id="82" name="Google Shape;82;p4"/>
          <p:cNvPicPr preferRelativeResize="0"/>
          <p:nvPr/>
        </p:nvPicPr>
        <p:blipFill rotWithShape="1">
          <a:blip r:embed="rId4">
            <a:alphaModFix/>
          </a:blip>
          <a:srcRect b="0" l="0" r="0" t="0"/>
          <a:stretch/>
        </p:blipFill>
        <p:spPr>
          <a:xfrm>
            <a:off x="10640612" y="5102856"/>
            <a:ext cx="477043" cy="350787"/>
          </a:xfrm>
          <a:prstGeom prst="rect">
            <a:avLst/>
          </a:prstGeom>
          <a:noFill/>
          <a:ln>
            <a:noFill/>
          </a:ln>
        </p:spPr>
      </p:pic>
      <p:sp>
        <p:nvSpPr>
          <p:cNvPr id="83" name="Google Shape;83;p4"/>
          <p:cNvSpPr txBox="1"/>
          <p:nvPr/>
        </p:nvSpPr>
        <p:spPr>
          <a:xfrm>
            <a:off x="9922748" y="5459980"/>
            <a:ext cx="1277909" cy="646331"/>
          </a:xfrm>
          <a:prstGeom prst="rect">
            <a:avLst/>
          </a:prstGeom>
          <a:noFill/>
          <a:ln>
            <a:noFill/>
          </a:ln>
        </p:spPr>
        <p:txBody>
          <a:bodyPr anchorCtr="0" anchor="t" bIns="45700" lIns="91425" spcFirstLastPara="1" rIns="91425" wrap="square" tIns="45700">
            <a:spAutoFit/>
          </a:bodyPr>
          <a:lstStyle/>
          <a:p>
            <a:pPr indent="-92075" lvl="0" marL="92075"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予防的・発見的統制遵守状況の可視化</a:t>
            </a:r>
            <a:endParaRPr sz="12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89" name="Google Shape;89;p5"/>
          <p:cNvSpPr txBox="1"/>
          <p:nvPr>
            <p:ph type="title"/>
          </p:nvPr>
        </p:nvSpPr>
        <p:spPr>
          <a:xfrm>
            <a:off x="838200" y="2379154"/>
            <a:ext cx="10515600" cy="1313308"/>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ガバメントクラウド管理側</a:t>
            </a:r>
            <a:br>
              <a:rPr lang="ja-JP"/>
            </a:br>
            <a:r>
              <a:rPr lang="ja-JP"/>
              <a:t>でのセキュリティの考え方</a:t>
            </a:r>
            <a:endParaRPr/>
          </a:p>
        </p:txBody>
      </p:sp>
      <p:sp>
        <p:nvSpPr>
          <p:cNvPr id="90" name="Google Shape;90;p5"/>
          <p:cNvSpPr txBox="1"/>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lang="ja-JP" sz="1200">
                <a:solidFill>
                  <a:srgbClr val="7F7F7F"/>
                </a:solidFill>
                <a:latin typeface="Roboto"/>
                <a:ea typeface="Roboto"/>
                <a:cs typeface="Roboto"/>
                <a:sym typeface="Roboto"/>
              </a:rPr>
              <a:t>‹#›</a:t>
            </a:fld>
            <a:endParaRPr b="0" sz="1200">
              <a:solidFill>
                <a:srgbClr val="7F7F7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6"/>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ガバメントクラウド概観</a:t>
            </a:r>
            <a:endParaRPr/>
          </a:p>
        </p:txBody>
      </p:sp>
      <p:sp>
        <p:nvSpPr>
          <p:cNvPr id="97" name="Google Shape;97;p6"/>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98" name="Google Shape;98;p6"/>
          <p:cNvSpPr/>
          <p:nvPr/>
        </p:nvSpPr>
        <p:spPr>
          <a:xfrm>
            <a:off x="1702155" y="4556008"/>
            <a:ext cx="8787685" cy="1084822"/>
          </a:xfrm>
          <a:prstGeom prst="rect">
            <a:avLst/>
          </a:prstGeom>
          <a:solidFill>
            <a:srgbClr val="7F7F7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2400">
                <a:solidFill>
                  <a:schemeClr val="lt1"/>
                </a:solidFill>
                <a:latin typeface="Arial"/>
                <a:ea typeface="Arial"/>
                <a:cs typeface="Arial"/>
                <a:sym typeface="Arial"/>
              </a:rPr>
              <a:t>ガバメントクラウド</a:t>
            </a:r>
            <a:endParaRPr/>
          </a:p>
        </p:txBody>
      </p:sp>
      <p:sp>
        <p:nvSpPr>
          <p:cNvPr id="99" name="Google Shape;99;p6"/>
          <p:cNvSpPr/>
          <p:nvPr/>
        </p:nvSpPr>
        <p:spPr>
          <a:xfrm>
            <a:off x="1702158" y="3126289"/>
            <a:ext cx="3521740" cy="92942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1府2庁11省</a:t>
            </a:r>
            <a:endParaRPr sz="1800">
              <a:solidFill>
                <a:schemeClr val="dk1"/>
              </a:solidFill>
              <a:latin typeface="Arial"/>
              <a:ea typeface="Arial"/>
              <a:cs typeface="Arial"/>
              <a:sym typeface="Arial"/>
            </a:endParaRPr>
          </a:p>
          <a:p>
            <a:pPr indent="0" lvl="0" marL="0" marR="0" rtl="0" algn="ctr">
              <a:spcBef>
                <a:spcPts val="0"/>
              </a:spcBef>
              <a:spcAft>
                <a:spcPts val="0"/>
              </a:spcAft>
              <a:buNone/>
            </a:pPr>
            <a:r>
              <a:rPr lang="ja-JP" sz="1800">
                <a:solidFill>
                  <a:schemeClr val="dk1"/>
                </a:solidFill>
                <a:latin typeface="Arial"/>
                <a:ea typeface="Arial"/>
                <a:cs typeface="Arial"/>
                <a:sym typeface="Arial"/>
              </a:rPr>
              <a:t>698システム</a:t>
            </a:r>
            <a:r>
              <a:rPr lang="ja-JP" sz="1400">
                <a:solidFill>
                  <a:schemeClr val="dk1"/>
                </a:solidFill>
                <a:latin typeface="Arial"/>
                <a:ea typeface="Arial"/>
                <a:cs typeface="Arial"/>
                <a:sym typeface="Arial"/>
              </a:rPr>
              <a:t>（2018年）</a:t>
            </a:r>
            <a:endParaRPr sz="1800">
              <a:solidFill>
                <a:schemeClr val="dk1"/>
              </a:solidFill>
              <a:latin typeface="Arial"/>
              <a:ea typeface="Arial"/>
              <a:cs typeface="Arial"/>
              <a:sym typeface="Arial"/>
            </a:endParaRPr>
          </a:p>
        </p:txBody>
      </p:sp>
      <p:sp>
        <p:nvSpPr>
          <p:cNvPr id="100" name="Google Shape;100;p6"/>
          <p:cNvSpPr/>
          <p:nvPr/>
        </p:nvSpPr>
        <p:spPr>
          <a:xfrm>
            <a:off x="1764406" y="2963156"/>
            <a:ext cx="1565856" cy="32626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政府</a:t>
            </a:r>
            <a:endParaRPr/>
          </a:p>
        </p:txBody>
      </p:sp>
      <p:sp>
        <p:nvSpPr>
          <p:cNvPr id="101" name="Google Shape;101;p6"/>
          <p:cNvSpPr/>
          <p:nvPr/>
        </p:nvSpPr>
        <p:spPr>
          <a:xfrm>
            <a:off x="5532615" y="3126289"/>
            <a:ext cx="3521740" cy="92942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1741団体</a:t>
            </a:r>
            <a:endParaRPr sz="1800">
              <a:solidFill>
                <a:schemeClr val="dk1"/>
              </a:solidFill>
              <a:latin typeface="Arial"/>
              <a:ea typeface="Arial"/>
              <a:cs typeface="Arial"/>
              <a:sym typeface="Arial"/>
            </a:endParaRPr>
          </a:p>
        </p:txBody>
      </p:sp>
      <p:sp>
        <p:nvSpPr>
          <p:cNvPr id="102" name="Google Shape;102;p6"/>
          <p:cNvSpPr/>
          <p:nvPr/>
        </p:nvSpPr>
        <p:spPr>
          <a:xfrm>
            <a:off x="5594863" y="2963156"/>
            <a:ext cx="1565856" cy="32626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地方公共団体</a:t>
            </a:r>
            <a:endParaRPr/>
          </a:p>
        </p:txBody>
      </p:sp>
      <p:sp>
        <p:nvSpPr>
          <p:cNvPr id="103" name="Google Shape;103;p6"/>
          <p:cNvSpPr/>
          <p:nvPr/>
        </p:nvSpPr>
        <p:spPr>
          <a:xfrm>
            <a:off x="1702155" y="2365420"/>
            <a:ext cx="8787685" cy="51730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全国の開発業者</a:t>
            </a:r>
            <a:endParaRPr sz="1800">
              <a:solidFill>
                <a:schemeClr val="dk1"/>
              </a:solidFill>
              <a:latin typeface="Arial"/>
              <a:ea typeface="Arial"/>
              <a:cs typeface="Arial"/>
              <a:sym typeface="Arial"/>
            </a:endParaRPr>
          </a:p>
        </p:txBody>
      </p:sp>
      <p:sp>
        <p:nvSpPr>
          <p:cNvPr id="104" name="Google Shape;104;p6"/>
          <p:cNvSpPr/>
          <p:nvPr/>
        </p:nvSpPr>
        <p:spPr>
          <a:xfrm>
            <a:off x="1702156" y="1684986"/>
            <a:ext cx="8787685" cy="51730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約1億2000万人のユーザ</a:t>
            </a:r>
            <a:endParaRPr sz="1800">
              <a:solidFill>
                <a:schemeClr val="dk1"/>
              </a:solidFill>
              <a:latin typeface="Arial"/>
              <a:ea typeface="Arial"/>
              <a:cs typeface="Arial"/>
              <a:sym typeface="Arial"/>
            </a:endParaRPr>
          </a:p>
        </p:txBody>
      </p:sp>
      <p:sp>
        <p:nvSpPr>
          <p:cNvPr id="105" name="Google Shape;105;p6"/>
          <p:cNvSpPr/>
          <p:nvPr/>
        </p:nvSpPr>
        <p:spPr>
          <a:xfrm rot="2625473">
            <a:off x="7017027" y="4043689"/>
            <a:ext cx="257578" cy="497479"/>
          </a:xfrm>
          <a:prstGeom prst="up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6"/>
          <p:cNvSpPr/>
          <p:nvPr/>
        </p:nvSpPr>
        <p:spPr>
          <a:xfrm flipH="1" rot="-2625473">
            <a:off x="3599292" y="4038539"/>
            <a:ext cx="257578" cy="497479"/>
          </a:xfrm>
          <a:prstGeom prst="up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 name="Google Shape;107;p6"/>
          <p:cNvSpPr txBox="1"/>
          <p:nvPr/>
        </p:nvSpPr>
        <p:spPr>
          <a:xfrm>
            <a:off x="4128150" y="5674933"/>
            <a:ext cx="3935693"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ja-JP" sz="1800">
                <a:solidFill>
                  <a:schemeClr val="dk1"/>
                </a:solidFill>
                <a:latin typeface="Arial"/>
                <a:ea typeface="Arial"/>
                <a:cs typeface="Arial"/>
                <a:sym typeface="Arial"/>
              </a:rPr>
              <a:t>スケーラブルなアプリとインフラ</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ja-JP" sz="1800">
                <a:solidFill>
                  <a:schemeClr val="dk1"/>
                </a:solidFill>
                <a:latin typeface="Arial"/>
                <a:ea typeface="Arial"/>
                <a:cs typeface="Arial"/>
                <a:sym typeface="Arial"/>
              </a:rPr>
              <a:t>大規模な環境管理</a:t>
            </a:r>
            <a:endParaRPr/>
          </a:p>
        </p:txBody>
      </p:sp>
      <p:sp>
        <p:nvSpPr>
          <p:cNvPr id="108" name="Google Shape;108;p6"/>
          <p:cNvSpPr/>
          <p:nvPr/>
        </p:nvSpPr>
        <p:spPr>
          <a:xfrm>
            <a:off x="9363071" y="3126289"/>
            <a:ext cx="1126769" cy="92942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その他</a:t>
            </a:r>
            <a:endParaRPr sz="1800">
              <a:solidFill>
                <a:schemeClr val="dk1"/>
              </a:solidFill>
              <a:latin typeface="Arial"/>
              <a:ea typeface="Arial"/>
              <a:cs typeface="Arial"/>
              <a:sym typeface="Arial"/>
            </a:endParaRPr>
          </a:p>
          <a:p>
            <a:pPr indent="0" lvl="0" marL="0" marR="0" rtl="0" algn="ctr">
              <a:spcBef>
                <a:spcPts val="0"/>
              </a:spcBef>
              <a:spcAft>
                <a:spcPts val="0"/>
              </a:spcAft>
              <a:buNone/>
            </a:pPr>
            <a:r>
              <a:rPr lang="ja-JP" sz="1800">
                <a:solidFill>
                  <a:schemeClr val="dk1"/>
                </a:solidFill>
                <a:latin typeface="Arial"/>
                <a:ea typeface="Arial"/>
                <a:cs typeface="Arial"/>
                <a:sym typeface="Arial"/>
              </a:rPr>
              <a:t>団体</a:t>
            </a:r>
            <a:endParaRPr sz="1800">
              <a:solidFill>
                <a:schemeClr val="dk1"/>
              </a:solidFill>
              <a:latin typeface="Arial"/>
              <a:ea typeface="Arial"/>
              <a:cs typeface="Arial"/>
              <a:sym typeface="Arial"/>
            </a:endParaRPr>
          </a:p>
        </p:txBody>
      </p:sp>
      <p:sp>
        <p:nvSpPr>
          <p:cNvPr id="109" name="Google Shape;109;p6"/>
          <p:cNvSpPr/>
          <p:nvPr/>
        </p:nvSpPr>
        <p:spPr>
          <a:xfrm rot="2625473">
            <a:off x="9499335" y="4038540"/>
            <a:ext cx="257578" cy="497479"/>
          </a:xfrm>
          <a:prstGeom prst="up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6"/>
          <p:cNvSpPr/>
          <p:nvPr/>
        </p:nvSpPr>
        <p:spPr>
          <a:xfrm>
            <a:off x="2303222" y="5028797"/>
            <a:ext cx="1689911" cy="402266"/>
          </a:xfrm>
          <a:prstGeom prst="rect">
            <a:avLst/>
          </a:prstGeom>
          <a:no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Arial"/>
                <a:ea typeface="Arial"/>
                <a:cs typeface="Arial"/>
                <a:sym typeface="Arial"/>
              </a:rPr>
              <a:t>統制</a:t>
            </a:r>
            <a:endParaRPr sz="1800">
              <a:solidFill>
                <a:schemeClr val="lt1"/>
              </a:solidFill>
              <a:latin typeface="Arial"/>
              <a:ea typeface="Arial"/>
              <a:cs typeface="Arial"/>
              <a:sym typeface="Arial"/>
            </a:endParaRPr>
          </a:p>
        </p:txBody>
      </p:sp>
      <p:sp>
        <p:nvSpPr>
          <p:cNvPr id="111" name="Google Shape;111;p6"/>
          <p:cNvSpPr/>
          <p:nvPr/>
        </p:nvSpPr>
        <p:spPr>
          <a:xfrm>
            <a:off x="4221669" y="5026978"/>
            <a:ext cx="1689911" cy="402266"/>
          </a:xfrm>
          <a:prstGeom prst="rect">
            <a:avLst/>
          </a:prstGeom>
          <a:no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Arial"/>
                <a:ea typeface="Arial"/>
                <a:cs typeface="Arial"/>
                <a:sym typeface="Arial"/>
              </a:rPr>
              <a:t>テンプレート</a:t>
            </a:r>
            <a:endParaRPr sz="1800">
              <a:solidFill>
                <a:schemeClr val="lt1"/>
              </a:solidFill>
              <a:latin typeface="Arial"/>
              <a:ea typeface="Arial"/>
              <a:cs typeface="Arial"/>
              <a:sym typeface="Arial"/>
            </a:endParaRPr>
          </a:p>
        </p:txBody>
      </p:sp>
      <p:sp>
        <p:nvSpPr>
          <p:cNvPr id="112" name="Google Shape;112;p6"/>
          <p:cNvSpPr/>
          <p:nvPr/>
        </p:nvSpPr>
        <p:spPr>
          <a:xfrm>
            <a:off x="6140116" y="5033947"/>
            <a:ext cx="1689911" cy="402266"/>
          </a:xfrm>
          <a:prstGeom prst="rect">
            <a:avLst/>
          </a:prstGeom>
          <a:no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Arial"/>
                <a:ea typeface="Arial"/>
                <a:cs typeface="Arial"/>
                <a:sym typeface="Arial"/>
              </a:rPr>
              <a:t>ダッシュボード</a:t>
            </a:r>
            <a:endParaRPr/>
          </a:p>
        </p:txBody>
      </p:sp>
      <p:sp>
        <p:nvSpPr>
          <p:cNvPr id="113" name="Google Shape;113;p6"/>
          <p:cNvSpPr/>
          <p:nvPr/>
        </p:nvSpPr>
        <p:spPr>
          <a:xfrm>
            <a:off x="8058563" y="5033947"/>
            <a:ext cx="1689911" cy="402266"/>
          </a:xfrm>
          <a:prstGeom prst="rect">
            <a:avLst/>
          </a:prstGeom>
          <a:no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Arial"/>
                <a:ea typeface="Arial"/>
                <a:cs typeface="Arial"/>
                <a:sym typeface="Arial"/>
              </a:rPr>
              <a:t>ガイド</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838200" y="490964"/>
            <a:ext cx="10515600" cy="648319"/>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000"/>
              <a:buFont typeface="Roboto"/>
              <a:buNone/>
            </a:pPr>
            <a:r>
              <a:rPr lang="ja-JP" sz="4000"/>
              <a:t>スケーラビリティと大規模な環境管理が課題</a:t>
            </a:r>
            <a:endParaRPr sz="4000"/>
          </a:p>
        </p:txBody>
      </p:sp>
      <p:sp>
        <p:nvSpPr>
          <p:cNvPr id="120" name="Google Shape;120;p7"/>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21" name="Google Shape;121;p7"/>
          <p:cNvSpPr/>
          <p:nvPr/>
        </p:nvSpPr>
        <p:spPr>
          <a:xfrm>
            <a:off x="838200" y="1949002"/>
            <a:ext cx="2553607"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利用システム</a:t>
            </a:r>
            <a:endParaRPr sz="1800">
              <a:solidFill>
                <a:schemeClr val="dk1"/>
              </a:solidFill>
              <a:latin typeface="Arial"/>
              <a:ea typeface="Arial"/>
              <a:cs typeface="Arial"/>
              <a:sym typeface="Arial"/>
            </a:endParaRPr>
          </a:p>
        </p:txBody>
      </p:sp>
      <p:sp>
        <p:nvSpPr>
          <p:cNvPr id="122" name="Google Shape;122;p7"/>
          <p:cNvSpPr/>
          <p:nvPr/>
        </p:nvSpPr>
        <p:spPr>
          <a:xfrm>
            <a:off x="838201" y="3548300"/>
            <a:ext cx="2553606"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クラウドサービス</a:t>
            </a:r>
            <a:endParaRPr sz="1800">
              <a:solidFill>
                <a:schemeClr val="dk1"/>
              </a:solidFill>
              <a:latin typeface="Arial"/>
              <a:ea typeface="Arial"/>
              <a:cs typeface="Arial"/>
              <a:sym typeface="Arial"/>
            </a:endParaRPr>
          </a:p>
        </p:txBody>
      </p:sp>
      <p:sp>
        <p:nvSpPr>
          <p:cNvPr id="123" name="Google Shape;123;p7"/>
          <p:cNvSpPr/>
          <p:nvPr/>
        </p:nvSpPr>
        <p:spPr>
          <a:xfrm>
            <a:off x="3598273" y="3554335"/>
            <a:ext cx="590910"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7"/>
          <p:cNvSpPr/>
          <p:nvPr/>
        </p:nvSpPr>
        <p:spPr>
          <a:xfrm>
            <a:off x="4322096" y="3554334"/>
            <a:ext cx="365090"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7"/>
          <p:cNvSpPr/>
          <p:nvPr/>
        </p:nvSpPr>
        <p:spPr>
          <a:xfrm>
            <a:off x="4789696" y="3561192"/>
            <a:ext cx="221593"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7"/>
          <p:cNvSpPr/>
          <p:nvPr/>
        </p:nvSpPr>
        <p:spPr>
          <a:xfrm>
            <a:off x="5083551" y="3554334"/>
            <a:ext cx="124494"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7"/>
          <p:cNvSpPr txBox="1"/>
          <p:nvPr/>
        </p:nvSpPr>
        <p:spPr>
          <a:xfrm>
            <a:off x="5143267" y="3802511"/>
            <a:ext cx="8771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a:t>
            </a:r>
            <a:endParaRPr/>
          </a:p>
        </p:txBody>
      </p:sp>
      <p:sp>
        <p:nvSpPr>
          <p:cNvPr id="128" name="Google Shape;128;p7"/>
          <p:cNvSpPr/>
          <p:nvPr/>
        </p:nvSpPr>
        <p:spPr>
          <a:xfrm>
            <a:off x="2864806" y="5049967"/>
            <a:ext cx="3426524"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管理組織</a:t>
            </a:r>
            <a:endParaRPr sz="1800">
              <a:solidFill>
                <a:schemeClr val="dk1"/>
              </a:solidFill>
              <a:latin typeface="Arial"/>
              <a:ea typeface="Arial"/>
              <a:cs typeface="Arial"/>
              <a:sym typeface="Arial"/>
            </a:endParaRPr>
          </a:p>
        </p:txBody>
      </p:sp>
      <p:sp>
        <p:nvSpPr>
          <p:cNvPr id="129" name="Google Shape;129;p7"/>
          <p:cNvSpPr/>
          <p:nvPr/>
        </p:nvSpPr>
        <p:spPr>
          <a:xfrm flipH="1" rot="-2625473">
            <a:off x="2918816" y="4472951"/>
            <a:ext cx="257578" cy="497479"/>
          </a:xfrm>
          <a:prstGeom prst="upArrow">
            <a:avLst>
              <a:gd fmla="val 50000" name="adj1"/>
              <a:gd fmla="val 50000" name="adj2"/>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0" name="Google Shape;130;p7"/>
          <p:cNvSpPr/>
          <p:nvPr/>
        </p:nvSpPr>
        <p:spPr>
          <a:xfrm flipH="1" rot="-919833">
            <a:off x="3760989" y="4477422"/>
            <a:ext cx="257578" cy="497479"/>
          </a:xfrm>
          <a:prstGeom prst="upArrow">
            <a:avLst>
              <a:gd fmla="val 50000" name="adj1"/>
              <a:gd fmla="val 50000" name="adj2"/>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1" name="Google Shape;131;p7"/>
          <p:cNvSpPr/>
          <p:nvPr/>
        </p:nvSpPr>
        <p:spPr>
          <a:xfrm flipH="1" rot="1332994">
            <a:off x="4269167" y="4488424"/>
            <a:ext cx="257578" cy="497479"/>
          </a:xfrm>
          <a:prstGeom prst="upArrow">
            <a:avLst>
              <a:gd fmla="val 50000" name="adj1"/>
              <a:gd fmla="val 50000" name="adj2"/>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7"/>
          <p:cNvSpPr/>
          <p:nvPr/>
        </p:nvSpPr>
        <p:spPr>
          <a:xfrm flipH="1" rot="2076915">
            <a:off x="4629929" y="4480513"/>
            <a:ext cx="232860" cy="497479"/>
          </a:xfrm>
          <a:prstGeom prst="upArrow">
            <a:avLst>
              <a:gd fmla="val 50000" name="adj1"/>
              <a:gd fmla="val 50000" name="adj2"/>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 name="Google Shape;133;p7"/>
          <p:cNvSpPr/>
          <p:nvPr/>
        </p:nvSpPr>
        <p:spPr>
          <a:xfrm flipH="1" rot="2795589">
            <a:off x="4923007" y="4407226"/>
            <a:ext cx="138170" cy="628925"/>
          </a:xfrm>
          <a:prstGeom prst="upArrow">
            <a:avLst>
              <a:gd fmla="val 50000" name="adj1"/>
              <a:gd fmla="val 50000" name="adj2"/>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7"/>
          <p:cNvSpPr/>
          <p:nvPr/>
        </p:nvSpPr>
        <p:spPr>
          <a:xfrm flipH="1" rot="3193548">
            <a:off x="5111321" y="4408085"/>
            <a:ext cx="114907" cy="642334"/>
          </a:xfrm>
          <a:prstGeom prst="upArrow">
            <a:avLst>
              <a:gd fmla="val 50000" name="adj1"/>
              <a:gd fmla="val 50000" name="adj2"/>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5" name="Google Shape;135;p7"/>
          <p:cNvSpPr/>
          <p:nvPr/>
        </p:nvSpPr>
        <p:spPr>
          <a:xfrm>
            <a:off x="1901246" y="2867780"/>
            <a:ext cx="482958" cy="607454"/>
          </a:xfrm>
          <a:prstGeom prst="downArrow">
            <a:avLst>
              <a:gd fmla="val 50000"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6" name="Google Shape;136;p7"/>
          <p:cNvSpPr/>
          <p:nvPr/>
        </p:nvSpPr>
        <p:spPr>
          <a:xfrm>
            <a:off x="3598273" y="1949001"/>
            <a:ext cx="586404"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7"/>
          <p:cNvSpPr/>
          <p:nvPr/>
        </p:nvSpPr>
        <p:spPr>
          <a:xfrm>
            <a:off x="4322096" y="1949253"/>
            <a:ext cx="365090"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8" name="Google Shape;138;p7"/>
          <p:cNvSpPr/>
          <p:nvPr/>
        </p:nvSpPr>
        <p:spPr>
          <a:xfrm>
            <a:off x="4789696" y="1956111"/>
            <a:ext cx="221593"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7"/>
          <p:cNvSpPr/>
          <p:nvPr/>
        </p:nvSpPr>
        <p:spPr>
          <a:xfrm>
            <a:off x="5083551" y="1949253"/>
            <a:ext cx="124494" cy="845713"/>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7"/>
          <p:cNvSpPr txBox="1"/>
          <p:nvPr/>
        </p:nvSpPr>
        <p:spPr>
          <a:xfrm>
            <a:off x="5143267" y="2197430"/>
            <a:ext cx="8771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a:t>
            </a:r>
            <a:endParaRPr/>
          </a:p>
        </p:txBody>
      </p:sp>
      <p:sp>
        <p:nvSpPr>
          <p:cNvPr id="141" name="Google Shape;141;p7"/>
          <p:cNvSpPr/>
          <p:nvPr/>
        </p:nvSpPr>
        <p:spPr>
          <a:xfrm>
            <a:off x="3737807" y="2867780"/>
            <a:ext cx="303941" cy="607454"/>
          </a:xfrm>
          <a:prstGeom prst="downArrow">
            <a:avLst>
              <a:gd fmla="val 50000"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7"/>
          <p:cNvSpPr/>
          <p:nvPr/>
        </p:nvSpPr>
        <p:spPr>
          <a:xfrm>
            <a:off x="4385718" y="2884247"/>
            <a:ext cx="258565" cy="607454"/>
          </a:xfrm>
          <a:prstGeom prst="downArrow">
            <a:avLst>
              <a:gd fmla="val 50000"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7"/>
          <p:cNvSpPr/>
          <p:nvPr/>
        </p:nvSpPr>
        <p:spPr>
          <a:xfrm>
            <a:off x="4776186" y="2884247"/>
            <a:ext cx="230180" cy="607454"/>
          </a:xfrm>
          <a:prstGeom prst="downArrow">
            <a:avLst>
              <a:gd fmla="val 50000"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4" name="Google Shape;144;p7"/>
          <p:cNvSpPr/>
          <p:nvPr/>
        </p:nvSpPr>
        <p:spPr>
          <a:xfrm>
            <a:off x="5092017" y="2867079"/>
            <a:ext cx="107561" cy="607454"/>
          </a:xfrm>
          <a:prstGeom prst="downArrow">
            <a:avLst>
              <a:gd fmla="val 50000"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5" name="Google Shape;145;p7"/>
          <p:cNvSpPr txBox="1"/>
          <p:nvPr/>
        </p:nvSpPr>
        <p:spPr>
          <a:xfrm>
            <a:off x="2384204" y="2848342"/>
            <a:ext cx="4783965" cy="553998"/>
          </a:xfrm>
          <a:prstGeom prst="rect">
            <a:avLst/>
          </a:prstGeom>
          <a:solidFill>
            <a:schemeClr val="lt1">
              <a:alpha val="60000"/>
            </a:schemeClr>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ja-JP" sz="1800">
                <a:solidFill>
                  <a:schemeClr val="dk1"/>
                </a:solidFill>
                <a:latin typeface="Arial"/>
                <a:ea typeface="Arial"/>
                <a:cs typeface="Arial"/>
                <a:sym typeface="Arial"/>
              </a:rPr>
              <a:t>直接利用して、クラウドのスケーラビリティを享受できるようにする</a:t>
            </a:r>
            <a:endParaRPr b="1" sz="1800">
              <a:solidFill>
                <a:schemeClr val="dk1"/>
              </a:solidFill>
              <a:latin typeface="Arial"/>
              <a:ea typeface="Arial"/>
              <a:cs typeface="Arial"/>
              <a:sym typeface="Arial"/>
            </a:endParaRPr>
          </a:p>
        </p:txBody>
      </p:sp>
      <p:sp>
        <p:nvSpPr>
          <p:cNvPr id="146" name="Google Shape;146;p7"/>
          <p:cNvSpPr txBox="1"/>
          <p:nvPr/>
        </p:nvSpPr>
        <p:spPr>
          <a:xfrm>
            <a:off x="4627593" y="4498836"/>
            <a:ext cx="2475688" cy="553998"/>
          </a:xfrm>
          <a:prstGeom prst="rect">
            <a:avLst/>
          </a:prstGeom>
          <a:solidFill>
            <a:schemeClr val="lt1">
              <a:alpha val="60000"/>
            </a:schemeClr>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ja-JP" sz="1800">
                <a:solidFill>
                  <a:schemeClr val="dk1"/>
                </a:solidFill>
                <a:latin typeface="Arial"/>
                <a:ea typeface="Arial"/>
                <a:cs typeface="Arial"/>
                <a:sym typeface="Arial"/>
              </a:rPr>
              <a:t>数多くのシステム環境を払い出し管理する</a:t>
            </a:r>
            <a:endParaRPr/>
          </a:p>
        </p:txBody>
      </p:sp>
      <p:sp>
        <p:nvSpPr>
          <p:cNvPr id="147" name="Google Shape;147;p7"/>
          <p:cNvSpPr/>
          <p:nvPr/>
        </p:nvSpPr>
        <p:spPr>
          <a:xfrm>
            <a:off x="7116659" y="2935658"/>
            <a:ext cx="497306" cy="379366"/>
          </a:xfrm>
          <a:prstGeom prst="right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8" name="Google Shape;148;p7"/>
          <p:cNvSpPr/>
          <p:nvPr/>
        </p:nvSpPr>
        <p:spPr>
          <a:xfrm>
            <a:off x="7116658" y="4547480"/>
            <a:ext cx="497306" cy="379366"/>
          </a:xfrm>
          <a:prstGeom prst="right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9" name="Google Shape;149;p7"/>
          <p:cNvSpPr txBox="1"/>
          <p:nvPr/>
        </p:nvSpPr>
        <p:spPr>
          <a:xfrm>
            <a:off x="7651127" y="2955012"/>
            <a:ext cx="3704270"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ja-JP" sz="1800">
                <a:solidFill>
                  <a:schemeClr val="dk1"/>
                </a:solidFill>
                <a:latin typeface="Arial"/>
                <a:ea typeface="Arial"/>
                <a:cs typeface="Arial"/>
                <a:sym typeface="Arial"/>
              </a:rPr>
              <a:t>余計な管理機能を挟まない</a:t>
            </a:r>
            <a:endParaRPr/>
          </a:p>
        </p:txBody>
      </p:sp>
      <p:sp>
        <p:nvSpPr>
          <p:cNvPr id="150" name="Google Shape;150;p7"/>
          <p:cNvSpPr txBox="1"/>
          <p:nvPr/>
        </p:nvSpPr>
        <p:spPr>
          <a:xfrm>
            <a:off x="7651127" y="3844611"/>
            <a:ext cx="3704270" cy="178510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ja-JP" sz="1800">
                <a:solidFill>
                  <a:schemeClr val="dk1"/>
                </a:solidFill>
                <a:latin typeface="Arial"/>
                <a:ea typeface="Arial"/>
                <a:cs typeface="Arial"/>
                <a:sym typeface="Arial"/>
              </a:rPr>
              <a:t>環境準備を可能なかぎり自動化する</a:t>
            </a:r>
            <a:endParaRPr/>
          </a:p>
          <a:p>
            <a:pPr indent="-285750" lvl="0" marL="285750" marR="0" rtl="0" algn="l">
              <a:spcBef>
                <a:spcPts val="1200"/>
              </a:spcBef>
              <a:spcAft>
                <a:spcPts val="0"/>
              </a:spcAft>
              <a:buClr>
                <a:schemeClr val="dk1"/>
              </a:buClr>
              <a:buSzPts val="1800"/>
              <a:buFont typeface="Arial"/>
              <a:buChar char="•"/>
            </a:pPr>
            <a:r>
              <a:rPr lang="ja-JP" sz="1800">
                <a:solidFill>
                  <a:schemeClr val="dk1"/>
                </a:solidFill>
                <a:latin typeface="Arial"/>
                <a:ea typeface="Arial"/>
                <a:cs typeface="Arial"/>
                <a:sym typeface="Arial"/>
              </a:rPr>
              <a:t>複数の環境に共通の設定を行う</a:t>
            </a:r>
            <a:endParaRPr/>
          </a:p>
          <a:p>
            <a:pPr indent="-285750" lvl="0" marL="285750" marR="0" rtl="0" algn="l">
              <a:spcBef>
                <a:spcPts val="1200"/>
              </a:spcBef>
              <a:spcAft>
                <a:spcPts val="0"/>
              </a:spcAft>
              <a:buClr>
                <a:schemeClr val="dk1"/>
              </a:buClr>
              <a:buSzPts val="1800"/>
              <a:buFont typeface="Arial"/>
              <a:buChar char="•"/>
            </a:pPr>
            <a:r>
              <a:rPr lang="ja-JP" sz="1800">
                <a:solidFill>
                  <a:schemeClr val="dk1"/>
                </a:solidFill>
                <a:latin typeface="Arial"/>
                <a:ea typeface="Arial"/>
                <a:cs typeface="Arial"/>
                <a:sym typeface="Arial"/>
              </a:rPr>
              <a:t>システム構成状況を全体として統計的に可視化する</a:t>
            </a:r>
            <a:endParaRPr/>
          </a:p>
        </p:txBody>
      </p:sp>
      <p:sp>
        <p:nvSpPr>
          <p:cNvPr id="151" name="Google Shape;151;p7"/>
          <p:cNvSpPr txBox="1"/>
          <p:nvPr/>
        </p:nvSpPr>
        <p:spPr>
          <a:xfrm>
            <a:off x="9141624" y="2338058"/>
            <a:ext cx="7232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u="sng">
                <a:solidFill>
                  <a:schemeClr val="dk1"/>
                </a:solidFill>
                <a:latin typeface="Arial"/>
                <a:ea typeface="Arial"/>
                <a:cs typeface="Arial"/>
                <a:sym typeface="Arial"/>
              </a:rPr>
              <a:t>対応策</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ガードレール方式による自動化</a:t>
            </a:r>
            <a:endParaRPr/>
          </a:p>
        </p:txBody>
      </p:sp>
      <p:sp>
        <p:nvSpPr>
          <p:cNvPr id="157" name="Google Shape;157;p8"/>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158" name="Google Shape;158;p8"/>
          <p:cNvSpPr txBox="1"/>
          <p:nvPr/>
        </p:nvSpPr>
        <p:spPr>
          <a:xfrm>
            <a:off x="1480466" y="3140354"/>
            <a:ext cx="306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lang="ja-JP" sz="1200" u="none" cap="none" strike="noStrike">
                <a:solidFill>
                  <a:srgbClr val="000000"/>
                </a:solidFill>
                <a:latin typeface="Arial"/>
                <a:ea typeface="Arial"/>
                <a:cs typeface="Arial"/>
                <a:sym typeface="Arial"/>
              </a:rPr>
              <a:t>高</a:t>
            </a:r>
            <a:endParaRPr sz="1200" u="none" cap="none" strike="noStrike">
              <a:solidFill>
                <a:srgbClr val="000000"/>
              </a:solidFill>
              <a:latin typeface="Arial"/>
              <a:ea typeface="Arial"/>
              <a:cs typeface="Arial"/>
              <a:sym typeface="Arial"/>
            </a:endParaRPr>
          </a:p>
        </p:txBody>
      </p:sp>
      <p:sp>
        <p:nvSpPr>
          <p:cNvPr id="159" name="Google Shape;159;p8"/>
          <p:cNvSpPr txBox="1"/>
          <p:nvPr/>
        </p:nvSpPr>
        <p:spPr>
          <a:xfrm>
            <a:off x="1480466" y="5655425"/>
            <a:ext cx="306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lang="ja-JP" sz="1200" u="none" cap="none" strike="noStrike">
                <a:solidFill>
                  <a:srgbClr val="000000"/>
                </a:solidFill>
                <a:latin typeface="Arial"/>
                <a:ea typeface="Arial"/>
                <a:cs typeface="Arial"/>
                <a:sym typeface="Arial"/>
              </a:rPr>
              <a:t>低</a:t>
            </a:r>
            <a:endParaRPr sz="1200" u="none" cap="none" strike="noStrike">
              <a:solidFill>
                <a:srgbClr val="000000"/>
              </a:solidFill>
              <a:latin typeface="Arial"/>
              <a:ea typeface="Arial"/>
              <a:cs typeface="Arial"/>
              <a:sym typeface="Arial"/>
            </a:endParaRPr>
          </a:p>
        </p:txBody>
      </p:sp>
      <p:sp>
        <p:nvSpPr>
          <p:cNvPr id="160" name="Google Shape;160;p8"/>
          <p:cNvSpPr txBox="1"/>
          <p:nvPr/>
        </p:nvSpPr>
        <p:spPr>
          <a:xfrm>
            <a:off x="2123925" y="6024725"/>
            <a:ext cx="306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lang="ja-JP" sz="1200" u="none" cap="none" strike="noStrike">
                <a:solidFill>
                  <a:srgbClr val="000000"/>
                </a:solidFill>
                <a:latin typeface="Arial"/>
                <a:ea typeface="Arial"/>
                <a:cs typeface="Arial"/>
                <a:sym typeface="Arial"/>
              </a:rPr>
              <a:t>低</a:t>
            </a:r>
            <a:endParaRPr sz="1200" u="none" cap="none" strike="noStrike">
              <a:solidFill>
                <a:srgbClr val="000000"/>
              </a:solidFill>
              <a:latin typeface="Arial"/>
              <a:ea typeface="Arial"/>
              <a:cs typeface="Arial"/>
              <a:sym typeface="Arial"/>
            </a:endParaRPr>
          </a:p>
        </p:txBody>
      </p:sp>
      <p:sp>
        <p:nvSpPr>
          <p:cNvPr id="161" name="Google Shape;161;p8"/>
          <p:cNvSpPr txBox="1"/>
          <p:nvPr/>
        </p:nvSpPr>
        <p:spPr>
          <a:xfrm>
            <a:off x="11047500" y="6021368"/>
            <a:ext cx="306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lang="ja-JP" sz="1200" u="none" cap="none" strike="noStrike">
                <a:solidFill>
                  <a:srgbClr val="000000"/>
                </a:solidFill>
                <a:latin typeface="Arial"/>
                <a:ea typeface="Arial"/>
                <a:cs typeface="Arial"/>
                <a:sym typeface="Arial"/>
              </a:rPr>
              <a:t>高</a:t>
            </a:r>
            <a:endParaRPr sz="1200" u="none" cap="none" strike="noStrike">
              <a:solidFill>
                <a:srgbClr val="000000"/>
              </a:solidFill>
              <a:latin typeface="Arial"/>
              <a:ea typeface="Arial"/>
              <a:cs typeface="Arial"/>
              <a:sym typeface="Arial"/>
            </a:endParaRPr>
          </a:p>
        </p:txBody>
      </p:sp>
      <p:sp>
        <p:nvSpPr>
          <p:cNvPr id="162" name="Google Shape;162;p8"/>
          <p:cNvSpPr/>
          <p:nvPr/>
        </p:nvSpPr>
        <p:spPr>
          <a:xfrm>
            <a:off x="2013023" y="4614703"/>
            <a:ext cx="4409672" cy="1318396"/>
          </a:xfrm>
          <a:prstGeom prst="roundRect">
            <a:avLst>
              <a:gd fmla="val 6864" name="adj"/>
            </a:avLst>
          </a:prstGeom>
          <a:solidFill>
            <a:schemeClr val="lt1"/>
          </a:solidFill>
          <a:ln cap="flat" cmpd="sng" w="9525">
            <a:solidFill>
              <a:schemeClr val="dk1"/>
            </a:solidFill>
            <a:prstDash val="solid"/>
            <a:round/>
            <a:headEnd len="sm" w="sm" type="none"/>
            <a:tailEnd len="sm" w="sm" type="none"/>
          </a:ln>
        </p:spPr>
        <p:txBody>
          <a:bodyPr anchorCtr="0" anchor="t" bIns="90000" lIns="91425" spcFirstLastPara="1" rIns="91425" wrap="square" tIns="288000">
            <a:noAutofit/>
          </a:bodyPr>
          <a:lstStyle/>
          <a:p>
            <a:pPr indent="0" lvl="0" marL="0" marR="0" rtl="0" algn="l">
              <a:lnSpc>
                <a:spcPct val="100000"/>
              </a:lnSpc>
              <a:spcBef>
                <a:spcPts val="0"/>
              </a:spcBef>
              <a:spcAft>
                <a:spcPts val="0"/>
              </a:spcAft>
              <a:buClr>
                <a:srgbClr val="000000"/>
              </a:buClr>
              <a:buSzPts val="1400"/>
              <a:buFont typeface="Arial"/>
              <a:buNone/>
            </a:pPr>
            <a:r>
              <a:rPr b="1" lang="ja-JP" sz="1800" u="none" cap="none" strike="noStrike">
                <a:solidFill>
                  <a:srgbClr val="000000"/>
                </a:solidFill>
                <a:latin typeface="Arial"/>
                <a:ea typeface="Arial"/>
                <a:cs typeface="Arial"/>
                <a:sym typeface="Arial"/>
              </a:rPr>
              <a:t>最適化無し、手動・自動混在</a:t>
            </a:r>
            <a:endParaRPr b="1"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lang="ja-JP" sz="1000" u="none" cap="none" strike="noStrike">
                <a:solidFill>
                  <a:srgbClr val="000000"/>
                </a:solidFill>
                <a:latin typeface="Arial"/>
                <a:ea typeface="Arial"/>
                <a:cs typeface="Arial"/>
                <a:sym typeface="Arial"/>
              </a:rPr>
              <a:t>属人的、個人的なプロセス</a:t>
            </a:r>
            <a:endParaRPr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lang="ja-JP" sz="1000" u="none" cap="none" strike="noStrike">
                <a:solidFill>
                  <a:srgbClr val="000000"/>
                </a:solidFill>
                <a:latin typeface="Arial"/>
                <a:ea typeface="Arial"/>
                <a:cs typeface="Arial"/>
                <a:sym typeface="Arial"/>
              </a:rPr>
              <a:t>技術的な統制なし（メモやプログラムのコメントなど個人単位）</a:t>
            </a:r>
            <a:endParaRPr sz="10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lang="ja-JP" sz="1000">
                <a:solidFill>
                  <a:srgbClr val="000000"/>
                </a:solidFill>
                <a:latin typeface="Arial"/>
                <a:ea typeface="Arial"/>
                <a:cs typeface="Arial"/>
                <a:sym typeface="Arial"/>
              </a:rPr>
              <a:t>アドホックなITコンプライアンス準拠（違反）確認</a:t>
            </a:r>
            <a:endParaRPr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lang="ja-JP" sz="1000" u="none" cap="none" strike="noStrike">
                <a:solidFill>
                  <a:srgbClr val="000000"/>
                </a:solidFill>
                <a:latin typeface="Arial"/>
                <a:ea typeface="Arial"/>
                <a:cs typeface="Arial"/>
                <a:sym typeface="Arial"/>
              </a:rPr>
              <a:t>ガバナンスはなく、スケーラビリティも個別対応</a:t>
            </a:r>
            <a:endParaRPr sz="1000" u="none" cap="none" strike="noStrike">
              <a:solidFill>
                <a:srgbClr val="000000"/>
              </a:solidFill>
              <a:latin typeface="Arial"/>
              <a:ea typeface="Arial"/>
              <a:cs typeface="Arial"/>
              <a:sym typeface="Arial"/>
            </a:endParaRPr>
          </a:p>
        </p:txBody>
      </p:sp>
      <p:sp>
        <p:nvSpPr>
          <p:cNvPr id="163" name="Google Shape;163;p8"/>
          <p:cNvSpPr txBox="1"/>
          <p:nvPr/>
        </p:nvSpPr>
        <p:spPr>
          <a:xfrm>
            <a:off x="660402" y="3782172"/>
            <a:ext cx="1300398" cy="6155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lang="ja-JP" sz="1400" u="none" cap="none" strike="noStrike">
                <a:solidFill>
                  <a:srgbClr val="000000"/>
                </a:solidFill>
                <a:latin typeface="Arial"/>
                <a:ea typeface="Arial"/>
                <a:cs typeface="Arial"/>
                <a:sym typeface="Arial"/>
              </a:rPr>
              <a:t>ガバナンス・</a:t>
            </a:r>
            <a:endParaRPr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lang="ja-JP" sz="1400" u="none" cap="none" strike="noStrike">
                <a:solidFill>
                  <a:srgbClr val="000000"/>
                </a:solidFill>
                <a:latin typeface="Arial"/>
                <a:ea typeface="Arial"/>
                <a:cs typeface="Arial"/>
                <a:sym typeface="Arial"/>
              </a:rPr>
              <a:t>統制実装度合</a:t>
            </a:r>
            <a:endParaRPr sz="1400" u="none" cap="none" strike="noStrike">
              <a:solidFill>
                <a:srgbClr val="000000"/>
              </a:solidFill>
              <a:latin typeface="Arial"/>
              <a:ea typeface="Arial"/>
              <a:cs typeface="Arial"/>
              <a:sym typeface="Arial"/>
            </a:endParaRPr>
          </a:p>
        </p:txBody>
      </p:sp>
      <p:sp>
        <p:nvSpPr>
          <p:cNvPr id="164" name="Google Shape;164;p8"/>
          <p:cNvSpPr txBox="1"/>
          <p:nvPr/>
        </p:nvSpPr>
        <p:spPr>
          <a:xfrm>
            <a:off x="3287875" y="5990884"/>
            <a:ext cx="6494085"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クラウドネイティブ度合</a:t>
            </a:r>
            <a:br>
              <a:rPr lang="ja-JP" sz="1400">
                <a:solidFill>
                  <a:schemeClr val="dk1"/>
                </a:solidFill>
                <a:latin typeface="Arial"/>
                <a:ea typeface="Arial"/>
                <a:cs typeface="Arial"/>
                <a:sym typeface="Arial"/>
              </a:rPr>
            </a:br>
            <a:r>
              <a:rPr lang="ja-JP" sz="1200">
                <a:solidFill>
                  <a:schemeClr val="dk1"/>
                </a:solidFill>
                <a:latin typeface="Arial"/>
                <a:ea typeface="Arial"/>
                <a:cs typeface="Arial"/>
                <a:sym typeface="Arial"/>
              </a:rPr>
              <a:t>（オートメーション、セルフサービス、スケーラビリティ、アジリティ、レジリエンシー）</a:t>
            </a:r>
            <a:endParaRPr/>
          </a:p>
        </p:txBody>
      </p:sp>
      <p:cxnSp>
        <p:nvCxnSpPr>
          <p:cNvPr id="165" name="Google Shape;165;p8"/>
          <p:cNvCxnSpPr/>
          <p:nvPr/>
        </p:nvCxnSpPr>
        <p:spPr>
          <a:xfrm>
            <a:off x="1940134" y="6008896"/>
            <a:ext cx="9439073" cy="0"/>
          </a:xfrm>
          <a:prstGeom prst="straightConnector1">
            <a:avLst/>
          </a:prstGeom>
          <a:noFill/>
          <a:ln cap="flat" cmpd="sng" w="28575">
            <a:solidFill>
              <a:srgbClr val="7F7F7F"/>
            </a:solidFill>
            <a:prstDash val="solid"/>
            <a:miter lim="800000"/>
            <a:headEnd len="sm" w="sm" type="none"/>
            <a:tailEnd len="med" w="med" type="triangle"/>
          </a:ln>
        </p:spPr>
      </p:cxnSp>
      <p:cxnSp>
        <p:nvCxnSpPr>
          <p:cNvPr id="166" name="Google Shape;166;p8"/>
          <p:cNvCxnSpPr/>
          <p:nvPr/>
        </p:nvCxnSpPr>
        <p:spPr>
          <a:xfrm rot="10800000">
            <a:off x="1940134" y="3206490"/>
            <a:ext cx="0" cy="2818235"/>
          </a:xfrm>
          <a:prstGeom prst="straightConnector1">
            <a:avLst/>
          </a:prstGeom>
          <a:noFill/>
          <a:ln cap="flat" cmpd="sng" w="28575">
            <a:solidFill>
              <a:srgbClr val="7F7F7F"/>
            </a:solidFill>
            <a:prstDash val="solid"/>
            <a:miter lim="800000"/>
            <a:headEnd len="sm" w="sm" type="none"/>
            <a:tailEnd len="med" w="med" type="triangle"/>
          </a:ln>
        </p:spPr>
      </p:cxnSp>
      <p:sp>
        <p:nvSpPr>
          <p:cNvPr id="167" name="Google Shape;167;p8"/>
          <p:cNvSpPr/>
          <p:nvPr/>
        </p:nvSpPr>
        <p:spPr>
          <a:xfrm>
            <a:off x="2013023" y="3206500"/>
            <a:ext cx="4409672" cy="1318396"/>
          </a:xfrm>
          <a:prstGeom prst="roundRect">
            <a:avLst>
              <a:gd fmla="val 6864" name="adj"/>
            </a:avLst>
          </a:prstGeom>
          <a:solidFill>
            <a:schemeClr val="lt1"/>
          </a:solidFill>
          <a:ln cap="flat" cmpd="sng" w="9525">
            <a:solidFill>
              <a:schemeClr val="dk1"/>
            </a:solidFill>
            <a:prstDash val="solid"/>
            <a:round/>
            <a:headEnd len="sm" w="sm" type="none"/>
            <a:tailEnd len="sm" w="sm" type="none"/>
          </a:ln>
        </p:spPr>
        <p:txBody>
          <a:bodyPr anchorCtr="0" anchor="t" bIns="90000" lIns="91425" spcFirstLastPara="1" rIns="91425" wrap="square" tIns="108000">
            <a:noAutofit/>
          </a:bodyPr>
          <a:lstStyle/>
          <a:p>
            <a:pPr indent="0" lvl="0" marL="0" marR="0" rtl="0" algn="l">
              <a:spcBef>
                <a:spcPts val="0"/>
              </a:spcBef>
              <a:spcAft>
                <a:spcPts val="0"/>
              </a:spcAft>
              <a:buNone/>
            </a:pPr>
            <a:r>
              <a:rPr b="1" lang="ja-JP" sz="1800">
                <a:solidFill>
                  <a:srgbClr val="000000"/>
                </a:solidFill>
                <a:latin typeface="Arial"/>
                <a:ea typeface="Arial"/>
                <a:cs typeface="Arial"/>
                <a:sym typeface="Arial"/>
              </a:rPr>
              <a:t>全体最適、手動中心の統制</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全体標準化された手動のプロセスで一部の自動化</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マニュアル等による手動中心の技術統制、一部の自動化</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ITコンプライアンス準拠確認はログのサンプリング等で実施</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ガバナンスが確保されるが、スケーラビリティやアベイラビリティに壁</a:t>
            </a:r>
            <a:endParaRPr/>
          </a:p>
        </p:txBody>
      </p:sp>
      <p:sp>
        <p:nvSpPr>
          <p:cNvPr id="168" name="Google Shape;168;p8"/>
          <p:cNvSpPr/>
          <p:nvPr/>
        </p:nvSpPr>
        <p:spPr>
          <a:xfrm>
            <a:off x="3145671" y="4618373"/>
            <a:ext cx="3283582" cy="270497"/>
          </a:xfrm>
          <a:prstGeom prst="rect">
            <a:avLst/>
          </a:prstGeom>
          <a:solidFill>
            <a:srgbClr val="7F7F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ja-JP" sz="1200" u="none" cap="none" strike="noStrike">
                <a:solidFill>
                  <a:schemeClr val="lt1"/>
                </a:solidFill>
                <a:latin typeface="Arial"/>
                <a:ea typeface="Arial"/>
                <a:cs typeface="Arial"/>
                <a:sym typeface="Arial"/>
              </a:rPr>
              <a:t>カオス・タクティカル</a:t>
            </a:r>
            <a:endParaRPr b="1" sz="1200" u="none" cap="none" strike="noStrike">
              <a:solidFill>
                <a:schemeClr val="lt1"/>
              </a:solidFill>
              <a:latin typeface="Arial"/>
              <a:ea typeface="Arial"/>
              <a:cs typeface="Arial"/>
              <a:sym typeface="Arial"/>
            </a:endParaRPr>
          </a:p>
        </p:txBody>
      </p:sp>
      <p:sp>
        <p:nvSpPr>
          <p:cNvPr id="169" name="Google Shape;169;p8"/>
          <p:cNvSpPr/>
          <p:nvPr/>
        </p:nvSpPr>
        <p:spPr>
          <a:xfrm>
            <a:off x="3145671" y="4253578"/>
            <a:ext cx="3283582" cy="282801"/>
          </a:xfrm>
          <a:prstGeom prst="rect">
            <a:avLst/>
          </a:prstGeom>
          <a:solidFill>
            <a:srgbClr val="7F7F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ja-JP" sz="1200" u="none" cap="none" strike="noStrike">
                <a:solidFill>
                  <a:schemeClr val="lt1"/>
                </a:solidFill>
                <a:latin typeface="Arial"/>
                <a:ea typeface="Arial"/>
                <a:cs typeface="Arial"/>
                <a:sym typeface="Arial"/>
              </a:rPr>
              <a:t>手動型ストラテジック</a:t>
            </a:r>
            <a:endParaRPr b="1" sz="1200" u="none" cap="none" strike="noStrike">
              <a:solidFill>
                <a:schemeClr val="lt1"/>
              </a:solidFill>
              <a:latin typeface="Arial"/>
              <a:ea typeface="Arial"/>
              <a:cs typeface="Arial"/>
              <a:sym typeface="Arial"/>
            </a:endParaRPr>
          </a:p>
        </p:txBody>
      </p:sp>
      <p:sp>
        <p:nvSpPr>
          <p:cNvPr id="170" name="Google Shape;170;p8"/>
          <p:cNvSpPr/>
          <p:nvPr/>
        </p:nvSpPr>
        <p:spPr>
          <a:xfrm>
            <a:off x="6521486" y="4614235"/>
            <a:ext cx="4409672" cy="1318396"/>
          </a:xfrm>
          <a:prstGeom prst="roundRect">
            <a:avLst>
              <a:gd fmla="val 6864" name="adj"/>
            </a:avLst>
          </a:prstGeom>
          <a:solidFill>
            <a:schemeClr val="lt1"/>
          </a:solidFill>
          <a:ln cap="flat" cmpd="sng" w="9525">
            <a:solidFill>
              <a:schemeClr val="dk1"/>
            </a:solidFill>
            <a:prstDash val="solid"/>
            <a:round/>
            <a:headEnd len="sm" w="sm" type="none"/>
            <a:tailEnd len="sm" w="sm" type="none"/>
          </a:ln>
        </p:spPr>
        <p:txBody>
          <a:bodyPr anchorCtr="0" anchor="t" bIns="90000" lIns="91425" spcFirstLastPara="1" rIns="91425" wrap="square" tIns="288000">
            <a:noAutofit/>
          </a:bodyPr>
          <a:lstStyle/>
          <a:p>
            <a:pPr indent="0" lvl="0" marL="0" marR="0" rtl="0" algn="l">
              <a:spcBef>
                <a:spcPts val="0"/>
              </a:spcBef>
              <a:spcAft>
                <a:spcPts val="0"/>
              </a:spcAft>
              <a:buNone/>
            </a:pPr>
            <a:r>
              <a:rPr b="1" lang="ja-JP" sz="1800">
                <a:solidFill>
                  <a:srgbClr val="000000"/>
                </a:solidFill>
                <a:latin typeface="Arial"/>
                <a:ea typeface="Arial"/>
                <a:cs typeface="Arial"/>
                <a:sym typeface="Arial"/>
              </a:rPr>
              <a:t>個別最適、自動化</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個別部門等の単位で標準化された手動と自動のプロセスが混在</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部門やチーム単位での個別の技術的統制の実装</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ITコンプライアンスへの準拠は個別実装</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個別のスケーラビリティとガバナンス</a:t>
            </a:r>
            <a:endParaRPr/>
          </a:p>
        </p:txBody>
      </p:sp>
      <p:sp>
        <p:nvSpPr>
          <p:cNvPr id="171" name="Google Shape;171;p8"/>
          <p:cNvSpPr/>
          <p:nvPr/>
        </p:nvSpPr>
        <p:spPr>
          <a:xfrm>
            <a:off x="6521486" y="3206490"/>
            <a:ext cx="4409672" cy="1318396"/>
          </a:xfrm>
          <a:prstGeom prst="roundRect">
            <a:avLst>
              <a:gd fmla="val 6864" name="adj"/>
            </a:avLst>
          </a:prstGeom>
          <a:solidFill>
            <a:schemeClr val="lt1"/>
          </a:solidFill>
          <a:ln cap="flat" cmpd="sng" w="9525">
            <a:solidFill>
              <a:schemeClr val="dk1"/>
            </a:solidFill>
            <a:prstDash val="solid"/>
            <a:round/>
            <a:headEnd len="sm" w="sm" type="none"/>
            <a:tailEnd len="sm" w="sm" type="none"/>
          </a:ln>
        </p:spPr>
        <p:txBody>
          <a:bodyPr anchorCtr="0" anchor="t" bIns="90000" lIns="91425" spcFirstLastPara="1" rIns="91425" wrap="square" tIns="108000">
            <a:noAutofit/>
          </a:bodyPr>
          <a:lstStyle/>
          <a:p>
            <a:pPr indent="0" lvl="0" marL="0" marR="0" rtl="0" algn="l">
              <a:spcBef>
                <a:spcPts val="0"/>
              </a:spcBef>
              <a:spcAft>
                <a:spcPts val="0"/>
              </a:spcAft>
              <a:buNone/>
            </a:pPr>
            <a:r>
              <a:rPr b="1" lang="ja-JP" sz="1800">
                <a:solidFill>
                  <a:srgbClr val="000000"/>
                </a:solidFill>
                <a:latin typeface="Arial"/>
                <a:ea typeface="Arial"/>
                <a:cs typeface="Arial"/>
                <a:sym typeface="Arial"/>
              </a:rPr>
              <a:t>全体最適、自動化</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全体標準化され高度に自動化されたプロセス</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マルチアカウント管理やIaC *等による全体統制実装</a:t>
            </a:r>
            <a:endParaRPr/>
          </a:p>
          <a:p>
            <a:pPr indent="0" lvl="0" marL="0" marR="0" rtl="0" algn="l">
              <a:spcBef>
                <a:spcPts val="0"/>
              </a:spcBef>
              <a:spcAft>
                <a:spcPts val="0"/>
              </a:spcAft>
              <a:buNone/>
            </a:pPr>
            <a:r>
              <a:rPr lang="ja-JP" sz="1000">
                <a:solidFill>
                  <a:srgbClr val="000000"/>
                </a:solidFill>
                <a:latin typeface="Arial"/>
                <a:ea typeface="Arial"/>
                <a:cs typeface="Arial"/>
                <a:sym typeface="Arial"/>
              </a:rPr>
              <a:t>全ログと全構成情報の監視の自動化</a:t>
            </a:r>
            <a:endParaRPr sz="1000">
              <a:solidFill>
                <a:srgbClr val="000000"/>
              </a:solidFill>
              <a:latin typeface="Arial"/>
              <a:ea typeface="Arial"/>
              <a:cs typeface="Arial"/>
              <a:sym typeface="Arial"/>
            </a:endParaRPr>
          </a:p>
          <a:p>
            <a:pPr indent="0" lvl="0" marL="0" marR="0" rtl="0" algn="l">
              <a:spcBef>
                <a:spcPts val="0"/>
              </a:spcBef>
              <a:spcAft>
                <a:spcPts val="0"/>
              </a:spcAft>
              <a:buNone/>
            </a:pPr>
            <a:r>
              <a:rPr lang="ja-JP" sz="1000">
                <a:solidFill>
                  <a:srgbClr val="000000"/>
                </a:solidFill>
                <a:latin typeface="Arial"/>
                <a:ea typeface="Arial"/>
                <a:cs typeface="Arial"/>
                <a:sym typeface="Arial"/>
              </a:rPr>
              <a:t>ガバナンスとスケーラビリティとレリジエンシーの確立</a:t>
            </a:r>
            <a:endParaRPr/>
          </a:p>
        </p:txBody>
      </p:sp>
      <p:sp>
        <p:nvSpPr>
          <p:cNvPr id="172" name="Google Shape;172;p8"/>
          <p:cNvSpPr/>
          <p:nvPr/>
        </p:nvSpPr>
        <p:spPr>
          <a:xfrm>
            <a:off x="6520705" y="4253578"/>
            <a:ext cx="3394295" cy="282801"/>
          </a:xfrm>
          <a:prstGeom prst="rect">
            <a:avLst/>
          </a:prstGeom>
          <a:solidFill>
            <a:srgbClr val="7F7F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ja-JP" sz="1200" u="none" cap="none" strike="noStrike">
                <a:solidFill>
                  <a:schemeClr val="lt1"/>
                </a:solidFill>
                <a:latin typeface="Arial"/>
                <a:ea typeface="Arial"/>
                <a:cs typeface="Arial"/>
                <a:sym typeface="Arial"/>
              </a:rPr>
              <a:t>モダンクラウド型トランスフォーメイショナル</a:t>
            </a:r>
            <a:endParaRPr b="1" sz="1200" u="none" cap="none" strike="noStrike">
              <a:solidFill>
                <a:schemeClr val="lt1"/>
              </a:solidFill>
              <a:latin typeface="Arial"/>
              <a:ea typeface="Arial"/>
              <a:cs typeface="Arial"/>
              <a:sym typeface="Arial"/>
            </a:endParaRPr>
          </a:p>
        </p:txBody>
      </p:sp>
      <p:sp>
        <p:nvSpPr>
          <p:cNvPr id="173" name="Google Shape;173;p8"/>
          <p:cNvSpPr/>
          <p:nvPr/>
        </p:nvSpPr>
        <p:spPr>
          <a:xfrm>
            <a:off x="6520705" y="4618373"/>
            <a:ext cx="3394295" cy="270497"/>
          </a:xfrm>
          <a:prstGeom prst="rect">
            <a:avLst/>
          </a:prstGeom>
          <a:solidFill>
            <a:srgbClr val="7F7F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ja-JP" sz="1200" u="none" cap="none" strike="noStrike">
                <a:solidFill>
                  <a:schemeClr val="lt1"/>
                </a:solidFill>
                <a:latin typeface="Arial"/>
                <a:ea typeface="Arial"/>
                <a:cs typeface="Arial"/>
                <a:sym typeface="Arial"/>
              </a:rPr>
              <a:t>クラウド型ストラテジック</a:t>
            </a:r>
            <a:endParaRPr b="1" sz="1200" u="none" cap="none" strike="noStrike">
              <a:solidFill>
                <a:schemeClr val="lt1"/>
              </a:solidFill>
              <a:latin typeface="Arial"/>
              <a:ea typeface="Arial"/>
              <a:cs typeface="Arial"/>
              <a:sym typeface="Arial"/>
            </a:endParaRPr>
          </a:p>
        </p:txBody>
      </p:sp>
      <p:sp>
        <p:nvSpPr>
          <p:cNvPr id="174" name="Google Shape;174;p8"/>
          <p:cNvSpPr/>
          <p:nvPr/>
        </p:nvSpPr>
        <p:spPr>
          <a:xfrm flipH="1">
            <a:off x="838201" y="1740937"/>
            <a:ext cx="3972711" cy="1321257"/>
          </a:xfrm>
          <a:custGeom>
            <a:rect b="b" l="l" r="r" t="t"/>
            <a:pathLst>
              <a:path extrusionOk="0" h="120000" w="120000">
                <a:moveTo>
                  <a:pt x="0" y="0"/>
                </a:moveTo>
                <a:lnTo>
                  <a:pt x="120000" y="0"/>
                </a:lnTo>
                <a:lnTo>
                  <a:pt x="120000" y="120000"/>
                </a:lnTo>
                <a:lnTo>
                  <a:pt x="0" y="120000"/>
                </a:lnTo>
                <a:close/>
              </a:path>
              <a:path extrusionOk="0" fill="none" h="120000" w="120000">
                <a:moveTo>
                  <a:pt x="-2584" y="28171"/>
                </a:moveTo>
                <a:lnTo>
                  <a:pt x="-8221" y="137354"/>
                </a:lnTo>
              </a:path>
            </a:pathLst>
          </a:cu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800">
                <a:solidFill>
                  <a:schemeClr val="dk1"/>
                </a:solidFill>
                <a:latin typeface="Arial"/>
                <a:ea typeface="Arial"/>
                <a:cs typeface="Arial"/>
                <a:sym typeface="Arial"/>
              </a:rPr>
              <a:t>ゲートキーパー方式による</a:t>
            </a:r>
            <a:br>
              <a:rPr b="1" lang="ja-JP" sz="1800">
                <a:solidFill>
                  <a:schemeClr val="dk1"/>
                </a:solidFill>
                <a:latin typeface="Arial"/>
                <a:ea typeface="Arial"/>
                <a:cs typeface="Arial"/>
                <a:sym typeface="Arial"/>
              </a:rPr>
            </a:br>
            <a:r>
              <a:rPr b="1" lang="ja-JP" sz="1800">
                <a:solidFill>
                  <a:schemeClr val="dk1"/>
                </a:solidFill>
                <a:latin typeface="Arial"/>
                <a:ea typeface="Arial"/>
                <a:cs typeface="Arial"/>
                <a:sym typeface="Arial"/>
              </a:rPr>
              <a:t>技術ガバナンス実現</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機能利用の事前承認や境界防御による経路の集約管理はスケーラビリティや柔軟性にとってボトルネックになり、全量チェックできずITコンプライアンス準拠確認も部分的になる</a:t>
            </a:r>
            <a:endParaRPr/>
          </a:p>
        </p:txBody>
      </p:sp>
      <p:sp>
        <p:nvSpPr>
          <p:cNvPr id="175" name="Google Shape;175;p8"/>
          <p:cNvSpPr/>
          <p:nvPr/>
        </p:nvSpPr>
        <p:spPr>
          <a:xfrm>
            <a:off x="7381089" y="1740937"/>
            <a:ext cx="3972711" cy="1321257"/>
          </a:xfrm>
          <a:custGeom>
            <a:rect b="b" l="l" r="r" t="t"/>
            <a:pathLst>
              <a:path extrusionOk="0" h="120000" w="120000">
                <a:moveTo>
                  <a:pt x="0" y="0"/>
                </a:moveTo>
                <a:lnTo>
                  <a:pt x="120000" y="0"/>
                </a:lnTo>
                <a:lnTo>
                  <a:pt x="120000" y="120000"/>
                </a:lnTo>
                <a:lnTo>
                  <a:pt x="0" y="120000"/>
                </a:lnTo>
                <a:close/>
              </a:path>
              <a:path extrusionOk="0" fill="none" h="120000" w="120000">
                <a:moveTo>
                  <a:pt x="-2327" y="25336"/>
                </a:moveTo>
                <a:lnTo>
                  <a:pt x="-12971" y="140017"/>
                </a:lnTo>
              </a:path>
            </a:pathLst>
          </a:custGeom>
          <a:solidFill>
            <a:srgbClr val="FFF2CC"/>
          </a:solidFill>
          <a:ln cap="flat" cmpd="sng" w="9525">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ja-JP" sz="1800">
                <a:solidFill>
                  <a:schemeClr val="dk1"/>
                </a:solidFill>
                <a:latin typeface="Arial"/>
                <a:ea typeface="Arial"/>
                <a:cs typeface="Arial"/>
                <a:sym typeface="Arial"/>
              </a:rPr>
              <a:t>ガードレール方式による</a:t>
            </a:r>
            <a:br>
              <a:rPr b="1" lang="ja-JP" sz="1800">
                <a:solidFill>
                  <a:schemeClr val="dk1"/>
                </a:solidFill>
                <a:latin typeface="Arial"/>
                <a:ea typeface="Arial"/>
                <a:cs typeface="Arial"/>
                <a:sym typeface="Arial"/>
              </a:rPr>
            </a:br>
            <a:r>
              <a:rPr b="1" lang="ja-JP" sz="1800">
                <a:solidFill>
                  <a:schemeClr val="dk1"/>
                </a:solidFill>
                <a:latin typeface="Arial"/>
                <a:ea typeface="Arial"/>
                <a:cs typeface="Arial"/>
                <a:sym typeface="Arial"/>
              </a:rPr>
              <a:t>技術ガバナンス実現</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ITコンプライアンス違反となる操作を未然に防ぐこと（予防的統制）と、違反の疑いや違反の予兆を検知すること（発見的統制）により、スケーラビリティや柔軟性を維持しつつ技術ガバナンスを実現</a:t>
            </a:r>
            <a:endParaRPr/>
          </a:p>
        </p:txBody>
      </p:sp>
      <p:sp>
        <p:nvSpPr>
          <p:cNvPr id="176" name="Google Shape;176;p8"/>
          <p:cNvSpPr txBox="1"/>
          <p:nvPr/>
        </p:nvSpPr>
        <p:spPr>
          <a:xfrm>
            <a:off x="838200" y="1225657"/>
            <a:ext cx="98796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800">
                <a:solidFill>
                  <a:schemeClr val="dk1"/>
                </a:solidFill>
                <a:latin typeface="Arial"/>
                <a:ea typeface="Arial"/>
                <a:cs typeface="Arial"/>
                <a:sym typeface="Arial"/>
              </a:rPr>
              <a:t>大規模環境でのガバナンスは統合管理しての人による審査や承認ではなく自動化がキーとなる</a:t>
            </a:r>
            <a:endParaRPr/>
          </a:p>
        </p:txBody>
      </p:sp>
      <p:sp>
        <p:nvSpPr>
          <p:cNvPr id="177" name="Google Shape;177;p8"/>
          <p:cNvSpPr txBox="1"/>
          <p:nvPr/>
        </p:nvSpPr>
        <p:spPr>
          <a:xfrm>
            <a:off x="9501770" y="6503826"/>
            <a:ext cx="187743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000">
                <a:solidFill>
                  <a:schemeClr val="dk1"/>
                </a:solidFill>
                <a:latin typeface="Arial"/>
                <a:ea typeface="Arial"/>
                <a:cs typeface="Arial"/>
                <a:sym typeface="Arial"/>
              </a:rPr>
              <a:t>* IaC: Infrastracture as Code</a:t>
            </a:r>
            <a:endParaRPr sz="10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type="title"/>
          </p:nvPr>
        </p:nvSpPr>
        <p:spPr>
          <a:xfrm>
            <a:off x="838200" y="463168"/>
            <a:ext cx="10515600" cy="703911"/>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スケールとガバナンスの両立</a:t>
            </a:r>
            <a:endParaRPr/>
          </a:p>
        </p:txBody>
      </p:sp>
      <p:sp>
        <p:nvSpPr>
          <p:cNvPr id="184" name="Google Shape;184;p9"/>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cxnSp>
        <p:nvCxnSpPr>
          <p:cNvPr id="185" name="Google Shape;185;p9"/>
          <p:cNvCxnSpPr/>
          <p:nvPr/>
        </p:nvCxnSpPr>
        <p:spPr>
          <a:xfrm>
            <a:off x="6096000" y="1549041"/>
            <a:ext cx="0" cy="4954785"/>
          </a:xfrm>
          <a:prstGeom prst="straightConnector1">
            <a:avLst/>
          </a:prstGeom>
          <a:noFill/>
          <a:ln cap="flat" cmpd="sng" w="9525">
            <a:solidFill>
              <a:srgbClr val="7F7F7F"/>
            </a:solidFill>
            <a:prstDash val="dot"/>
            <a:miter lim="800000"/>
            <a:headEnd len="sm" w="sm" type="none"/>
            <a:tailEnd len="sm" w="sm" type="none"/>
          </a:ln>
        </p:spPr>
      </p:cxnSp>
      <p:sp>
        <p:nvSpPr>
          <p:cNvPr id="186" name="Google Shape;186;p9"/>
          <p:cNvSpPr/>
          <p:nvPr/>
        </p:nvSpPr>
        <p:spPr>
          <a:xfrm>
            <a:off x="833717" y="1163688"/>
            <a:ext cx="5109877" cy="367912"/>
          </a:xfrm>
          <a:prstGeom prst="rect">
            <a:avLst/>
          </a:prstGeom>
          <a:solidFill>
            <a:srgbClr val="7F7F7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Arial"/>
                <a:ea typeface="Arial"/>
                <a:cs typeface="Arial"/>
                <a:sym typeface="Arial"/>
              </a:rPr>
              <a:t>従来の考え方の一例</a:t>
            </a:r>
            <a:endParaRPr/>
          </a:p>
        </p:txBody>
      </p:sp>
      <p:sp>
        <p:nvSpPr>
          <p:cNvPr id="187" name="Google Shape;187;p9"/>
          <p:cNvSpPr/>
          <p:nvPr/>
        </p:nvSpPr>
        <p:spPr>
          <a:xfrm>
            <a:off x="6248407" y="1165273"/>
            <a:ext cx="5109877" cy="367912"/>
          </a:xfrm>
          <a:prstGeom prst="rect">
            <a:avLst/>
          </a:prstGeom>
          <a:solidFill>
            <a:srgbClr val="7F7F7F"/>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Arial"/>
                <a:ea typeface="Arial"/>
                <a:cs typeface="Arial"/>
                <a:sym typeface="Arial"/>
              </a:rPr>
              <a:t>ガバメントクラウドでの考え方</a:t>
            </a:r>
            <a:endParaRPr/>
          </a:p>
        </p:txBody>
      </p:sp>
      <p:sp>
        <p:nvSpPr>
          <p:cNvPr id="188" name="Google Shape;188;p9"/>
          <p:cNvSpPr txBox="1"/>
          <p:nvPr/>
        </p:nvSpPr>
        <p:spPr>
          <a:xfrm>
            <a:off x="3920272" y="4175168"/>
            <a:ext cx="202332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柔軟性に欠け、スケールしにくい</a:t>
            </a:r>
            <a:endParaRPr/>
          </a:p>
        </p:txBody>
      </p:sp>
      <p:sp>
        <p:nvSpPr>
          <p:cNvPr id="189" name="Google Shape;189;p9"/>
          <p:cNvSpPr txBox="1"/>
          <p:nvPr/>
        </p:nvSpPr>
        <p:spPr>
          <a:xfrm>
            <a:off x="9469407" y="2916816"/>
            <a:ext cx="187818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共通に設定する内容を</a:t>
            </a:r>
            <a:br>
              <a:rPr lang="ja-JP" sz="1200">
                <a:solidFill>
                  <a:schemeClr val="dk1"/>
                </a:solidFill>
                <a:latin typeface="Arial"/>
                <a:ea typeface="Arial"/>
                <a:cs typeface="Arial"/>
                <a:sym typeface="Arial"/>
              </a:rPr>
            </a:br>
            <a:r>
              <a:rPr b="1" lang="ja-JP" sz="1200">
                <a:solidFill>
                  <a:schemeClr val="dk1"/>
                </a:solidFill>
                <a:latin typeface="Arial"/>
                <a:ea typeface="Arial"/>
                <a:cs typeface="Arial"/>
                <a:sym typeface="Arial"/>
              </a:rPr>
              <a:t>テンプレート</a:t>
            </a:r>
            <a:r>
              <a:rPr lang="ja-JP" sz="1200">
                <a:solidFill>
                  <a:schemeClr val="dk1"/>
                </a:solidFill>
                <a:latin typeface="Arial"/>
                <a:ea typeface="Arial"/>
                <a:cs typeface="Arial"/>
                <a:sym typeface="Arial"/>
              </a:rPr>
              <a:t>化＋自動化</a:t>
            </a:r>
            <a:endParaRPr/>
          </a:p>
        </p:txBody>
      </p:sp>
      <p:sp>
        <p:nvSpPr>
          <p:cNvPr id="190" name="Google Shape;190;p9"/>
          <p:cNvSpPr txBox="1"/>
          <p:nvPr/>
        </p:nvSpPr>
        <p:spPr>
          <a:xfrm>
            <a:off x="9469407" y="4299644"/>
            <a:ext cx="145899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スケールやすい</a:t>
            </a:r>
            <a:endParaRPr/>
          </a:p>
        </p:txBody>
      </p:sp>
      <p:sp>
        <p:nvSpPr>
          <p:cNvPr id="191" name="Google Shape;191;p9"/>
          <p:cNvSpPr txBox="1"/>
          <p:nvPr/>
        </p:nvSpPr>
        <p:spPr>
          <a:xfrm>
            <a:off x="9472449" y="4809342"/>
            <a:ext cx="18899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chemeClr val="dk1"/>
                </a:solidFill>
                <a:latin typeface="Arial"/>
                <a:ea typeface="Arial"/>
                <a:cs typeface="Arial"/>
                <a:sym typeface="Arial"/>
              </a:rPr>
              <a:t>予防的・発見的統制</a:t>
            </a:r>
            <a:r>
              <a:rPr lang="ja-JP" sz="1200">
                <a:solidFill>
                  <a:schemeClr val="dk1"/>
                </a:solidFill>
                <a:latin typeface="Arial"/>
                <a:ea typeface="Arial"/>
                <a:cs typeface="Arial"/>
                <a:sym typeface="Arial"/>
              </a:rPr>
              <a:t>を使い、現場での迅速柔軟な対応と全体把握</a:t>
            </a:r>
            <a:endParaRPr/>
          </a:p>
        </p:txBody>
      </p:sp>
      <p:sp>
        <p:nvSpPr>
          <p:cNvPr id="192" name="Google Shape;192;p9"/>
          <p:cNvSpPr txBox="1"/>
          <p:nvPr/>
        </p:nvSpPr>
        <p:spPr>
          <a:xfrm>
            <a:off x="9469407" y="5528760"/>
            <a:ext cx="18899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chemeClr val="dk1"/>
                </a:solidFill>
                <a:latin typeface="Arial"/>
                <a:ea typeface="Arial"/>
                <a:cs typeface="Arial"/>
                <a:sym typeface="Arial"/>
              </a:rPr>
              <a:t>ダッシュボード</a:t>
            </a:r>
            <a:r>
              <a:rPr lang="ja-JP" sz="1200">
                <a:solidFill>
                  <a:schemeClr val="dk1"/>
                </a:solidFill>
                <a:latin typeface="Arial"/>
                <a:ea typeface="Arial"/>
                <a:cs typeface="Arial"/>
                <a:sym typeface="Arial"/>
              </a:rPr>
              <a:t>で全体として見たい情報をリアルタイムに確認</a:t>
            </a:r>
            <a:endParaRPr/>
          </a:p>
        </p:txBody>
      </p:sp>
      <p:sp>
        <p:nvSpPr>
          <p:cNvPr id="193" name="Google Shape;193;p9"/>
          <p:cNvSpPr txBox="1"/>
          <p:nvPr/>
        </p:nvSpPr>
        <p:spPr>
          <a:xfrm>
            <a:off x="9469407" y="3529496"/>
            <a:ext cx="18781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chemeClr val="dk1"/>
                </a:solidFill>
                <a:latin typeface="Arial"/>
                <a:ea typeface="Arial"/>
                <a:cs typeface="Arial"/>
                <a:sym typeface="Arial"/>
              </a:rPr>
              <a:t>テンプレート</a:t>
            </a:r>
            <a:r>
              <a:rPr lang="ja-JP" sz="1200">
                <a:solidFill>
                  <a:schemeClr val="dk1"/>
                </a:solidFill>
                <a:latin typeface="Arial"/>
                <a:ea typeface="Arial"/>
                <a:cs typeface="Arial"/>
                <a:sym typeface="Arial"/>
              </a:rPr>
              <a:t>を確認することでシステム構成の確認が可能</a:t>
            </a:r>
            <a:endParaRPr/>
          </a:p>
        </p:txBody>
      </p:sp>
      <p:sp>
        <p:nvSpPr>
          <p:cNvPr id="194" name="Google Shape;194;p9"/>
          <p:cNvSpPr txBox="1"/>
          <p:nvPr/>
        </p:nvSpPr>
        <p:spPr>
          <a:xfrm>
            <a:off x="3920330" y="3579814"/>
            <a:ext cx="20232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実環境を見ないとシステム構成を確認できない</a:t>
            </a:r>
            <a:endParaRPr/>
          </a:p>
        </p:txBody>
      </p:sp>
      <p:sp>
        <p:nvSpPr>
          <p:cNvPr id="195" name="Google Shape;195;p9"/>
          <p:cNvSpPr txBox="1"/>
          <p:nvPr/>
        </p:nvSpPr>
        <p:spPr>
          <a:xfrm>
            <a:off x="9469408" y="2664112"/>
            <a:ext cx="188989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CSF(*)を</a:t>
            </a:r>
            <a:r>
              <a:rPr b="1" lang="ja-JP" sz="1200">
                <a:solidFill>
                  <a:schemeClr val="dk1"/>
                </a:solidFill>
                <a:latin typeface="Arial"/>
                <a:ea typeface="Arial"/>
                <a:cs typeface="Arial"/>
                <a:sym typeface="Arial"/>
              </a:rPr>
              <a:t>テンプレート</a:t>
            </a:r>
            <a:r>
              <a:rPr lang="ja-JP" sz="1200">
                <a:solidFill>
                  <a:schemeClr val="dk1"/>
                </a:solidFill>
                <a:latin typeface="Arial"/>
                <a:ea typeface="Arial"/>
                <a:cs typeface="Arial"/>
                <a:sym typeface="Arial"/>
              </a:rPr>
              <a:t>化</a:t>
            </a:r>
            <a:endParaRPr/>
          </a:p>
        </p:txBody>
      </p:sp>
      <p:sp>
        <p:nvSpPr>
          <p:cNvPr id="196" name="Google Shape;196;p9"/>
          <p:cNvSpPr txBox="1"/>
          <p:nvPr/>
        </p:nvSpPr>
        <p:spPr>
          <a:xfrm>
            <a:off x="6362344" y="1612017"/>
            <a:ext cx="48013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2400">
                <a:solidFill>
                  <a:schemeClr val="dk1"/>
                </a:solidFill>
                <a:latin typeface="Arial"/>
                <a:ea typeface="Arial"/>
                <a:cs typeface="Arial"/>
                <a:sym typeface="Arial"/>
              </a:rPr>
              <a:t>分散環境でのガバナンスの自動化</a:t>
            </a:r>
            <a:endParaRPr/>
          </a:p>
        </p:txBody>
      </p:sp>
      <p:sp>
        <p:nvSpPr>
          <p:cNvPr id="197" name="Google Shape;197;p9"/>
          <p:cNvSpPr txBox="1"/>
          <p:nvPr/>
        </p:nvSpPr>
        <p:spPr>
          <a:xfrm>
            <a:off x="1643895" y="1612016"/>
            <a:ext cx="35702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2400">
                <a:solidFill>
                  <a:schemeClr val="dk1"/>
                </a:solidFill>
                <a:latin typeface="Arial"/>
                <a:ea typeface="Arial"/>
                <a:cs typeface="Arial"/>
                <a:sym typeface="Arial"/>
              </a:rPr>
              <a:t>ガバナンスのために統合</a:t>
            </a:r>
            <a:endParaRPr/>
          </a:p>
        </p:txBody>
      </p:sp>
      <p:sp>
        <p:nvSpPr>
          <p:cNvPr id="198" name="Google Shape;198;p9"/>
          <p:cNvSpPr txBox="1"/>
          <p:nvPr/>
        </p:nvSpPr>
        <p:spPr>
          <a:xfrm>
            <a:off x="8859206" y="6419096"/>
            <a:ext cx="2494594"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000">
                <a:solidFill>
                  <a:schemeClr val="dk1"/>
                </a:solidFill>
                <a:latin typeface="Arial"/>
                <a:ea typeface="Arial"/>
                <a:cs typeface="Arial"/>
                <a:sym typeface="Arial"/>
              </a:rPr>
              <a:t>* CSF: NIST Cyber Security Framework</a:t>
            </a:r>
            <a:endParaRPr sz="1000">
              <a:solidFill>
                <a:schemeClr val="dk1"/>
              </a:solidFill>
              <a:latin typeface="Arial"/>
              <a:ea typeface="Arial"/>
              <a:cs typeface="Arial"/>
              <a:sym typeface="Arial"/>
            </a:endParaRPr>
          </a:p>
        </p:txBody>
      </p:sp>
      <p:sp>
        <p:nvSpPr>
          <p:cNvPr id="199" name="Google Shape;199;p9"/>
          <p:cNvSpPr txBox="1"/>
          <p:nvPr/>
        </p:nvSpPr>
        <p:spPr>
          <a:xfrm>
            <a:off x="3920272" y="5722403"/>
            <a:ext cx="202332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1ヶ月前の情報で報告を受ける</a:t>
            </a:r>
            <a:endParaRPr sz="1200">
              <a:solidFill>
                <a:schemeClr val="dk1"/>
              </a:solidFill>
              <a:latin typeface="Arial"/>
              <a:ea typeface="Arial"/>
              <a:cs typeface="Arial"/>
              <a:sym typeface="Arial"/>
            </a:endParaRPr>
          </a:p>
        </p:txBody>
      </p:sp>
      <p:sp>
        <p:nvSpPr>
          <p:cNvPr id="200" name="Google Shape;200;p9"/>
          <p:cNvSpPr/>
          <p:nvPr/>
        </p:nvSpPr>
        <p:spPr>
          <a:xfrm>
            <a:off x="2536356" y="4064945"/>
            <a:ext cx="927147" cy="547135"/>
          </a:xfrm>
          <a:prstGeom prst="can">
            <a:avLst>
              <a:gd fmla="val 25000"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統合DB</a:t>
            </a:r>
            <a:endParaRPr sz="1100">
              <a:solidFill>
                <a:schemeClr val="dk1"/>
              </a:solidFill>
              <a:latin typeface="Arial"/>
              <a:ea typeface="Arial"/>
              <a:cs typeface="Arial"/>
              <a:sym typeface="Arial"/>
            </a:endParaRPr>
          </a:p>
        </p:txBody>
      </p:sp>
      <p:sp>
        <p:nvSpPr>
          <p:cNvPr id="201" name="Google Shape;201;p9"/>
          <p:cNvSpPr/>
          <p:nvPr/>
        </p:nvSpPr>
        <p:spPr>
          <a:xfrm>
            <a:off x="2168587" y="2330027"/>
            <a:ext cx="1662684" cy="239039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統合環境</a:t>
            </a:r>
            <a:endParaRPr/>
          </a:p>
        </p:txBody>
      </p:sp>
      <p:sp>
        <p:nvSpPr>
          <p:cNvPr id="202" name="Google Shape;202;p9"/>
          <p:cNvSpPr/>
          <p:nvPr/>
        </p:nvSpPr>
        <p:spPr>
          <a:xfrm>
            <a:off x="2367245" y="2719985"/>
            <a:ext cx="1265368" cy="54713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統合ハブ</a:t>
            </a:r>
            <a:endParaRPr/>
          </a:p>
        </p:txBody>
      </p:sp>
      <p:sp>
        <p:nvSpPr>
          <p:cNvPr id="203" name="Google Shape;203;p9"/>
          <p:cNvSpPr/>
          <p:nvPr/>
        </p:nvSpPr>
        <p:spPr>
          <a:xfrm>
            <a:off x="2367245" y="5064884"/>
            <a:ext cx="1265368" cy="44116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統合監視</a:t>
            </a:r>
            <a:endParaRPr/>
          </a:p>
        </p:txBody>
      </p:sp>
      <p:sp>
        <p:nvSpPr>
          <p:cNvPr id="204" name="Google Shape;204;p9"/>
          <p:cNvSpPr/>
          <p:nvPr/>
        </p:nvSpPr>
        <p:spPr>
          <a:xfrm>
            <a:off x="2367245" y="3386288"/>
            <a:ext cx="1265368" cy="54713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共通</a:t>
            </a:r>
            <a:endParaRPr sz="1100">
              <a:solidFill>
                <a:schemeClr val="dk1"/>
              </a:solidFill>
              <a:latin typeface="Arial"/>
              <a:ea typeface="Arial"/>
              <a:cs typeface="Arial"/>
              <a:sym typeface="Arial"/>
            </a:endParaRPr>
          </a:p>
          <a:p>
            <a:pPr indent="0" lvl="0" marL="0" marR="0" rtl="0" algn="ctr">
              <a:spcBef>
                <a:spcPts val="0"/>
              </a:spcBef>
              <a:spcAft>
                <a:spcPts val="0"/>
              </a:spcAft>
              <a:buNone/>
            </a:pPr>
            <a:r>
              <a:rPr lang="ja-JP" sz="1100">
                <a:solidFill>
                  <a:schemeClr val="dk1"/>
                </a:solidFill>
                <a:latin typeface="Arial"/>
                <a:ea typeface="Arial"/>
                <a:cs typeface="Arial"/>
                <a:sym typeface="Arial"/>
              </a:rPr>
              <a:t>アプリ基盤</a:t>
            </a:r>
            <a:endParaRPr sz="1100">
              <a:solidFill>
                <a:schemeClr val="dk1"/>
              </a:solidFill>
              <a:latin typeface="Arial"/>
              <a:ea typeface="Arial"/>
              <a:cs typeface="Arial"/>
              <a:sym typeface="Arial"/>
            </a:endParaRPr>
          </a:p>
        </p:txBody>
      </p:sp>
      <p:sp>
        <p:nvSpPr>
          <p:cNvPr id="205" name="Google Shape;205;p9"/>
          <p:cNvSpPr/>
          <p:nvPr/>
        </p:nvSpPr>
        <p:spPr>
          <a:xfrm>
            <a:off x="844408" y="2290277"/>
            <a:ext cx="1008218" cy="508813"/>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セキュリティ</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000">
                <a:solidFill>
                  <a:schemeClr val="dk1"/>
                </a:solidFill>
                <a:latin typeface="Arial"/>
                <a:ea typeface="Arial"/>
                <a:cs typeface="Arial"/>
                <a:sym typeface="Arial"/>
              </a:rPr>
              <a:t>ポリシー</a:t>
            </a:r>
            <a:endParaRPr sz="1000">
              <a:solidFill>
                <a:schemeClr val="dk1"/>
              </a:solidFill>
              <a:latin typeface="Arial"/>
              <a:ea typeface="Arial"/>
              <a:cs typeface="Arial"/>
              <a:sym typeface="Arial"/>
            </a:endParaRPr>
          </a:p>
        </p:txBody>
      </p:sp>
      <p:sp>
        <p:nvSpPr>
          <p:cNvPr id="206" name="Google Shape;206;p9"/>
          <p:cNvSpPr txBox="1"/>
          <p:nvPr/>
        </p:nvSpPr>
        <p:spPr>
          <a:xfrm>
            <a:off x="1328348" y="4056216"/>
            <a:ext cx="8721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900">
                <a:solidFill>
                  <a:schemeClr val="dk1"/>
                </a:solidFill>
                <a:latin typeface="Arial"/>
                <a:ea typeface="Arial"/>
                <a:cs typeface="Arial"/>
                <a:sym typeface="Arial"/>
              </a:rPr>
              <a:t>手作業やコマンドで構築</a:t>
            </a:r>
            <a:endParaRPr/>
          </a:p>
        </p:txBody>
      </p:sp>
      <p:sp>
        <p:nvSpPr>
          <p:cNvPr id="207" name="Google Shape;207;p9"/>
          <p:cNvSpPr/>
          <p:nvPr/>
        </p:nvSpPr>
        <p:spPr>
          <a:xfrm flipH="1" rot="10800000">
            <a:off x="1256385" y="2851880"/>
            <a:ext cx="852423" cy="753384"/>
          </a:xfrm>
          <a:prstGeom prst="bentArrow">
            <a:avLst>
              <a:gd fmla="val 17442" name="adj1"/>
              <a:gd fmla="val 20926" name="adj2"/>
              <a:gd fmla="val 25000" name="adj3"/>
              <a:gd fmla="val 43750" name="adj4"/>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dk1"/>
              </a:solidFill>
              <a:latin typeface="Arial"/>
              <a:ea typeface="Arial"/>
              <a:cs typeface="Arial"/>
              <a:sym typeface="Arial"/>
            </a:endParaRPr>
          </a:p>
        </p:txBody>
      </p:sp>
      <p:sp>
        <p:nvSpPr>
          <p:cNvPr id="208" name="Google Shape;208;p9"/>
          <p:cNvSpPr/>
          <p:nvPr/>
        </p:nvSpPr>
        <p:spPr>
          <a:xfrm>
            <a:off x="848355" y="3455457"/>
            <a:ext cx="671231" cy="623944"/>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設計書</a:t>
            </a:r>
            <a:endParaRPr/>
          </a:p>
        </p:txBody>
      </p:sp>
      <p:sp>
        <p:nvSpPr>
          <p:cNvPr id="209" name="Google Shape;209;p9"/>
          <p:cNvSpPr/>
          <p:nvPr/>
        </p:nvSpPr>
        <p:spPr>
          <a:xfrm>
            <a:off x="1474630" y="3695640"/>
            <a:ext cx="248809" cy="270200"/>
          </a:xfrm>
          <a:custGeom>
            <a:rect b="b" l="l" r="r" t="t"/>
            <a:pathLst>
              <a:path extrusionOk="0" h="192" w="176">
                <a:moveTo>
                  <a:pt x="176" y="44"/>
                </a:moveTo>
                <a:cubicBezTo>
                  <a:pt x="176" y="160"/>
                  <a:pt x="176" y="160"/>
                  <a:pt x="176" y="160"/>
                </a:cubicBezTo>
                <a:cubicBezTo>
                  <a:pt x="176" y="178"/>
                  <a:pt x="162" y="192"/>
                  <a:pt x="144" y="192"/>
                </a:cubicBezTo>
                <a:cubicBezTo>
                  <a:pt x="86" y="192"/>
                  <a:pt x="86" y="192"/>
                  <a:pt x="86" y="192"/>
                </a:cubicBezTo>
                <a:cubicBezTo>
                  <a:pt x="77" y="192"/>
                  <a:pt x="69" y="189"/>
                  <a:pt x="63" y="182"/>
                </a:cubicBezTo>
                <a:cubicBezTo>
                  <a:pt x="0" y="119"/>
                  <a:pt x="0" y="119"/>
                  <a:pt x="0" y="119"/>
                </a:cubicBezTo>
                <a:cubicBezTo>
                  <a:pt x="0" y="119"/>
                  <a:pt x="10" y="109"/>
                  <a:pt x="10" y="109"/>
                </a:cubicBezTo>
                <a:cubicBezTo>
                  <a:pt x="12" y="107"/>
                  <a:pt x="14" y="106"/>
                  <a:pt x="17" y="106"/>
                </a:cubicBezTo>
                <a:cubicBezTo>
                  <a:pt x="18" y="106"/>
                  <a:pt x="20" y="107"/>
                  <a:pt x="22" y="108"/>
                </a:cubicBezTo>
                <a:cubicBezTo>
                  <a:pt x="22" y="108"/>
                  <a:pt x="56" y="127"/>
                  <a:pt x="56" y="127"/>
                </a:cubicBezTo>
                <a:cubicBezTo>
                  <a:pt x="56" y="32"/>
                  <a:pt x="56" y="32"/>
                  <a:pt x="56" y="32"/>
                </a:cubicBezTo>
                <a:cubicBezTo>
                  <a:pt x="56" y="25"/>
                  <a:pt x="61" y="20"/>
                  <a:pt x="68" y="20"/>
                </a:cubicBezTo>
                <a:cubicBezTo>
                  <a:pt x="75" y="20"/>
                  <a:pt x="80" y="25"/>
                  <a:pt x="80" y="32"/>
                </a:cubicBezTo>
                <a:cubicBezTo>
                  <a:pt x="80" y="88"/>
                  <a:pt x="80" y="88"/>
                  <a:pt x="80" y="88"/>
                </a:cubicBezTo>
                <a:cubicBezTo>
                  <a:pt x="88" y="88"/>
                  <a:pt x="88" y="88"/>
                  <a:pt x="88" y="88"/>
                </a:cubicBezTo>
                <a:cubicBezTo>
                  <a:pt x="88" y="12"/>
                  <a:pt x="88" y="12"/>
                  <a:pt x="88" y="12"/>
                </a:cubicBezTo>
                <a:cubicBezTo>
                  <a:pt x="88" y="5"/>
                  <a:pt x="93" y="0"/>
                  <a:pt x="100" y="0"/>
                </a:cubicBezTo>
                <a:cubicBezTo>
                  <a:pt x="107" y="0"/>
                  <a:pt x="112" y="5"/>
                  <a:pt x="112" y="12"/>
                </a:cubicBezTo>
                <a:cubicBezTo>
                  <a:pt x="112" y="88"/>
                  <a:pt x="112" y="88"/>
                  <a:pt x="112" y="88"/>
                </a:cubicBezTo>
                <a:cubicBezTo>
                  <a:pt x="120" y="88"/>
                  <a:pt x="120" y="88"/>
                  <a:pt x="120" y="88"/>
                </a:cubicBezTo>
                <a:cubicBezTo>
                  <a:pt x="120" y="20"/>
                  <a:pt x="120" y="20"/>
                  <a:pt x="120" y="20"/>
                </a:cubicBezTo>
                <a:cubicBezTo>
                  <a:pt x="120" y="13"/>
                  <a:pt x="125" y="8"/>
                  <a:pt x="132" y="8"/>
                </a:cubicBezTo>
                <a:cubicBezTo>
                  <a:pt x="139" y="8"/>
                  <a:pt x="144" y="13"/>
                  <a:pt x="144" y="20"/>
                </a:cubicBezTo>
                <a:cubicBezTo>
                  <a:pt x="144" y="88"/>
                  <a:pt x="144" y="88"/>
                  <a:pt x="144" y="88"/>
                </a:cubicBezTo>
                <a:cubicBezTo>
                  <a:pt x="152" y="88"/>
                  <a:pt x="152" y="88"/>
                  <a:pt x="152" y="88"/>
                </a:cubicBezTo>
                <a:cubicBezTo>
                  <a:pt x="152" y="44"/>
                  <a:pt x="152" y="44"/>
                  <a:pt x="152" y="44"/>
                </a:cubicBezTo>
                <a:cubicBezTo>
                  <a:pt x="152" y="37"/>
                  <a:pt x="157" y="32"/>
                  <a:pt x="164" y="32"/>
                </a:cubicBezTo>
                <a:cubicBezTo>
                  <a:pt x="171" y="32"/>
                  <a:pt x="176" y="37"/>
                  <a:pt x="176" y="44"/>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210" name="Google Shape;210;p9"/>
          <p:cNvSpPr/>
          <p:nvPr/>
        </p:nvSpPr>
        <p:spPr>
          <a:xfrm>
            <a:off x="1722149" y="3811122"/>
            <a:ext cx="276393" cy="276393"/>
          </a:xfrm>
          <a:custGeom>
            <a:rect b="b" l="l" r="r" t="t"/>
            <a:pathLst>
              <a:path extrusionOk="0" h="181" w="181">
                <a:moveTo>
                  <a:pt x="178" y="148"/>
                </a:moveTo>
                <a:cubicBezTo>
                  <a:pt x="104" y="74"/>
                  <a:pt x="104" y="74"/>
                  <a:pt x="104" y="74"/>
                </a:cubicBezTo>
                <a:cubicBezTo>
                  <a:pt x="112" y="56"/>
                  <a:pt x="108" y="34"/>
                  <a:pt x="93" y="19"/>
                </a:cubicBezTo>
                <a:cubicBezTo>
                  <a:pt x="77" y="3"/>
                  <a:pt x="53" y="0"/>
                  <a:pt x="34" y="9"/>
                </a:cubicBezTo>
                <a:cubicBezTo>
                  <a:pt x="68" y="44"/>
                  <a:pt x="68" y="44"/>
                  <a:pt x="68" y="44"/>
                </a:cubicBezTo>
                <a:cubicBezTo>
                  <a:pt x="44" y="68"/>
                  <a:pt x="44" y="68"/>
                  <a:pt x="44" y="68"/>
                </a:cubicBezTo>
                <a:cubicBezTo>
                  <a:pt x="9" y="34"/>
                  <a:pt x="9" y="34"/>
                  <a:pt x="9" y="34"/>
                </a:cubicBezTo>
                <a:cubicBezTo>
                  <a:pt x="0" y="53"/>
                  <a:pt x="3" y="77"/>
                  <a:pt x="19" y="93"/>
                </a:cubicBezTo>
                <a:cubicBezTo>
                  <a:pt x="34" y="108"/>
                  <a:pt x="56" y="112"/>
                  <a:pt x="74" y="104"/>
                </a:cubicBezTo>
                <a:cubicBezTo>
                  <a:pt x="148" y="178"/>
                  <a:pt x="148" y="178"/>
                  <a:pt x="148" y="178"/>
                </a:cubicBezTo>
                <a:cubicBezTo>
                  <a:pt x="151" y="181"/>
                  <a:pt x="156" y="181"/>
                  <a:pt x="159" y="178"/>
                </a:cubicBezTo>
                <a:cubicBezTo>
                  <a:pt x="178" y="159"/>
                  <a:pt x="178" y="159"/>
                  <a:pt x="178" y="159"/>
                </a:cubicBezTo>
                <a:cubicBezTo>
                  <a:pt x="181" y="156"/>
                  <a:pt x="181" y="151"/>
                  <a:pt x="178" y="148"/>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211" name="Google Shape;211;p9"/>
          <p:cNvSpPr/>
          <p:nvPr/>
        </p:nvSpPr>
        <p:spPr>
          <a:xfrm>
            <a:off x="3237760" y="5890271"/>
            <a:ext cx="277769" cy="277769"/>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212" name="Google Shape;212;p9"/>
          <p:cNvSpPr/>
          <p:nvPr/>
        </p:nvSpPr>
        <p:spPr>
          <a:xfrm>
            <a:off x="1292984" y="5899952"/>
            <a:ext cx="277769" cy="277769"/>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213" name="Google Shape;213;p9"/>
          <p:cNvSpPr/>
          <p:nvPr/>
        </p:nvSpPr>
        <p:spPr>
          <a:xfrm>
            <a:off x="2531803" y="5900914"/>
            <a:ext cx="277769" cy="277769"/>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214" name="Google Shape;214;p9"/>
          <p:cNvCxnSpPr>
            <a:stCxn id="203" idx="0"/>
            <a:endCxn id="201" idx="2"/>
          </p:cNvCxnSpPr>
          <p:nvPr/>
        </p:nvCxnSpPr>
        <p:spPr>
          <a:xfrm rot="10800000">
            <a:off x="2999929" y="4720484"/>
            <a:ext cx="0" cy="344400"/>
          </a:xfrm>
          <a:prstGeom prst="straightConnector1">
            <a:avLst/>
          </a:prstGeom>
          <a:noFill/>
          <a:ln cap="flat" cmpd="sng" w="9525">
            <a:solidFill>
              <a:schemeClr val="dk1"/>
            </a:solidFill>
            <a:prstDash val="solid"/>
            <a:miter lim="800000"/>
            <a:headEnd len="sm" w="sm" type="none"/>
            <a:tailEnd len="med" w="med" type="triangle"/>
          </a:ln>
        </p:spPr>
      </p:cxnSp>
      <p:cxnSp>
        <p:nvCxnSpPr>
          <p:cNvPr id="215" name="Google Shape;215;p9"/>
          <p:cNvCxnSpPr>
            <a:stCxn id="211" idx="11"/>
            <a:endCxn id="203" idx="2"/>
          </p:cNvCxnSpPr>
          <p:nvPr/>
        </p:nvCxnSpPr>
        <p:spPr>
          <a:xfrm rot="10800000">
            <a:off x="2999929" y="5506046"/>
            <a:ext cx="376800" cy="384300"/>
          </a:xfrm>
          <a:prstGeom prst="straightConnector1">
            <a:avLst/>
          </a:prstGeom>
          <a:noFill/>
          <a:ln cap="flat" cmpd="sng" w="9525">
            <a:solidFill>
              <a:schemeClr val="dk1"/>
            </a:solidFill>
            <a:prstDash val="solid"/>
            <a:miter lim="800000"/>
            <a:headEnd len="sm" w="sm" type="none"/>
            <a:tailEnd len="med" w="med" type="triangle"/>
          </a:ln>
        </p:spPr>
      </p:cxnSp>
      <p:cxnSp>
        <p:nvCxnSpPr>
          <p:cNvPr id="216" name="Google Shape;216;p9"/>
          <p:cNvCxnSpPr>
            <a:stCxn id="213" idx="11"/>
            <a:endCxn id="203" idx="2"/>
          </p:cNvCxnSpPr>
          <p:nvPr/>
        </p:nvCxnSpPr>
        <p:spPr>
          <a:xfrm flipH="1" rot="10800000">
            <a:off x="2670829" y="5506046"/>
            <a:ext cx="329100" cy="394800"/>
          </a:xfrm>
          <a:prstGeom prst="straightConnector1">
            <a:avLst/>
          </a:prstGeom>
          <a:noFill/>
          <a:ln cap="flat" cmpd="sng" w="9525">
            <a:solidFill>
              <a:schemeClr val="dk1"/>
            </a:solidFill>
            <a:prstDash val="solid"/>
            <a:miter lim="800000"/>
            <a:headEnd len="sm" w="sm" type="none"/>
            <a:tailEnd len="med" w="med" type="triangle"/>
          </a:ln>
        </p:spPr>
      </p:cxnSp>
      <p:cxnSp>
        <p:nvCxnSpPr>
          <p:cNvPr id="217" name="Google Shape;217;p9"/>
          <p:cNvCxnSpPr/>
          <p:nvPr/>
        </p:nvCxnSpPr>
        <p:spPr>
          <a:xfrm rot="10800000">
            <a:off x="1596460" y="6014054"/>
            <a:ext cx="1007901" cy="0"/>
          </a:xfrm>
          <a:prstGeom prst="straightConnector1">
            <a:avLst/>
          </a:prstGeom>
          <a:noFill/>
          <a:ln cap="flat" cmpd="sng" w="9525">
            <a:solidFill>
              <a:schemeClr val="dk1"/>
            </a:solidFill>
            <a:prstDash val="solid"/>
            <a:miter lim="800000"/>
            <a:headEnd len="sm" w="sm" type="none"/>
            <a:tailEnd len="med" w="med" type="triangle"/>
          </a:ln>
        </p:spPr>
      </p:cxnSp>
      <p:sp>
        <p:nvSpPr>
          <p:cNvPr id="218" name="Google Shape;218;p9"/>
          <p:cNvSpPr/>
          <p:nvPr/>
        </p:nvSpPr>
        <p:spPr>
          <a:xfrm>
            <a:off x="1727991" y="5529792"/>
            <a:ext cx="567195" cy="532552"/>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900">
                <a:solidFill>
                  <a:schemeClr val="dk1"/>
                </a:solidFill>
                <a:latin typeface="Arial"/>
                <a:ea typeface="Arial"/>
                <a:cs typeface="Arial"/>
                <a:sym typeface="Arial"/>
              </a:rPr>
              <a:t>月次運用</a:t>
            </a:r>
            <a:br>
              <a:rPr lang="ja-JP" sz="900">
                <a:solidFill>
                  <a:schemeClr val="dk1"/>
                </a:solidFill>
                <a:latin typeface="Arial"/>
                <a:ea typeface="Arial"/>
                <a:cs typeface="Arial"/>
                <a:sym typeface="Arial"/>
              </a:rPr>
            </a:br>
            <a:r>
              <a:rPr lang="ja-JP" sz="900">
                <a:solidFill>
                  <a:schemeClr val="dk1"/>
                </a:solidFill>
                <a:latin typeface="Arial"/>
                <a:ea typeface="Arial"/>
                <a:cs typeface="Arial"/>
                <a:sym typeface="Arial"/>
              </a:rPr>
              <a:t>報告書</a:t>
            </a:r>
            <a:endParaRPr/>
          </a:p>
        </p:txBody>
      </p:sp>
      <p:sp>
        <p:nvSpPr>
          <p:cNvPr id="219" name="Google Shape;219;p9"/>
          <p:cNvSpPr txBox="1"/>
          <p:nvPr/>
        </p:nvSpPr>
        <p:spPr>
          <a:xfrm>
            <a:off x="8845321" y="4080602"/>
            <a:ext cx="587315" cy="252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100">
                <a:solidFill>
                  <a:schemeClr val="dk1"/>
                </a:solidFill>
                <a:latin typeface="Arial"/>
                <a:ea typeface="Arial"/>
                <a:cs typeface="Arial"/>
                <a:sym typeface="Arial"/>
              </a:rPr>
              <a:t>・・・</a:t>
            </a:r>
            <a:endParaRPr/>
          </a:p>
        </p:txBody>
      </p:sp>
      <p:sp>
        <p:nvSpPr>
          <p:cNvPr id="220" name="Google Shape;220;p9"/>
          <p:cNvSpPr/>
          <p:nvPr/>
        </p:nvSpPr>
        <p:spPr>
          <a:xfrm>
            <a:off x="6731266" y="2853082"/>
            <a:ext cx="2600241" cy="32413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共通設計</a:t>
            </a:r>
            <a:endParaRPr sz="1100">
              <a:solidFill>
                <a:schemeClr val="dk1"/>
              </a:solidFill>
              <a:latin typeface="Arial"/>
              <a:ea typeface="Arial"/>
              <a:cs typeface="Arial"/>
              <a:sym typeface="Arial"/>
            </a:endParaRPr>
          </a:p>
        </p:txBody>
      </p:sp>
      <p:sp>
        <p:nvSpPr>
          <p:cNvPr id="221" name="Google Shape;221;p9"/>
          <p:cNvSpPr/>
          <p:nvPr/>
        </p:nvSpPr>
        <p:spPr>
          <a:xfrm>
            <a:off x="6248407" y="2290277"/>
            <a:ext cx="1008218" cy="508813"/>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セキュリティ</a:t>
            </a:r>
            <a:endParaRPr sz="1000">
              <a:solidFill>
                <a:schemeClr val="dk1"/>
              </a:solidFill>
              <a:latin typeface="Arial"/>
              <a:ea typeface="Arial"/>
              <a:cs typeface="Arial"/>
              <a:sym typeface="Arial"/>
            </a:endParaRPr>
          </a:p>
          <a:p>
            <a:pPr indent="0" lvl="0" marL="0" marR="0" rtl="0" algn="ctr">
              <a:spcBef>
                <a:spcPts val="0"/>
              </a:spcBef>
              <a:spcAft>
                <a:spcPts val="0"/>
              </a:spcAft>
              <a:buNone/>
            </a:pPr>
            <a:r>
              <a:rPr lang="ja-JP" sz="1000">
                <a:solidFill>
                  <a:schemeClr val="dk1"/>
                </a:solidFill>
                <a:latin typeface="Arial"/>
                <a:ea typeface="Arial"/>
                <a:cs typeface="Arial"/>
                <a:sym typeface="Arial"/>
              </a:rPr>
              <a:t>ポリシー</a:t>
            </a:r>
            <a:endParaRPr sz="1000">
              <a:solidFill>
                <a:schemeClr val="dk1"/>
              </a:solidFill>
              <a:latin typeface="Arial"/>
              <a:ea typeface="Arial"/>
              <a:cs typeface="Arial"/>
              <a:sym typeface="Arial"/>
            </a:endParaRPr>
          </a:p>
        </p:txBody>
      </p:sp>
      <p:sp>
        <p:nvSpPr>
          <p:cNvPr id="222" name="Google Shape;222;p9"/>
          <p:cNvSpPr/>
          <p:nvPr/>
        </p:nvSpPr>
        <p:spPr>
          <a:xfrm>
            <a:off x="6888900" y="5010014"/>
            <a:ext cx="183459" cy="183459"/>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223" name="Google Shape;223;p9"/>
          <p:cNvCxnSpPr>
            <a:stCxn id="222" idx="11"/>
            <a:endCxn id="224" idx="2"/>
          </p:cNvCxnSpPr>
          <p:nvPr/>
        </p:nvCxnSpPr>
        <p:spPr>
          <a:xfrm rot="10800000">
            <a:off x="6978407" y="4855867"/>
            <a:ext cx="2100" cy="154200"/>
          </a:xfrm>
          <a:prstGeom prst="straightConnector1">
            <a:avLst/>
          </a:prstGeom>
          <a:noFill/>
          <a:ln cap="flat" cmpd="sng" w="9525">
            <a:solidFill>
              <a:schemeClr val="dk1"/>
            </a:solidFill>
            <a:prstDash val="solid"/>
            <a:miter lim="800000"/>
            <a:headEnd len="sm" w="sm" type="none"/>
            <a:tailEnd len="med" w="med" type="triangle"/>
          </a:ln>
        </p:spPr>
      </p:cxnSp>
      <p:sp>
        <p:nvSpPr>
          <p:cNvPr id="225" name="Google Shape;225;p9"/>
          <p:cNvSpPr/>
          <p:nvPr/>
        </p:nvSpPr>
        <p:spPr>
          <a:xfrm>
            <a:off x="7459899" y="5010014"/>
            <a:ext cx="183459" cy="183459"/>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226" name="Google Shape;226;p9"/>
          <p:cNvCxnSpPr>
            <a:stCxn id="225" idx="11"/>
            <a:endCxn id="227" idx="2"/>
          </p:cNvCxnSpPr>
          <p:nvPr/>
        </p:nvCxnSpPr>
        <p:spPr>
          <a:xfrm rot="10800000">
            <a:off x="7548278" y="4855867"/>
            <a:ext cx="3300" cy="154200"/>
          </a:xfrm>
          <a:prstGeom prst="straightConnector1">
            <a:avLst/>
          </a:prstGeom>
          <a:noFill/>
          <a:ln cap="flat" cmpd="sng" w="9525">
            <a:solidFill>
              <a:schemeClr val="dk1"/>
            </a:solidFill>
            <a:prstDash val="solid"/>
            <a:miter lim="800000"/>
            <a:headEnd len="sm" w="sm" type="none"/>
            <a:tailEnd len="med" w="med" type="triangle"/>
          </a:ln>
        </p:spPr>
      </p:cxnSp>
      <p:sp>
        <p:nvSpPr>
          <p:cNvPr id="228" name="Google Shape;228;p9"/>
          <p:cNvSpPr/>
          <p:nvPr/>
        </p:nvSpPr>
        <p:spPr>
          <a:xfrm>
            <a:off x="8413461" y="5897322"/>
            <a:ext cx="277769" cy="277769"/>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229" name="Google Shape;229;p9"/>
          <p:cNvSpPr/>
          <p:nvPr/>
        </p:nvSpPr>
        <p:spPr>
          <a:xfrm>
            <a:off x="7484646" y="5285466"/>
            <a:ext cx="1851117" cy="488653"/>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全体ダッシュボード</a:t>
            </a:r>
            <a:endParaRPr sz="1100">
              <a:solidFill>
                <a:schemeClr val="dk1"/>
              </a:solidFill>
              <a:latin typeface="Arial"/>
              <a:ea typeface="Arial"/>
              <a:cs typeface="Arial"/>
              <a:sym typeface="Arial"/>
            </a:endParaRPr>
          </a:p>
          <a:p>
            <a:pPr indent="0" lvl="0" marL="0" marR="0" rtl="0" algn="ctr">
              <a:spcBef>
                <a:spcPts val="0"/>
              </a:spcBef>
              <a:spcAft>
                <a:spcPts val="0"/>
              </a:spcAft>
              <a:buNone/>
            </a:pPr>
            <a:r>
              <a:rPr lang="ja-JP" sz="1000">
                <a:solidFill>
                  <a:schemeClr val="dk1"/>
                </a:solidFill>
                <a:latin typeface="Arial"/>
                <a:ea typeface="Arial"/>
                <a:cs typeface="Arial"/>
                <a:sym typeface="Arial"/>
              </a:rPr>
              <a:t>（統計的処理）</a:t>
            </a:r>
            <a:endParaRPr sz="1000">
              <a:solidFill>
                <a:schemeClr val="dk1"/>
              </a:solidFill>
              <a:latin typeface="Arial"/>
              <a:ea typeface="Arial"/>
              <a:cs typeface="Arial"/>
              <a:sym typeface="Arial"/>
            </a:endParaRPr>
          </a:p>
        </p:txBody>
      </p:sp>
      <p:cxnSp>
        <p:nvCxnSpPr>
          <p:cNvPr id="230" name="Google Shape;230;p9"/>
          <p:cNvCxnSpPr>
            <a:endCxn id="231" idx="0"/>
          </p:cNvCxnSpPr>
          <p:nvPr/>
        </p:nvCxnSpPr>
        <p:spPr>
          <a:xfrm>
            <a:off x="7548278" y="3177074"/>
            <a:ext cx="0" cy="831000"/>
          </a:xfrm>
          <a:prstGeom prst="straightConnector1">
            <a:avLst/>
          </a:prstGeom>
          <a:noFill/>
          <a:ln cap="flat" cmpd="sng" w="9525">
            <a:solidFill>
              <a:schemeClr val="dk1"/>
            </a:solidFill>
            <a:prstDash val="solid"/>
            <a:miter lim="800000"/>
            <a:headEnd len="sm" w="sm" type="none"/>
            <a:tailEnd len="med" w="med" type="triangle"/>
          </a:ln>
        </p:spPr>
      </p:cxnSp>
      <p:sp>
        <p:nvSpPr>
          <p:cNvPr id="232" name="Google Shape;232;p9"/>
          <p:cNvSpPr/>
          <p:nvPr/>
        </p:nvSpPr>
        <p:spPr>
          <a:xfrm>
            <a:off x="6474350" y="3889289"/>
            <a:ext cx="230008" cy="235369"/>
          </a:xfrm>
          <a:custGeom>
            <a:rect b="b" l="l" r="r" t="t"/>
            <a:pathLst>
              <a:path extrusionOk="0" h="160" w="156">
                <a:moveTo>
                  <a:pt x="137" y="88"/>
                </a:moveTo>
                <a:cubicBezTo>
                  <a:pt x="138" y="85"/>
                  <a:pt x="138" y="83"/>
                  <a:pt x="138" y="80"/>
                </a:cubicBezTo>
                <a:cubicBezTo>
                  <a:pt x="138" y="77"/>
                  <a:pt x="138" y="75"/>
                  <a:pt x="137" y="72"/>
                </a:cubicBezTo>
                <a:cubicBezTo>
                  <a:pt x="154" y="59"/>
                  <a:pt x="154" y="59"/>
                  <a:pt x="154" y="59"/>
                </a:cubicBezTo>
                <a:cubicBezTo>
                  <a:pt x="156" y="58"/>
                  <a:pt x="156" y="56"/>
                  <a:pt x="155" y="54"/>
                </a:cubicBezTo>
                <a:cubicBezTo>
                  <a:pt x="139" y="26"/>
                  <a:pt x="139" y="26"/>
                  <a:pt x="139" y="26"/>
                </a:cubicBezTo>
                <a:cubicBezTo>
                  <a:pt x="138" y="24"/>
                  <a:pt x="136" y="24"/>
                  <a:pt x="134" y="24"/>
                </a:cubicBezTo>
                <a:cubicBezTo>
                  <a:pt x="115" y="32"/>
                  <a:pt x="115" y="32"/>
                  <a:pt x="115" y="32"/>
                </a:cubicBezTo>
                <a:cubicBezTo>
                  <a:pt x="110" y="29"/>
                  <a:pt x="106" y="27"/>
                  <a:pt x="101" y="25"/>
                </a:cubicBezTo>
                <a:cubicBezTo>
                  <a:pt x="98" y="3"/>
                  <a:pt x="98" y="3"/>
                  <a:pt x="98" y="3"/>
                </a:cubicBezTo>
                <a:cubicBezTo>
                  <a:pt x="98" y="1"/>
                  <a:pt x="96" y="0"/>
                  <a:pt x="94" y="0"/>
                </a:cubicBezTo>
                <a:cubicBezTo>
                  <a:pt x="62" y="0"/>
                  <a:pt x="62" y="0"/>
                  <a:pt x="62" y="0"/>
                </a:cubicBezTo>
                <a:cubicBezTo>
                  <a:pt x="60" y="0"/>
                  <a:pt x="58" y="1"/>
                  <a:pt x="58" y="3"/>
                </a:cubicBezTo>
                <a:cubicBezTo>
                  <a:pt x="55" y="25"/>
                  <a:pt x="55" y="25"/>
                  <a:pt x="55" y="25"/>
                </a:cubicBezTo>
                <a:cubicBezTo>
                  <a:pt x="50" y="27"/>
                  <a:pt x="46" y="29"/>
                  <a:pt x="42" y="32"/>
                </a:cubicBezTo>
                <a:cubicBezTo>
                  <a:pt x="22" y="24"/>
                  <a:pt x="22" y="24"/>
                  <a:pt x="22" y="24"/>
                </a:cubicBezTo>
                <a:cubicBezTo>
                  <a:pt x="20" y="24"/>
                  <a:pt x="18" y="24"/>
                  <a:pt x="17" y="26"/>
                </a:cubicBezTo>
                <a:cubicBezTo>
                  <a:pt x="1" y="54"/>
                  <a:pt x="1" y="54"/>
                  <a:pt x="1" y="54"/>
                </a:cubicBezTo>
                <a:cubicBezTo>
                  <a:pt x="0" y="56"/>
                  <a:pt x="0" y="58"/>
                  <a:pt x="2" y="59"/>
                </a:cubicBezTo>
                <a:cubicBezTo>
                  <a:pt x="19" y="72"/>
                  <a:pt x="19" y="72"/>
                  <a:pt x="19" y="72"/>
                </a:cubicBezTo>
                <a:cubicBezTo>
                  <a:pt x="18" y="75"/>
                  <a:pt x="18" y="77"/>
                  <a:pt x="18" y="80"/>
                </a:cubicBezTo>
                <a:cubicBezTo>
                  <a:pt x="18" y="83"/>
                  <a:pt x="18" y="85"/>
                  <a:pt x="19" y="88"/>
                </a:cubicBezTo>
                <a:cubicBezTo>
                  <a:pt x="2" y="101"/>
                  <a:pt x="2" y="101"/>
                  <a:pt x="2" y="101"/>
                </a:cubicBezTo>
                <a:cubicBezTo>
                  <a:pt x="0" y="102"/>
                  <a:pt x="0" y="104"/>
                  <a:pt x="1" y="106"/>
                </a:cubicBezTo>
                <a:cubicBezTo>
                  <a:pt x="17" y="134"/>
                  <a:pt x="17" y="134"/>
                  <a:pt x="17" y="134"/>
                </a:cubicBezTo>
                <a:cubicBezTo>
                  <a:pt x="18" y="136"/>
                  <a:pt x="20" y="136"/>
                  <a:pt x="22" y="136"/>
                </a:cubicBezTo>
                <a:cubicBezTo>
                  <a:pt x="42" y="128"/>
                  <a:pt x="42" y="128"/>
                  <a:pt x="42" y="128"/>
                </a:cubicBezTo>
                <a:cubicBezTo>
                  <a:pt x="46" y="131"/>
                  <a:pt x="50" y="133"/>
                  <a:pt x="55" y="135"/>
                </a:cubicBezTo>
                <a:cubicBezTo>
                  <a:pt x="58" y="157"/>
                  <a:pt x="58" y="157"/>
                  <a:pt x="58" y="157"/>
                </a:cubicBezTo>
                <a:cubicBezTo>
                  <a:pt x="58" y="159"/>
                  <a:pt x="60" y="160"/>
                  <a:pt x="62" y="160"/>
                </a:cubicBezTo>
                <a:cubicBezTo>
                  <a:pt x="94" y="160"/>
                  <a:pt x="94" y="160"/>
                  <a:pt x="94" y="160"/>
                </a:cubicBezTo>
                <a:cubicBezTo>
                  <a:pt x="96" y="160"/>
                  <a:pt x="98" y="159"/>
                  <a:pt x="98" y="157"/>
                </a:cubicBezTo>
                <a:cubicBezTo>
                  <a:pt x="101" y="135"/>
                  <a:pt x="101" y="135"/>
                  <a:pt x="101" y="135"/>
                </a:cubicBezTo>
                <a:cubicBezTo>
                  <a:pt x="106" y="133"/>
                  <a:pt x="110" y="131"/>
                  <a:pt x="114" y="128"/>
                </a:cubicBezTo>
                <a:cubicBezTo>
                  <a:pt x="134" y="136"/>
                  <a:pt x="134" y="136"/>
                  <a:pt x="134" y="136"/>
                </a:cubicBezTo>
                <a:cubicBezTo>
                  <a:pt x="136" y="136"/>
                  <a:pt x="138" y="136"/>
                  <a:pt x="139" y="134"/>
                </a:cubicBezTo>
                <a:cubicBezTo>
                  <a:pt x="155" y="106"/>
                  <a:pt x="155" y="106"/>
                  <a:pt x="155" y="106"/>
                </a:cubicBezTo>
                <a:cubicBezTo>
                  <a:pt x="156" y="104"/>
                  <a:pt x="156" y="102"/>
                  <a:pt x="154" y="101"/>
                </a:cubicBezTo>
                <a:lnTo>
                  <a:pt x="137" y="88"/>
                </a:lnTo>
                <a:close/>
                <a:moveTo>
                  <a:pt x="78" y="108"/>
                </a:moveTo>
                <a:cubicBezTo>
                  <a:pt x="63" y="108"/>
                  <a:pt x="50" y="95"/>
                  <a:pt x="50" y="80"/>
                </a:cubicBezTo>
                <a:cubicBezTo>
                  <a:pt x="50" y="65"/>
                  <a:pt x="63" y="52"/>
                  <a:pt x="78" y="52"/>
                </a:cubicBezTo>
                <a:cubicBezTo>
                  <a:pt x="93" y="52"/>
                  <a:pt x="106" y="65"/>
                  <a:pt x="106" y="80"/>
                </a:cubicBezTo>
                <a:cubicBezTo>
                  <a:pt x="106" y="95"/>
                  <a:pt x="93" y="108"/>
                  <a:pt x="78" y="108"/>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233" name="Google Shape;233;p9"/>
          <p:cNvCxnSpPr>
            <a:endCxn id="234" idx="0"/>
          </p:cNvCxnSpPr>
          <p:nvPr/>
        </p:nvCxnSpPr>
        <p:spPr>
          <a:xfrm>
            <a:off x="6975707" y="3200474"/>
            <a:ext cx="2700" cy="807600"/>
          </a:xfrm>
          <a:prstGeom prst="straightConnector1">
            <a:avLst/>
          </a:prstGeom>
          <a:noFill/>
          <a:ln cap="flat" cmpd="sng" w="9525">
            <a:solidFill>
              <a:schemeClr val="dk1"/>
            </a:solidFill>
            <a:prstDash val="solid"/>
            <a:miter lim="800000"/>
            <a:headEnd len="sm" w="sm" type="none"/>
            <a:tailEnd len="med" w="med" type="triangle"/>
          </a:ln>
        </p:spPr>
      </p:cxnSp>
      <p:cxnSp>
        <p:nvCxnSpPr>
          <p:cNvPr id="235" name="Google Shape;235;p9"/>
          <p:cNvCxnSpPr>
            <a:endCxn id="236" idx="0"/>
          </p:cNvCxnSpPr>
          <p:nvPr/>
        </p:nvCxnSpPr>
        <p:spPr>
          <a:xfrm>
            <a:off x="8104896" y="3200575"/>
            <a:ext cx="4200" cy="806400"/>
          </a:xfrm>
          <a:prstGeom prst="straightConnector1">
            <a:avLst/>
          </a:prstGeom>
          <a:noFill/>
          <a:ln cap="flat" cmpd="sng" w="9525">
            <a:solidFill>
              <a:schemeClr val="dk1"/>
            </a:solidFill>
            <a:prstDash val="solid"/>
            <a:miter lim="800000"/>
            <a:headEnd len="sm" w="sm" type="none"/>
            <a:tailEnd len="med" w="med" type="triangle"/>
          </a:ln>
        </p:spPr>
      </p:cxnSp>
      <p:grpSp>
        <p:nvGrpSpPr>
          <p:cNvPr id="237" name="Google Shape;237;p9"/>
          <p:cNvGrpSpPr/>
          <p:nvPr/>
        </p:nvGrpSpPr>
        <p:grpSpPr>
          <a:xfrm>
            <a:off x="6728365" y="3356177"/>
            <a:ext cx="500084" cy="1499690"/>
            <a:chOff x="6708369" y="3104935"/>
            <a:chExt cx="753178" cy="1689333"/>
          </a:xfrm>
        </p:grpSpPr>
        <p:sp>
          <p:nvSpPr>
            <p:cNvPr id="234" name="Google Shape;234;p9"/>
            <p:cNvSpPr/>
            <p:nvPr/>
          </p:nvSpPr>
          <p:spPr>
            <a:xfrm>
              <a:off x="6708369" y="3839267"/>
              <a:ext cx="753178" cy="49094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環境</a:t>
              </a:r>
              <a:endParaRPr/>
            </a:p>
          </p:txBody>
        </p:sp>
        <p:sp>
          <p:nvSpPr>
            <p:cNvPr id="224" name="Google Shape;224;p9"/>
            <p:cNvSpPr/>
            <p:nvPr/>
          </p:nvSpPr>
          <p:spPr>
            <a:xfrm>
              <a:off x="6752912" y="4426355"/>
              <a:ext cx="664093" cy="367913"/>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監視</a:t>
              </a:r>
              <a:endParaRPr/>
            </a:p>
          </p:txBody>
        </p:sp>
        <p:sp>
          <p:nvSpPr>
            <p:cNvPr id="238" name="Google Shape;238;p9"/>
            <p:cNvSpPr/>
            <p:nvPr/>
          </p:nvSpPr>
          <p:spPr>
            <a:xfrm>
              <a:off x="6744395" y="3104935"/>
              <a:ext cx="681126" cy="567146"/>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テンプ</a:t>
              </a:r>
              <a:br>
                <a:rPr lang="ja-JP" sz="1000">
                  <a:solidFill>
                    <a:schemeClr val="dk1"/>
                  </a:solidFill>
                  <a:latin typeface="Arial"/>
                  <a:ea typeface="Arial"/>
                  <a:cs typeface="Arial"/>
                  <a:sym typeface="Arial"/>
                </a:rPr>
              </a:br>
              <a:r>
                <a:rPr lang="ja-JP" sz="1000">
                  <a:solidFill>
                    <a:schemeClr val="dk1"/>
                  </a:solidFill>
                  <a:latin typeface="Arial"/>
                  <a:ea typeface="Arial"/>
                  <a:cs typeface="Arial"/>
                  <a:sym typeface="Arial"/>
                </a:rPr>
                <a:t>レート</a:t>
              </a:r>
              <a:endParaRPr/>
            </a:p>
          </p:txBody>
        </p:sp>
      </p:grpSp>
      <p:grpSp>
        <p:nvGrpSpPr>
          <p:cNvPr id="239" name="Google Shape;239;p9"/>
          <p:cNvGrpSpPr/>
          <p:nvPr/>
        </p:nvGrpSpPr>
        <p:grpSpPr>
          <a:xfrm>
            <a:off x="7298236" y="3356177"/>
            <a:ext cx="500084" cy="1499690"/>
            <a:chOff x="7633456" y="3104935"/>
            <a:chExt cx="753178" cy="1689333"/>
          </a:xfrm>
        </p:grpSpPr>
        <p:sp>
          <p:nvSpPr>
            <p:cNvPr id="231" name="Google Shape;231;p9"/>
            <p:cNvSpPr/>
            <p:nvPr/>
          </p:nvSpPr>
          <p:spPr>
            <a:xfrm>
              <a:off x="7633456" y="3839267"/>
              <a:ext cx="753178" cy="49094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環境</a:t>
              </a:r>
              <a:endParaRPr/>
            </a:p>
          </p:txBody>
        </p:sp>
        <p:sp>
          <p:nvSpPr>
            <p:cNvPr id="227" name="Google Shape;227;p9"/>
            <p:cNvSpPr/>
            <p:nvPr/>
          </p:nvSpPr>
          <p:spPr>
            <a:xfrm>
              <a:off x="7677999" y="4426355"/>
              <a:ext cx="664093" cy="367913"/>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監視</a:t>
              </a:r>
              <a:endParaRPr/>
            </a:p>
          </p:txBody>
        </p:sp>
        <p:sp>
          <p:nvSpPr>
            <p:cNvPr id="240" name="Google Shape;240;p9"/>
            <p:cNvSpPr/>
            <p:nvPr/>
          </p:nvSpPr>
          <p:spPr>
            <a:xfrm>
              <a:off x="7669482" y="3104935"/>
              <a:ext cx="681126" cy="567146"/>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テンプ</a:t>
              </a:r>
              <a:br>
                <a:rPr lang="ja-JP" sz="1000">
                  <a:solidFill>
                    <a:schemeClr val="dk1"/>
                  </a:solidFill>
                  <a:latin typeface="Arial"/>
                  <a:ea typeface="Arial"/>
                  <a:cs typeface="Arial"/>
                  <a:sym typeface="Arial"/>
                </a:rPr>
              </a:br>
              <a:r>
                <a:rPr lang="ja-JP" sz="1000">
                  <a:solidFill>
                    <a:schemeClr val="dk1"/>
                  </a:solidFill>
                  <a:latin typeface="Arial"/>
                  <a:ea typeface="Arial"/>
                  <a:cs typeface="Arial"/>
                  <a:sym typeface="Arial"/>
                </a:rPr>
                <a:t>レート</a:t>
              </a:r>
              <a:endParaRPr/>
            </a:p>
          </p:txBody>
        </p:sp>
      </p:grpSp>
      <p:sp>
        <p:nvSpPr>
          <p:cNvPr id="241" name="Google Shape;241;p9"/>
          <p:cNvSpPr txBox="1"/>
          <p:nvPr/>
        </p:nvSpPr>
        <p:spPr>
          <a:xfrm>
            <a:off x="6291051" y="3523585"/>
            <a:ext cx="401455" cy="3568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900">
                <a:solidFill>
                  <a:schemeClr val="dk1"/>
                </a:solidFill>
                <a:latin typeface="Arial"/>
                <a:ea typeface="Arial"/>
                <a:cs typeface="Arial"/>
                <a:sym typeface="Arial"/>
              </a:rPr>
              <a:t>自動</a:t>
            </a:r>
            <a:br>
              <a:rPr lang="ja-JP" sz="900">
                <a:solidFill>
                  <a:schemeClr val="dk1"/>
                </a:solidFill>
                <a:latin typeface="Arial"/>
                <a:ea typeface="Arial"/>
                <a:cs typeface="Arial"/>
                <a:sym typeface="Arial"/>
              </a:rPr>
            </a:br>
            <a:r>
              <a:rPr lang="ja-JP" sz="900">
                <a:solidFill>
                  <a:schemeClr val="dk1"/>
                </a:solidFill>
                <a:latin typeface="Arial"/>
                <a:ea typeface="Arial"/>
                <a:cs typeface="Arial"/>
                <a:sym typeface="Arial"/>
              </a:rPr>
              <a:t>構築</a:t>
            </a:r>
            <a:endParaRPr/>
          </a:p>
        </p:txBody>
      </p:sp>
      <p:sp>
        <p:nvSpPr>
          <p:cNvPr id="242" name="Google Shape;242;p9"/>
          <p:cNvSpPr/>
          <p:nvPr/>
        </p:nvSpPr>
        <p:spPr>
          <a:xfrm rot="5400000">
            <a:off x="7421338" y="2300812"/>
            <a:ext cx="397833" cy="616518"/>
          </a:xfrm>
          <a:prstGeom prst="bentArrow">
            <a:avLst>
              <a:gd fmla="val 24741" name="adj1"/>
              <a:gd fmla="val 34221" name="adj2"/>
              <a:gd fmla="val 25000" name="adj3"/>
              <a:gd fmla="val 43750" name="adj4"/>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dk1"/>
              </a:solidFill>
              <a:latin typeface="Arial"/>
              <a:ea typeface="Arial"/>
              <a:cs typeface="Arial"/>
              <a:sym typeface="Arial"/>
            </a:endParaRPr>
          </a:p>
        </p:txBody>
      </p:sp>
      <p:cxnSp>
        <p:nvCxnSpPr>
          <p:cNvPr id="243" name="Google Shape;243;p9"/>
          <p:cNvCxnSpPr>
            <a:stCxn id="224" idx="0"/>
            <a:endCxn id="234" idx="2"/>
          </p:cNvCxnSpPr>
          <p:nvPr/>
        </p:nvCxnSpPr>
        <p:spPr>
          <a:xfrm rot="10800000">
            <a:off x="6978407" y="4444056"/>
            <a:ext cx="0" cy="85200"/>
          </a:xfrm>
          <a:prstGeom prst="straightConnector1">
            <a:avLst/>
          </a:prstGeom>
          <a:noFill/>
          <a:ln cap="flat" cmpd="sng" w="9525">
            <a:solidFill>
              <a:schemeClr val="dk1"/>
            </a:solidFill>
            <a:prstDash val="solid"/>
            <a:miter lim="800000"/>
            <a:headEnd len="sm" w="sm" type="none"/>
            <a:tailEnd len="med" w="med" type="triangle"/>
          </a:ln>
        </p:spPr>
      </p:cxnSp>
      <p:cxnSp>
        <p:nvCxnSpPr>
          <p:cNvPr id="244" name="Google Shape;244;p9"/>
          <p:cNvCxnSpPr>
            <a:stCxn id="227" idx="0"/>
            <a:endCxn id="231" idx="2"/>
          </p:cNvCxnSpPr>
          <p:nvPr/>
        </p:nvCxnSpPr>
        <p:spPr>
          <a:xfrm rot="10800000">
            <a:off x="7548278" y="4444056"/>
            <a:ext cx="0" cy="85200"/>
          </a:xfrm>
          <a:prstGeom prst="straightConnector1">
            <a:avLst/>
          </a:prstGeom>
          <a:noFill/>
          <a:ln cap="flat" cmpd="sng" w="9525">
            <a:solidFill>
              <a:schemeClr val="dk1"/>
            </a:solidFill>
            <a:prstDash val="solid"/>
            <a:miter lim="800000"/>
            <a:headEnd len="sm" w="sm" type="none"/>
            <a:tailEnd len="med" w="med" type="triangle"/>
          </a:ln>
        </p:spPr>
      </p:cxnSp>
      <p:cxnSp>
        <p:nvCxnSpPr>
          <p:cNvPr id="245" name="Google Shape;245;p9"/>
          <p:cNvCxnSpPr/>
          <p:nvPr/>
        </p:nvCxnSpPr>
        <p:spPr>
          <a:xfrm>
            <a:off x="7191794" y="4854768"/>
            <a:ext cx="913046" cy="430697"/>
          </a:xfrm>
          <a:prstGeom prst="straightConnector1">
            <a:avLst/>
          </a:prstGeom>
          <a:noFill/>
          <a:ln cap="flat" cmpd="sng" w="9525">
            <a:solidFill>
              <a:schemeClr val="dk1"/>
            </a:solidFill>
            <a:prstDash val="solid"/>
            <a:miter lim="800000"/>
            <a:headEnd len="sm" w="sm" type="none"/>
            <a:tailEnd len="med" w="med" type="triangle"/>
          </a:ln>
        </p:spPr>
      </p:cxnSp>
      <p:cxnSp>
        <p:nvCxnSpPr>
          <p:cNvPr id="246" name="Google Shape;246;p9"/>
          <p:cNvCxnSpPr/>
          <p:nvPr/>
        </p:nvCxnSpPr>
        <p:spPr>
          <a:xfrm>
            <a:off x="8001069" y="4848140"/>
            <a:ext cx="77268" cy="448121"/>
          </a:xfrm>
          <a:prstGeom prst="straightConnector1">
            <a:avLst/>
          </a:prstGeom>
          <a:noFill/>
          <a:ln cap="flat" cmpd="sng" w="9525">
            <a:solidFill>
              <a:schemeClr val="dk1"/>
            </a:solidFill>
            <a:prstDash val="solid"/>
            <a:miter lim="800000"/>
            <a:headEnd len="sm" w="sm" type="none"/>
            <a:tailEnd len="med" w="med" type="triangle"/>
          </a:ln>
        </p:spPr>
      </p:cxnSp>
      <p:sp>
        <p:nvSpPr>
          <p:cNvPr id="247" name="Google Shape;247;p9"/>
          <p:cNvSpPr/>
          <p:nvPr/>
        </p:nvSpPr>
        <p:spPr>
          <a:xfrm>
            <a:off x="9007241" y="4298933"/>
            <a:ext cx="328522" cy="155949"/>
          </a:xfrm>
          <a:prstGeom prst="rightArrow">
            <a:avLst>
              <a:gd fmla="val 50000"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Arial"/>
              <a:ea typeface="Arial"/>
              <a:cs typeface="Arial"/>
              <a:sym typeface="Arial"/>
            </a:endParaRPr>
          </a:p>
        </p:txBody>
      </p:sp>
      <p:grpSp>
        <p:nvGrpSpPr>
          <p:cNvPr id="248" name="Google Shape;248;p9"/>
          <p:cNvGrpSpPr/>
          <p:nvPr/>
        </p:nvGrpSpPr>
        <p:grpSpPr>
          <a:xfrm>
            <a:off x="7859054" y="3355078"/>
            <a:ext cx="500084" cy="1499690"/>
            <a:chOff x="8502137" y="3103697"/>
            <a:chExt cx="753178" cy="1689333"/>
          </a:xfrm>
        </p:grpSpPr>
        <p:sp>
          <p:nvSpPr>
            <p:cNvPr id="236" name="Google Shape;236;p9"/>
            <p:cNvSpPr/>
            <p:nvPr/>
          </p:nvSpPr>
          <p:spPr>
            <a:xfrm>
              <a:off x="8502137" y="3838029"/>
              <a:ext cx="753178" cy="49094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環境</a:t>
              </a:r>
              <a:endParaRPr/>
            </a:p>
          </p:txBody>
        </p:sp>
        <p:sp>
          <p:nvSpPr>
            <p:cNvPr id="249" name="Google Shape;249;p9"/>
            <p:cNvSpPr/>
            <p:nvPr/>
          </p:nvSpPr>
          <p:spPr>
            <a:xfrm>
              <a:off x="8546680" y="4425117"/>
              <a:ext cx="664093" cy="367913"/>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監視</a:t>
              </a:r>
              <a:endParaRPr/>
            </a:p>
          </p:txBody>
        </p:sp>
        <p:sp>
          <p:nvSpPr>
            <p:cNvPr id="250" name="Google Shape;250;p9"/>
            <p:cNvSpPr/>
            <p:nvPr/>
          </p:nvSpPr>
          <p:spPr>
            <a:xfrm>
              <a:off x="8538163" y="3103697"/>
              <a:ext cx="681126" cy="567146"/>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テンプ</a:t>
              </a:r>
              <a:br>
                <a:rPr lang="ja-JP" sz="1000">
                  <a:solidFill>
                    <a:schemeClr val="dk1"/>
                  </a:solidFill>
                  <a:latin typeface="Arial"/>
                  <a:ea typeface="Arial"/>
                  <a:cs typeface="Arial"/>
                  <a:sym typeface="Arial"/>
                </a:rPr>
              </a:br>
              <a:r>
                <a:rPr lang="ja-JP" sz="1000">
                  <a:solidFill>
                    <a:schemeClr val="dk1"/>
                  </a:solidFill>
                  <a:latin typeface="Arial"/>
                  <a:ea typeface="Arial"/>
                  <a:cs typeface="Arial"/>
                  <a:sym typeface="Arial"/>
                </a:rPr>
                <a:t>レート</a:t>
              </a:r>
              <a:endParaRPr/>
            </a:p>
          </p:txBody>
        </p:sp>
      </p:grpSp>
      <p:cxnSp>
        <p:nvCxnSpPr>
          <p:cNvPr id="251" name="Google Shape;251;p9"/>
          <p:cNvCxnSpPr>
            <a:stCxn id="249" idx="0"/>
            <a:endCxn id="236" idx="2"/>
          </p:cNvCxnSpPr>
          <p:nvPr/>
        </p:nvCxnSpPr>
        <p:spPr>
          <a:xfrm rot="10800000">
            <a:off x="8109096" y="4442957"/>
            <a:ext cx="0" cy="85200"/>
          </a:xfrm>
          <a:prstGeom prst="straightConnector1">
            <a:avLst/>
          </a:prstGeom>
          <a:noFill/>
          <a:ln cap="flat" cmpd="sng" w="9525">
            <a:solidFill>
              <a:schemeClr val="dk1"/>
            </a:solidFill>
            <a:prstDash val="solid"/>
            <a:miter lim="800000"/>
            <a:headEnd len="sm" w="sm" type="none"/>
            <a:tailEnd len="med" w="med" type="triangle"/>
          </a:ln>
        </p:spPr>
      </p:cxnSp>
      <p:sp>
        <p:nvSpPr>
          <p:cNvPr id="252" name="Google Shape;252;p9"/>
          <p:cNvSpPr/>
          <p:nvPr/>
        </p:nvSpPr>
        <p:spPr>
          <a:xfrm>
            <a:off x="8025654" y="5011154"/>
            <a:ext cx="183459" cy="183459"/>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cxnSp>
        <p:nvCxnSpPr>
          <p:cNvPr id="253" name="Google Shape;253;p9"/>
          <p:cNvCxnSpPr>
            <a:stCxn id="252" idx="11"/>
            <a:endCxn id="249" idx="2"/>
          </p:cNvCxnSpPr>
          <p:nvPr/>
        </p:nvCxnSpPr>
        <p:spPr>
          <a:xfrm rot="10800000">
            <a:off x="8109096" y="4854768"/>
            <a:ext cx="8400" cy="156300"/>
          </a:xfrm>
          <a:prstGeom prst="straightConnector1">
            <a:avLst/>
          </a:prstGeom>
          <a:noFill/>
          <a:ln cap="flat" cmpd="sng" w="9525">
            <a:solidFill>
              <a:schemeClr val="dk1"/>
            </a:solidFill>
            <a:prstDash val="solid"/>
            <a:miter lim="800000"/>
            <a:headEnd len="sm" w="sm" type="none"/>
            <a:tailEnd len="med" w="med" type="triangle"/>
          </a:ln>
        </p:spPr>
      </p:cxnSp>
      <p:cxnSp>
        <p:nvCxnSpPr>
          <p:cNvPr id="254" name="Google Shape;254;p9"/>
          <p:cNvCxnSpPr/>
          <p:nvPr/>
        </p:nvCxnSpPr>
        <p:spPr>
          <a:xfrm flipH="1">
            <a:off x="8062783" y="4854768"/>
            <a:ext cx="424311" cy="441493"/>
          </a:xfrm>
          <a:prstGeom prst="straightConnector1">
            <a:avLst/>
          </a:prstGeom>
          <a:noFill/>
          <a:ln cap="flat" cmpd="sng" w="9525">
            <a:solidFill>
              <a:schemeClr val="dk1"/>
            </a:solidFill>
            <a:prstDash val="solid"/>
            <a:miter lim="800000"/>
            <a:headEnd len="sm" w="sm" type="none"/>
            <a:tailEnd len="med" w="med" type="triangle"/>
          </a:ln>
        </p:spPr>
      </p:cxnSp>
      <p:cxnSp>
        <p:nvCxnSpPr>
          <p:cNvPr id="255" name="Google Shape;255;p9"/>
          <p:cNvCxnSpPr>
            <a:endCxn id="256" idx="0"/>
          </p:cNvCxnSpPr>
          <p:nvPr/>
        </p:nvCxnSpPr>
        <p:spPr>
          <a:xfrm>
            <a:off x="8664202" y="3200575"/>
            <a:ext cx="4200" cy="806400"/>
          </a:xfrm>
          <a:prstGeom prst="straightConnector1">
            <a:avLst/>
          </a:prstGeom>
          <a:noFill/>
          <a:ln cap="flat" cmpd="sng" w="9525">
            <a:solidFill>
              <a:schemeClr val="dk1"/>
            </a:solidFill>
            <a:prstDash val="solid"/>
            <a:miter lim="800000"/>
            <a:headEnd len="sm" w="sm" type="none"/>
            <a:tailEnd len="med" w="med" type="triangle"/>
          </a:ln>
        </p:spPr>
      </p:cxnSp>
      <p:grpSp>
        <p:nvGrpSpPr>
          <p:cNvPr id="257" name="Google Shape;257;p9"/>
          <p:cNvGrpSpPr/>
          <p:nvPr/>
        </p:nvGrpSpPr>
        <p:grpSpPr>
          <a:xfrm>
            <a:off x="8418360" y="3355078"/>
            <a:ext cx="500084" cy="1499690"/>
            <a:chOff x="8502137" y="3103697"/>
            <a:chExt cx="753178" cy="1689333"/>
          </a:xfrm>
        </p:grpSpPr>
        <p:sp>
          <p:nvSpPr>
            <p:cNvPr id="256" name="Google Shape;256;p9"/>
            <p:cNvSpPr/>
            <p:nvPr/>
          </p:nvSpPr>
          <p:spPr>
            <a:xfrm>
              <a:off x="8502137" y="3838029"/>
              <a:ext cx="753178" cy="49094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環境</a:t>
              </a:r>
              <a:endParaRPr/>
            </a:p>
          </p:txBody>
        </p:sp>
        <p:sp>
          <p:nvSpPr>
            <p:cNvPr id="258" name="Google Shape;258;p9"/>
            <p:cNvSpPr/>
            <p:nvPr/>
          </p:nvSpPr>
          <p:spPr>
            <a:xfrm>
              <a:off x="8546680" y="4425117"/>
              <a:ext cx="664093" cy="367913"/>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100">
                  <a:solidFill>
                    <a:schemeClr val="dk1"/>
                  </a:solidFill>
                  <a:latin typeface="Arial"/>
                  <a:ea typeface="Arial"/>
                  <a:cs typeface="Arial"/>
                  <a:sym typeface="Arial"/>
                </a:rPr>
                <a:t>監視</a:t>
              </a:r>
              <a:endParaRPr/>
            </a:p>
          </p:txBody>
        </p:sp>
        <p:sp>
          <p:nvSpPr>
            <p:cNvPr id="259" name="Google Shape;259;p9"/>
            <p:cNvSpPr/>
            <p:nvPr/>
          </p:nvSpPr>
          <p:spPr>
            <a:xfrm>
              <a:off x="8538163" y="3103697"/>
              <a:ext cx="681126" cy="567146"/>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テンプ</a:t>
              </a:r>
              <a:br>
                <a:rPr lang="ja-JP" sz="1000">
                  <a:solidFill>
                    <a:schemeClr val="dk1"/>
                  </a:solidFill>
                  <a:latin typeface="Arial"/>
                  <a:ea typeface="Arial"/>
                  <a:cs typeface="Arial"/>
                  <a:sym typeface="Arial"/>
                </a:rPr>
              </a:br>
              <a:r>
                <a:rPr lang="ja-JP" sz="1000">
                  <a:solidFill>
                    <a:schemeClr val="dk1"/>
                  </a:solidFill>
                  <a:latin typeface="Arial"/>
                  <a:ea typeface="Arial"/>
                  <a:cs typeface="Arial"/>
                  <a:sym typeface="Arial"/>
                </a:rPr>
                <a:t>レート</a:t>
              </a:r>
              <a:endParaRPr/>
            </a:p>
          </p:txBody>
        </p:sp>
      </p:grpSp>
      <p:cxnSp>
        <p:nvCxnSpPr>
          <p:cNvPr id="260" name="Google Shape;260;p9"/>
          <p:cNvCxnSpPr>
            <a:stCxn id="258" idx="0"/>
            <a:endCxn id="256" idx="2"/>
          </p:cNvCxnSpPr>
          <p:nvPr/>
        </p:nvCxnSpPr>
        <p:spPr>
          <a:xfrm rot="10800000">
            <a:off x="8668402" y="4442957"/>
            <a:ext cx="0" cy="85200"/>
          </a:xfrm>
          <a:prstGeom prst="straightConnector1">
            <a:avLst/>
          </a:prstGeom>
          <a:noFill/>
          <a:ln cap="flat" cmpd="sng" w="9525">
            <a:solidFill>
              <a:schemeClr val="dk1"/>
            </a:solidFill>
            <a:prstDash val="solid"/>
            <a:miter lim="800000"/>
            <a:headEnd len="sm" w="sm" type="none"/>
            <a:tailEnd len="med" w="med" type="triangle"/>
          </a:ln>
        </p:spPr>
      </p:cxnSp>
      <p:sp>
        <p:nvSpPr>
          <p:cNvPr id="261" name="Google Shape;261;p9"/>
          <p:cNvSpPr txBox="1"/>
          <p:nvPr/>
        </p:nvSpPr>
        <p:spPr>
          <a:xfrm>
            <a:off x="3929872" y="2719985"/>
            <a:ext cx="201372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ポリシーを統合環境で統一的に適用</a:t>
            </a:r>
            <a:endParaRPr/>
          </a:p>
        </p:txBody>
      </p:sp>
      <p:sp>
        <p:nvSpPr>
          <p:cNvPr id="262" name="Google Shape;262;p9"/>
          <p:cNvSpPr txBox="1"/>
          <p:nvPr/>
        </p:nvSpPr>
        <p:spPr>
          <a:xfrm>
            <a:off x="1541075" y="4576046"/>
            <a:ext cx="446353"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900">
                <a:solidFill>
                  <a:schemeClr val="dk1"/>
                </a:solidFill>
                <a:latin typeface="Arial"/>
                <a:ea typeface="Arial"/>
                <a:cs typeface="Arial"/>
                <a:sym typeface="Arial"/>
              </a:rPr>
              <a:t>承認</a:t>
            </a:r>
            <a:endParaRPr/>
          </a:p>
        </p:txBody>
      </p:sp>
      <p:cxnSp>
        <p:nvCxnSpPr>
          <p:cNvPr id="263" name="Google Shape;263;p9"/>
          <p:cNvCxnSpPr>
            <a:stCxn id="206" idx="2"/>
            <a:endCxn id="262" idx="0"/>
          </p:cNvCxnSpPr>
          <p:nvPr/>
        </p:nvCxnSpPr>
        <p:spPr>
          <a:xfrm flipH="1">
            <a:off x="1764130" y="4425548"/>
            <a:ext cx="300" cy="150600"/>
          </a:xfrm>
          <a:prstGeom prst="straightConnector1">
            <a:avLst/>
          </a:prstGeom>
          <a:noFill/>
          <a:ln cap="flat" cmpd="sng" w="9525">
            <a:solidFill>
              <a:schemeClr val="dk1"/>
            </a:solidFill>
            <a:prstDash val="solid"/>
            <a:miter lim="800000"/>
            <a:headEnd len="sm" w="sm" type="none"/>
            <a:tailEnd len="med" w="med" type="stealth"/>
          </a:ln>
        </p:spPr>
      </p:cxnSp>
      <p:sp>
        <p:nvSpPr>
          <p:cNvPr id="264" name="Google Shape;264;p9"/>
          <p:cNvSpPr txBox="1"/>
          <p:nvPr/>
        </p:nvSpPr>
        <p:spPr>
          <a:xfrm>
            <a:off x="3920272" y="4806596"/>
            <a:ext cx="202332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大規模な統合監視の場合、監視と現場の距離があり、即対応にコミュニケーションギャップが生まれる</a:t>
            </a:r>
            <a:endParaRPr sz="1200">
              <a:solidFill>
                <a:schemeClr val="dk1"/>
              </a:solidFill>
              <a:latin typeface="Arial"/>
              <a:ea typeface="Arial"/>
              <a:cs typeface="Arial"/>
              <a:sym typeface="Arial"/>
            </a:endParaRPr>
          </a:p>
        </p:txBody>
      </p:sp>
      <p:sp>
        <p:nvSpPr>
          <p:cNvPr id="265" name="Google Shape;265;p9"/>
          <p:cNvSpPr/>
          <p:nvPr/>
        </p:nvSpPr>
        <p:spPr>
          <a:xfrm>
            <a:off x="5976039" y="1253853"/>
            <a:ext cx="239923" cy="187581"/>
          </a:xfrm>
          <a:prstGeom prst="leftRightArrow">
            <a:avLst>
              <a:gd fmla="val 50000" name="adj1"/>
              <a:gd fmla="val 33814"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cxnSp>
        <p:nvCxnSpPr>
          <p:cNvPr id="271" name="Google Shape;271;p10"/>
          <p:cNvCxnSpPr>
            <a:stCxn id="272" idx="1"/>
          </p:cNvCxnSpPr>
          <p:nvPr/>
        </p:nvCxnSpPr>
        <p:spPr>
          <a:xfrm rot="10800000">
            <a:off x="5712861" y="4585136"/>
            <a:ext cx="1796100" cy="218400"/>
          </a:xfrm>
          <a:prstGeom prst="straightConnector1">
            <a:avLst/>
          </a:prstGeom>
          <a:noFill/>
          <a:ln cap="flat" cmpd="sng" w="9525">
            <a:solidFill>
              <a:schemeClr val="dk1"/>
            </a:solidFill>
            <a:prstDash val="solid"/>
            <a:miter lim="800000"/>
            <a:headEnd len="sm" w="sm" type="none"/>
            <a:tailEnd len="med" w="med" type="triangle"/>
          </a:ln>
        </p:spPr>
      </p:cxnSp>
      <p:sp>
        <p:nvSpPr>
          <p:cNvPr id="273" name="Google Shape;273;p10"/>
          <p:cNvSpPr txBox="1"/>
          <p:nvPr>
            <p:ph type="title"/>
          </p:nvPr>
        </p:nvSpPr>
        <p:spPr>
          <a:xfrm>
            <a:off x="838200" y="269461"/>
            <a:ext cx="10515600" cy="1091324"/>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3600"/>
              <a:buFont typeface="Roboto"/>
              <a:buNone/>
            </a:pPr>
            <a:r>
              <a:rPr lang="ja-JP" sz="3600"/>
              <a:t>スケールとガバナンスの両立を</a:t>
            </a:r>
            <a:br>
              <a:rPr lang="ja-JP" sz="3600"/>
            </a:br>
            <a:r>
              <a:rPr lang="ja-JP" sz="3600"/>
              <a:t>利用システムで実現するイメージ</a:t>
            </a:r>
            <a:endParaRPr/>
          </a:p>
        </p:txBody>
      </p:sp>
      <p:sp>
        <p:nvSpPr>
          <p:cNvPr id="274" name="Google Shape;274;p10"/>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275" name="Google Shape;275;p10"/>
          <p:cNvSpPr/>
          <p:nvPr/>
        </p:nvSpPr>
        <p:spPr>
          <a:xfrm>
            <a:off x="10221499" y="3753826"/>
            <a:ext cx="453126" cy="453126"/>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 name="Google Shape;276;p10"/>
          <p:cNvSpPr/>
          <p:nvPr/>
        </p:nvSpPr>
        <p:spPr>
          <a:xfrm>
            <a:off x="1367260" y="4222023"/>
            <a:ext cx="453126" cy="453126"/>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 name="Google Shape;277;p10"/>
          <p:cNvSpPr/>
          <p:nvPr/>
        </p:nvSpPr>
        <p:spPr>
          <a:xfrm>
            <a:off x="10221499" y="4594213"/>
            <a:ext cx="453126" cy="453126"/>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10"/>
          <p:cNvSpPr/>
          <p:nvPr/>
        </p:nvSpPr>
        <p:spPr>
          <a:xfrm>
            <a:off x="3136339" y="3955706"/>
            <a:ext cx="2581836" cy="77988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利用システム</a:t>
            </a:r>
            <a:endParaRPr/>
          </a:p>
        </p:txBody>
      </p:sp>
      <p:sp>
        <p:nvSpPr>
          <p:cNvPr id="279" name="Google Shape;279;p10"/>
          <p:cNvSpPr/>
          <p:nvPr/>
        </p:nvSpPr>
        <p:spPr>
          <a:xfrm>
            <a:off x="3136339" y="6104411"/>
            <a:ext cx="2581836" cy="30757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全体管理</a:t>
            </a:r>
            <a:endParaRPr/>
          </a:p>
        </p:txBody>
      </p:sp>
      <p:sp>
        <p:nvSpPr>
          <p:cNvPr id="280" name="Google Shape;280;p10"/>
          <p:cNvSpPr/>
          <p:nvPr/>
        </p:nvSpPr>
        <p:spPr>
          <a:xfrm>
            <a:off x="9194772" y="6207010"/>
            <a:ext cx="256514" cy="256514"/>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 name="Google Shape;281;p10"/>
          <p:cNvSpPr txBox="1"/>
          <p:nvPr/>
        </p:nvSpPr>
        <p:spPr>
          <a:xfrm>
            <a:off x="871115" y="4673077"/>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システム利用者</a:t>
            </a:r>
            <a:endParaRPr/>
          </a:p>
        </p:txBody>
      </p:sp>
      <p:sp>
        <p:nvSpPr>
          <p:cNvPr id="282" name="Google Shape;282;p10"/>
          <p:cNvSpPr txBox="1"/>
          <p:nvPr/>
        </p:nvSpPr>
        <p:spPr>
          <a:xfrm>
            <a:off x="9732843" y="4241485"/>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システム管理者</a:t>
            </a:r>
            <a:endParaRPr/>
          </a:p>
        </p:txBody>
      </p:sp>
      <p:sp>
        <p:nvSpPr>
          <p:cNvPr id="283" name="Google Shape;283;p10"/>
          <p:cNvSpPr txBox="1"/>
          <p:nvPr/>
        </p:nvSpPr>
        <p:spPr>
          <a:xfrm>
            <a:off x="9732843" y="5069032"/>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システム運用者</a:t>
            </a:r>
            <a:endParaRPr/>
          </a:p>
        </p:txBody>
      </p:sp>
      <p:sp>
        <p:nvSpPr>
          <p:cNvPr id="284" name="Google Shape;284;p10"/>
          <p:cNvSpPr txBox="1"/>
          <p:nvPr/>
        </p:nvSpPr>
        <p:spPr>
          <a:xfrm>
            <a:off x="9387950" y="6226799"/>
            <a:ext cx="203132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ガバメントクラウド管理者</a:t>
            </a:r>
            <a:endParaRPr/>
          </a:p>
        </p:txBody>
      </p:sp>
      <p:sp>
        <p:nvSpPr>
          <p:cNvPr id="285" name="Google Shape;285;p10"/>
          <p:cNvSpPr/>
          <p:nvPr/>
        </p:nvSpPr>
        <p:spPr>
          <a:xfrm>
            <a:off x="7512424" y="3873838"/>
            <a:ext cx="1820471" cy="57573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800">
                <a:solidFill>
                  <a:schemeClr val="dk1"/>
                </a:solidFill>
                <a:latin typeface="Arial"/>
                <a:ea typeface="Arial"/>
                <a:cs typeface="Arial"/>
                <a:sym typeface="Arial"/>
              </a:rPr>
              <a:t>ダッシュボード</a:t>
            </a:r>
            <a:endParaRPr/>
          </a:p>
        </p:txBody>
      </p:sp>
      <p:sp>
        <p:nvSpPr>
          <p:cNvPr id="286" name="Google Shape;286;p10"/>
          <p:cNvSpPr/>
          <p:nvPr/>
        </p:nvSpPr>
        <p:spPr>
          <a:xfrm>
            <a:off x="8115565" y="4225627"/>
            <a:ext cx="223958" cy="123951"/>
          </a:xfrm>
          <a:custGeom>
            <a:rect b="b" l="l" r="r" t="t"/>
            <a:pathLst>
              <a:path extrusionOk="0" h="96" w="176">
                <a:moveTo>
                  <a:pt x="176" y="16"/>
                </a:moveTo>
                <a:cubicBezTo>
                  <a:pt x="176" y="25"/>
                  <a:pt x="169" y="32"/>
                  <a:pt x="160" y="32"/>
                </a:cubicBezTo>
                <a:cubicBezTo>
                  <a:pt x="159" y="32"/>
                  <a:pt x="157" y="32"/>
                  <a:pt x="156" y="31"/>
                </a:cubicBezTo>
                <a:cubicBezTo>
                  <a:pt x="127" y="60"/>
                  <a:pt x="127" y="60"/>
                  <a:pt x="127" y="60"/>
                </a:cubicBezTo>
                <a:cubicBezTo>
                  <a:pt x="128" y="61"/>
                  <a:pt x="128" y="63"/>
                  <a:pt x="128" y="64"/>
                </a:cubicBezTo>
                <a:cubicBezTo>
                  <a:pt x="128" y="73"/>
                  <a:pt x="121" y="80"/>
                  <a:pt x="112" y="80"/>
                </a:cubicBezTo>
                <a:cubicBezTo>
                  <a:pt x="103" y="80"/>
                  <a:pt x="96" y="73"/>
                  <a:pt x="96" y="64"/>
                </a:cubicBezTo>
                <a:cubicBezTo>
                  <a:pt x="96" y="63"/>
                  <a:pt x="96" y="61"/>
                  <a:pt x="97" y="60"/>
                </a:cubicBezTo>
                <a:cubicBezTo>
                  <a:pt x="76" y="39"/>
                  <a:pt x="76" y="39"/>
                  <a:pt x="76" y="39"/>
                </a:cubicBezTo>
                <a:cubicBezTo>
                  <a:pt x="75" y="40"/>
                  <a:pt x="73" y="40"/>
                  <a:pt x="72" y="40"/>
                </a:cubicBezTo>
                <a:cubicBezTo>
                  <a:pt x="71" y="40"/>
                  <a:pt x="69" y="40"/>
                  <a:pt x="68" y="39"/>
                </a:cubicBezTo>
                <a:cubicBezTo>
                  <a:pt x="31" y="76"/>
                  <a:pt x="31" y="76"/>
                  <a:pt x="31" y="76"/>
                </a:cubicBezTo>
                <a:cubicBezTo>
                  <a:pt x="32" y="77"/>
                  <a:pt x="32" y="79"/>
                  <a:pt x="32" y="80"/>
                </a:cubicBezTo>
                <a:cubicBezTo>
                  <a:pt x="32" y="89"/>
                  <a:pt x="25" y="96"/>
                  <a:pt x="16" y="96"/>
                </a:cubicBezTo>
                <a:cubicBezTo>
                  <a:pt x="7" y="96"/>
                  <a:pt x="0" y="89"/>
                  <a:pt x="0" y="80"/>
                </a:cubicBezTo>
                <a:cubicBezTo>
                  <a:pt x="0" y="71"/>
                  <a:pt x="7" y="64"/>
                  <a:pt x="16" y="64"/>
                </a:cubicBezTo>
                <a:cubicBezTo>
                  <a:pt x="17" y="64"/>
                  <a:pt x="19" y="64"/>
                  <a:pt x="20" y="65"/>
                </a:cubicBezTo>
                <a:cubicBezTo>
                  <a:pt x="57" y="28"/>
                  <a:pt x="57" y="28"/>
                  <a:pt x="57" y="28"/>
                </a:cubicBezTo>
                <a:cubicBezTo>
                  <a:pt x="56" y="27"/>
                  <a:pt x="56" y="25"/>
                  <a:pt x="56" y="24"/>
                </a:cubicBezTo>
                <a:cubicBezTo>
                  <a:pt x="56" y="15"/>
                  <a:pt x="63" y="8"/>
                  <a:pt x="72" y="8"/>
                </a:cubicBezTo>
                <a:cubicBezTo>
                  <a:pt x="81" y="8"/>
                  <a:pt x="88" y="15"/>
                  <a:pt x="88" y="24"/>
                </a:cubicBezTo>
                <a:cubicBezTo>
                  <a:pt x="88" y="25"/>
                  <a:pt x="88" y="27"/>
                  <a:pt x="87" y="28"/>
                </a:cubicBezTo>
                <a:cubicBezTo>
                  <a:pt x="108" y="49"/>
                  <a:pt x="108" y="49"/>
                  <a:pt x="108" y="49"/>
                </a:cubicBezTo>
                <a:cubicBezTo>
                  <a:pt x="109" y="48"/>
                  <a:pt x="111" y="48"/>
                  <a:pt x="112" y="48"/>
                </a:cubicBezTo>
                <a:cubicBezTo>
                  <a:pt x="113" y="48"/>
                  <a:pt x="115" y="48"/>
                  <a:pt x="116" y="49"/>
                </a:cubicBezTo>
                <a:cubicBezTo>
                  <a:pt x="145" y="20"/>
                  <a:pt x="145" y="20"/>
                  <a:pt x="145" y="20"/>
                </a:cubicBezTo>
                <a:cubicBezTo>
                  <a:pt x="144" y="19"/>
                  <a:pt x="144" y="17"/>
                  <a:pt x="144" y="16"/>
                </a:cubicBezTo>
                <a:cubicBezTo>
                  <a:pt x="144" y="7"/>
                  <a:pt x="151" y="0"/>
                  <a:pt x="160" y="0"/>
                </a:cubicBezTo>
                <a:cubicBezTo>
                  <a:pt x="169" y="0"/>
                  <a:pt x="176" y="7"/>
                  <a:pt x="176" y="16"/>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Arial"/>
              <a:ea typeface="Arial"/>
              <a:cs typeface="Arial"/>
              <a:sym typeface="Arial"/>
            </a:endParaRPr>
          </a:p>
        </p:txBody>
      </p:sp>
      <p:sp>
        <p:nvSpPr>
          <p:cNvPr id="287" name="Google Shape;287;p10"/>
          <p:cNvSpPr/>
          <p:nvPr/>
        </p:nvSpPr>
        <p:spPr>
          <a:xfrm>
            <a:off x="8516474" y="4212922"/>
            <a:ext cx="173222" cy="173222"/>
          </a:xfrm>
          <a:custGeom>
            <a:rect b="b" l="l" r="r" t="t"/>
            <a:pathLst>
              <a:path extrusionOk="0" h="160" w="160">
                <a:moveTo>
                  <a:pt x="72" y="57"/>
                </a:moveTo>
                <a:cubicBezTo>
                  <a:pt x="72" y="0"/>
                  <a:pt x="72" y="0"/>
                  <a:pt x="72" y="0"/>
                </a:cubicBezTo>
                <a:cubicBezTo>
                  <a:pt x="32" y="4"/>
                  <a:pt x="0" y="38"/>
                  <a:pt x="0" y="80"/>
                </a:cubicBezTo>
                <a:cubicBezTo>
                  <a:pt x="0" y="122"/>
                  <a:pt x="32" y="156"/>
                  <a:pt x="72" y="160"/>
                </a:cubicBezTo>
                <a:cubicBezTo>
                  <a:pt x="72" y="103"/>
                  <a:pt x="72" y="103"/>
                  <a:pt x="72" y="103"/>
                </a:cubicBezTo>
                <a:cubicBezTo>
                  <a:pt x="64" y="99"/>
                  <a:pt x="56" y="91"/>
                  <a:pt x="56" y="80"/>
                </a:cubicBezTo>
                <a:cubicBezTo>
                  <a:pt x="56" y="69"/>
                  <a:pt x="64" y="61"/>
                  <a:pt x="72" y="57"/>
                </a:cubicBezTo>
                <a:close/>
                <a:moveTo>
                  <a:pt x="103" y="72"/>
                </a:moveTo>
                <a:cubicBezTo>
                  <a:pt x="160" y="72"/>
                  <a:pt x="160" y="72"/>
                  <a:pt x="160" y="72"/>
                </a:cubicBezTo>
                <a:cubicBezTo>
                  <a:pt x="156" y="34"/>
                  <a:pt x="128" y="4"/>
                  <a:pt x="88" y="0"/>
                </a:cubicBezTo>
                <a:cubicBezTo>
                  <a:pt x="88" y="57"/>
                  <a:pt x="88" y="57"/>
                  <a:pt x="88" y="57"/>
                </a:cubicBezTo>
                <a:cubicBezTo>
                  <a:pt x="96" y="60"/>
                  <a:pt x="100" y="65"/>
                  <a:pt x="103" y="72"/>
                </a:cubicBezTo>
                <a:close/>
                <a:moveTo>
                  <a:pt x="88" y="103"/>
                </a:moveTo>
                <a:cubicBezTo>
                  <a:pt x="88" y="160"/>
                  <a:pt x="88" y="160"/>
                  <a:pt x="88" y="160"/>
                </a:cubicBezTo>
                <a:cubicBezTo>
                  <a:pt x="128" y="156"/>
                  <a:pt x="156" y="126"/>
                  <a:pt x="160" y="88"/>
                </a:cubicBezTo>
                <a:cubicBezTo>
                  <a:pt x="103" y="88"/>
                  <a:pt x="103" y="88"/>
                  <a:pt x="103" y="88"/>
                </a:cubicBezTo>
                <a:cubicBezTo>
                  <a:pt x="100" y="95"/>
                  <a:pt x="96" y="100"/>
                  <a:pt x="88" y="103"/>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Arial"/>
              <a:ea typeface="Arial"/>
              <a:cs typeface="Arial"/>
              <a:sym typeface="Arial"/>
            </a:endParaRPr>
          </a:p>
        </p:txBody>
      </p:sp>
      <p:sp>
        <p:nvSpPr>
          <p:cNvPr id="272" name="Google Shape;272;p10"/>
          <p:cNvSpPr/>
          <p:nvPr/>
        </p:nvSpPr>
        <p:spPr>
          <a:xfrm>
            <a:off x="7508961" y="4516047"/>
            <a:ext cx="1820471" cy="57497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800">
                <a:solidFill>
                  <a:schemeClr val="dk1"/>
                </a:solidFill>
                <a:latin typeface="Arial"/>
                <a:ea typeface="Arial"/>
                <a:cs typeface="Arial"/>
                <a:sym typeface="Arial"/>
              </a:rPr>
              <a:t>テンプレート</a:t>
            </a:r>
            <a:endParaRPr/>
          </a:p>
        </p:txBody>
      </p:sp>
      <p:sp>
        <p:nvSpPr>
          <p:cNvPr id="288" name="Google Shape;288;p10"/>
          <p:cNvSpPr/>
          <p:nvPr/>
        </p:nvSpPr>
        <p:spPr>
          <a:xfrm>
            <a:off x="8836321" y="4953453"/>
            <a:ext cx="755651" cy="574977"/>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ガイド</a:t>
            </a:r>
            <a:endParaRPr/>
          </a:p>
        </p:txBody>
      </p:sp>
      <p:sp>
        <p:nvSpPr>
          <p:cNvPr id="289" name="Google Shape;289;p10"/>
          <p:cNvSpPr/>
          <p:nvPr/>
        </p:nvSpPr>
        <p:spPr>
          <a:xfrm>
            <a:off x="7549012" y="6204754"/>
            <a:ext cx="1567788" cy="258641"/>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ダッシュボード</a:t>
            </a:r>
            <a:endParaRPr/>
          </a:p>
        </p:txBody>
      </p:sp>
      <p:cxnSp>
        <p:nvCxnSpPr>
          <p:cNvPr id="290" name="Google Shape;290;p10"/>
          <p:cNvCxnSpPr>
            <a:endCxn id="285" idx="3"/>
          </p:cNvCxnSpPr>
          <p:nvPr/>
        </p:nvCxnSpPr>
        <p:spPr>
          <a:xfrm rot="10800000">
            <a:off x="9332895" y="4161706"/>
            <a:ext cx="789900" cy="0"/>
          </a:xfrm>
          <a:prstGeom prst="straightConnector1">
            <a:avLst/>
          </a:prstGeom>
          <a:noFill/>
          <a:ln cap="flat" cmpd="sng" w="9525">
            <a:solidFill>
              <a:schemeClr val="dk1"/>
            </a:solidFill>
            <a:prstDash val="solid"/>
            <a:miter lim="800000"/>
            <a:headEnd len="sm" w="sm" type="none"/>
            <a:tailEnd len="med" w="med" type="triangle"/>
          </a:ln>
        </p:spPr>
      </p:cxnSp>
      <p:cxnSp>
        <p:nvCxnSpPr>
          <p:cNvPr id="291" name="Google Shape;291;p10"/>
          <p:cNvCxnSpPr>
            <a:stCxn id="285" idx="1"/>
            <a:endCxn id="292" idx="4"/>
          </p:cNvCxnSpPr>
          <p:nvPr/>
        </p:nvCxnSpPr>
        <p:spPr>
          <a:xfrm flipH="1">
            <a:off x="5629924" y="4161706"/>
            <a:ext cx="1882500" cy="54900"/>
          </a:xfrm>
          <a:prstGeom prst="straightConnector1">
            <a:avLst/>
          </a:prstGeom>
          <a:noFill/>
          <a:ln cap="flat" cmpd="sng" w="9525">
            <a:solidFill>
              <a:schemeClr val="dk1"/>
            </a:solidFill>
            <a:prstDash val="solid"/>
            <a:miter lim="800000"/>
            <a:headEnd len="sm" w="sm" type="none"/>
            <a:tailEnd len="med" w="med" type="triangle"/>
          </a:ln>
        </p:spPr>
      </p:cxnSp>
      <p:sp>
        <p:nvSpPr>
          <p:cNvPr id="292" name="Google Shape;292;p10"/>
          <p:cNvSpPr/>
          <p:nvPr/>
        </p:nvSpPr>
        <p:spPr>
          <a:xfrm>
            <a:off x="5217459" y="4040752"/>
            <a:ext cx="412376" cy="351944"/>
          </a:xfrm>
          <a:prstGeom prst="can">
            <a:avLst>
              <a:gd fmla="val 25000" name="adj"/>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93" name="Google Shape;293;p10"/>
          <p:cNvCxnSpPr>
            <a:endCxn id="272" idx="3"/>
          </p:cNvCxnSpPr>
          <p:nvPr/>
        </p:nvCxnSpPr>
        <p:spPr>
          <a:xfrm rot="10800000">
            <a:off x="9329432" y="4803536"/>
            <a:ext cx="789900" cy="0"/>
          </a:xfrm>
          <a:prstGeom prst="straightConnector1">
            <a:avLst/>
          </a:prstGeom>
          <a:noFill/>
          <a:ln cap="flat" cmpd="sng" w="9525">
            <a:solidFill>
              <a:schemeClr val="dk1"/>
            </a:solidFill>
            <a:prstDash val="solid"/>
            <a:miter lim="800000"/>
            <a:headEnd len="sm" w="sm" type="none"/>
            <a:tailEnd len="med" w="med" type="triangle"/>
          </a:ln>
        </p:spPr>
      </p:cxnSp>
      <p:cxnSp>
        <p:nvCxnSpPr>
          <p:cNvPr id="294" name="Google Shape;294;p10"/>
          <p:cNvCxnSpPr>
            <a:stCxn id="283" idx="2"/>
            <a:endCxn id="295" idx="0"/>
          </p:cNvCxnSpPr>
          <p:nvPr/>
        </p:nvCxnSpPr>
        <p:spPr>
          <a:xfrm>
            <a:off x="10453553" y="5376809"/>
            <a:ext cx="12600" cy="532200"/>
          </a:xfrm>
          <a:prstGeom prst="straightConnector1">
            <a:avLst/>
          </a:prstGeom>
          <a:noFill/>
          <a:ln cap="flat" cmpd="sng" w="9525">
            <a:solidFill>
              <a:schemeClr val="dk1"/>
            </a:solidFill>
            <a:prstDash val="solid"/>
            <a:miter lim="800000"/>
            <a:headEnd len="sm" w="sm" type="none"/>
            <a:tailEnd len="med" w="med" type="triangle"/>
          </a:ln>
        </p:spPr>
      </p:cxnSp>
      <p:sp>
        <p:nvSpPr>
          <p:cNvPr id="295" name="Google Shape;295;p10"/>
          <p:cNvSpPr/>
          <p:nvPr/>
        </p:nvSpPr>
        <p:spPr>
          <a:xfrm>
            <a:off x="9854164" y="5909082"/>
            <a:ext cx="1224009" cy="26845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環境依頼</a:t>
            </a:r>
            <a:endParaRPr/>
          </a:p>
        </p:txBody>
      </p:sp>
      <p:cxnSp>
        <p:nvCxnSpPr>
          <p:cNvPr id="296" name="Google Shape;296;p10"/>
          <p:cNvCxnSpPr>
            <a:stCxn id="279" idx="0"/>
            <a:endCxn id="297" idx="2"/>
          </p:cNvCxnSpPr>
          <p:nvPr/>
        </p:nvCxnSpPr>
        <p:spPr>
          <a:xfrm rot="10800000">
            <a:off x="4426357" y="5602511"/>
            <a:ext cx="900" cy="501900"/>
          </a:xfrm>
          <a:prstGeom prst="straightConnector1">
            <a:avLst/>
          </a:prstGeom>
          <a:noFill/>
          <a:ln cap="flat" cmpd="sng" w="9525">
            <a:solidFill>
              <a:schemeClr val="dk1"/>
            </a:solidFill>
            <a:prstDash val="solid"/>
            <a:miter lim="800000"/>
            <a:headEnd len="sm" w="sm" type="none"/>
            <a:tailEnd len="med" w="med" type="triangle"/>
          </a:ln>
        </p:spPr>
      </p:cxnSp>
      <p:sp>
        <p:nvSpPr>
          <p:cNvPr id="298" name="Google Shape;298;p10"/>
          <p:cNvSpPr/>
          <p:nvPr/>
        </p:nvSpPr>
        <p:spPr>
          <a:xfrm>
            <a:off x="5317346" y="6193406"/>
            <a:ext cx="210822" cy="154474"/>
          </a:xfrm>
          <a:prstGeom prst="can">
            <a:avLst>
              <a:gd fmla="val 25000" name="adj"/>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99" name="Google Shape;299;p10"/>
          <p:cNvCxnSpPr>
            <a:stCxn id="298" idx="1"/>
            <a:endCxn id="292" idx="3"/>
          </p:cNvCxnSpPr>
          <p:nvPr/>
        </p:nvCxnSpPr>
        <p:spPr>
          <a:xfrm flipH="1" rot="10800000">
            <a:off x="5422757" y="4392806"/>
            <a:ext cx="900" cy="1800600"/>
          </a:xfrm>
          <a:prstGeom prst="straightConnector1">
            <a:avLst/>
          </a:prstGeom>
          <a:noFill/>
          <a:ln cap="flat" cmpd="sng" w="9525">
            <a:solidFill>
              <a:schemeClr val="dk1"/>
            </a:solidFill>
            <a:prstDash val="solid"/>
            <a:miter lim="800000"/>
            <a:headEnd len="sm" w="sm" type="none"/>
            <a:tailEnd len="med" w="med" type="triangle"/>
          </a:ln>
        </p:spPr>
      </p:cxnSp>
      <p:sp>
        <p:nvSpPr>
          <p:cNvPr id="297" name="Google Shape;297;p10"/>
          <p:cNvSpPr/>
          <p:nvPr/>
        </p:nvSpPr>
        <p:spPr>
          <a:xfrm>
            <a:off x="2703156" y="5323407"/>
            <a:ext cx="3446533" cy="27919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環境</a:t>
            </a:r>
            <a:endParaRPr/>
          </a:p>
        </p:txBody>
      </p:sp>
      <p:sp>
        <p:nvSpPr>
          <p:cNvPr id="300" name="Google Shape;300;p10"/>
          <p:cNvSpPr/>
          <p:nvPr/>
        </p:nvSpPr>
        <p:spPr>
          <a:xfrm>
            <a:off x="2698376" y="4418176"/>
            <a:ext cx="3442448" cy="824753"/>
          </a:xfrm>
          <a:custGeom>
            <a:rect b="b" l="l" r="r" t="t"/>
            <a:pathLst>
              <a:path extrusionOk="0" h="824753" w="3442448">
                <a:moveTo>
                  <a:pt x="0" y="0"/>
                </a:moveTo>
                <a:lnTo>
                  <a:pt x="0" y="824753"/>
                </a:lnTo>
                <a:lnTo>
                  <a:pt x="3442448" y="824753"/>
                </a:lnTo>
                <a:lnTo>
                  <a:pt x="3442448" y="0"/>
                </a:lnTo>
                <a:lnTo>
                  <a:pt x="3209365" y="0"/>
                </a:lnTo>
                <a:lnTo>
                  <a:pt x="3209365" y="412376"/>
                </a:lnTo>
                <a:lnTo>
                  <a:pt x="251012" y="412376"/>
                </a:lnTo>
                <a:lnTo>
                  <a:pt x="251012" y="8965"/>
                </a:lnTo>
                <a:lnTo>
                  <a:pt x="0" y="0"/>
                </a:lnTo>
                <a:close/>
              </a:path>
            </a:pathLst>
          </a:cu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 name="Google Shape;301;p10"/>
          <p:cNvSpPr txBox="1"/>
          <p:nvPr/>
        </p:nvSpPr>
        <p:spPr>
          <a:xfrm>
            <a:off x="3362153" y="4856123"/>
            <a:ext cx="22621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800">
                <a:solidFill>
                  <a:schemeClr val="dk1"/>
                </a:solidFill>
                <a:latin typeface="Arial"/>
                <a:ea typeface="Arial"/>
                <a:cs typeface="Arial"/>
                <a:sym typeface="Arial"/>
              </a:rPr>
              <a:t>予防的・発見的統制</a:t>
            </a:r>
            <a:endParaRPr/>
          </a:p>
        </p:txBody>
      </p:sp>
      <p:cxnSp>
        <p:nvCxnSpPr>
          <p:cNvPr id="302" name="Google Shape;302;p10"/>
          <p:cNvCxnSpPr>
            <a:stCxn id="289" idx="1"/>
            <a:endCxn id="298" idx="4"/>
          </p:cNvCxnSpPr>
          <p:nvPr/>
        </p:nvCxnSpPr>
        <p:spPr>
          <a:xfrm rot="10800000">
            <a:off x="5528212" y="6270775"/>
            <a:ext cx="2020800" cy="63300"/>
          </a:xfrm>
          <a:prstGeom prst="straightConnector1">
            <a:avLst/>
          </a:prstGeom>
          <a:noFill/>
          <a:ln cap="flat" cmpd="sng" w="9525">
            <a:solidFill>
              <a:schemeClr val="dk1"/>
            </a:solidFill>
            <a:prstDash val="solid"/>
            <a:miter lim="800000"/>
            <a:headEnd len="sm" w="sm" type="none"/>
            <a:tailEnd len="med" w="med" type="triangle"/>
          </a:ln>
        </p:spPr>
      </p:cxnSp>
      <p:cxnSp>
        <p:nvCxnSpPr>
          <p:cNvPr id="303" name="Google Shape;303;p10"/>
          <p:cNvCxnSpPr>
            <a:stCxn id="295" idx="1"/>
          </p:cNvCxnSpPr>
          <p:nvPr/>
        </p:nvCxnSpPr>
        <p:spPr>
          <a:xfrm flipH="1">
            <a:off x="5712664" y="6043309"/>
            <a:ext cx="4141500" cy="126600"/>
          </a:xfrm>
          <a:prstGeom prst="straightConnector1">
            <a:avLst/>
          </a:prstGeom>
          <a:noFill/>
          <a:ln cap="flat" cmpd="sng" w="9525">
            <a:solidFill>
              <a:schemeClr val="dk1"/>
            </a:solidFill>
            <a:prstDash val="solid"/>
            <a:miter lim="800000"/>
            <a:headEnd len="sm" w="sm" type="none"/>
            <a:tailEnd len="med" w="med" type="triangle"/>
          </a:ln>
        </p:spPr>
      </p:cxnSp>
      <p:cxnSp>
        <p:nvCxnSpPr>
          <p:cNvPr id="304" name="Google Shape;304;p10"/>
          <p:cNvCxnSpPr>
            <a:endCxn id="278" idx="1"/>
          </p:cNvCxnSpPr>
          <p:nvPr/>
        </p:nvCxnSpPr>
        <p:spPr>
          <a:xfrm>
            <a:off x="1925839" y="4345649"/>
            <a:ext cx="1210500" cy="0"/>
          </a:xfrm>
          <a:prstGeom prst="straightConnector1">
            <a:avLst/>
          </a:prstGeom>
          <a:noFill/>
          <a:ln cap="flat" cmpd="sng" w="9525">
            <a:solidFill>
              <a:schemeClr val="dk1"/>
            </a:solidFill>
            <a:prstDash val="solid"/>
            <a:miter lim="800000"/>
            <a:headEnd len="sm" w="sm" type="none"/>
            <a:tailEnd len="med" w="med" type="triangle"/>
          </a:ln>
        </p:spPr>
      </p:cxnSp>
      <p:sp>
        <p:nvSpPr>
          <p:cNvPr id="305" name="Google Shape;305;p10"/>
          <p:cNvSpPr txBox="1"/>
          <p:nvPr/>
        </p:nvSpPr>
        <p:spPr>
          <a:xfrm>
            <a:off x="6245421" y="3935923"/>
            <a:ext cx="95410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自動可視化</a:t>
            </a:r>
            <a:endParaRPr/>
          </a:p>
        </p:txBody>
      </p:sp>
      <p:sp>
        <p:nvSpPr>
          <p:cNvPr id="306" name="Google Shape;306;p10"/>
          <p:cNvSpPr txBox="1"/>
          <p:nvPr/>
        </p:nvSpPr>
        <p:spPr>
          <a:xfrm>
            <a:off x="6502337" y="4496867"/>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自動構築</a:t>
            </a:r>
            <a:endParaRPr/>
          </a:p>
        </p:txBody>
      </p:sp>
      <p:sp>
        <p:nvSpPr>
          <p:cNvPr id="307" name="Google Shape;307;p10"/>
          <p:cNvSpPr txBox="1"/>
          <p:nvPr/>
        </p:nvSpPr>
        <p:spPr>
          <a:xfrm>
            <a:off x="3693013" y="5818569"/>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chemeClr val="dk1"/>
                </a:solidFill>
                <a:latin typeface="Arial"/>
                <a:ea typeface="Arial"/>
                <a:cs typeface="Arial"/>
                <a:sym typeface="Arial"/>
              </a:rPr>
              <a:t>自動払出</a:t>
            </a:r>
            <a:endParaRPr/>
          </a:p>
        </p:txBody>
      </p:sp>
      <p:sp>
        <p:nvSpPr>
          <p:cNvPr id="308" name="Google Shape;308;p10"/>
          <p:cNvSpPr txBox="1"/>
          <p:nvPr/>
        </p:nvSpPr>
        <p:spPr>
          <a:xfrm>
            <a:off x="5356578" y="5740965"/>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chemeClr val="dk1"/>
                </a:solidFill>
                <a:latin typeface="Arial"/>
                <a:ea typeface="Arial"/>
                <a:cs typeface="Arial"/>
                <a:sym typeface="Arial"/>
              </a:rPr>
              <a:t>自動収集</a:t>
            </a:r>
            <a:endParaRPr/>
          </a:p>
        </p:txBody>
      </p:sp>
      <p:sp>
        <p:nvSpPr>
          <p:cNvPr id="309" name="Google Shape;309;p10"/>
          <p:cNvSpPr txBox="1"/>
          <p:nvPr/>
        </p:nvSpPr>
        <p:spPr>
          <a:xfrm>
            <a:off x="6102228" y="4876343"/>
            <a:ext cx="80021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自動</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チェック</a:t>
            </a:r>
            <a:endParaRPr sz="1200">
              <a:solidFill>
                <a:schemeClr val="dk1"/>
              </a:solidFill>
              <a:latin typeface="Arial"/>
              <a:ea typeface="Arial"/>
              <a:cs typeface="Arial"/>
              <a:sym typeface="Arial"/>
            </a:endParaRPr>
          </a:p>
        </p:txBody>
      </p:sp>
      <p:sp>
        <p:nvSpPr>
          <p:cNvPr id="310" name="Google Shape;310;p10"/>
          <p:cNvSpPr/>
          <p:nvPr/>
        </p:nvSpPr>
        <p:spPr>
          <a:xfrm>
            <a:off x="9116800" y="5347443"/>
            <a:ext cx="212632" cy="120049"/>
          </a:xfrm>
          <a:custGeom>
            <a:rect b="b" l="l" r="r" t="t"/>
            <a:pathLst>
              <a:path extrusionOk="0" h="271" w="480">
                <a:moveTo>
                  <a:pt x="0" y="54"/>
                </a:moveTo>
                <a:lnTo>
                  <a:pt x="373" y="54"/>
                </a:lnTo>
                <a:lnTo>
                  <a:pt x="373" y="0"/>
                </a:lnTo>
                <a:lnTo>
                  <a:pt x="0" y="0"/>
                </a:lnTo>
                <a:lnTo>
                  <a:pt x="0" y="54"/>
                </a:lnTo>
                <a:close/>
                <a:moveTo>
                  <a:pt x="0" y="163"/>
                </a:moveTo>
                <a:lnTo>
                  <a:pt x="373" y="163"/>
                </a:lnTo>
                <a:lnTo>
                  <a:pt x="373" y="108"/>
                </a:lnTo>
                <a:lnTo>
                  <a:pt x="0" y="108"/>
                </a:lnTo>
                <a:lnTo>
                  <a:pt x="0" y="163"/>
                </a:lnTo>
                <a:close/>
                <a:moveTo>
                  <a:pt x="0" y="271"/>
                </a:moveTo>
                <a:lnTo>
                  <a:pt x="373" y="271"/>
                </a:lnTo>
                <a:lnTo>
                  <a:pt x="373" y="217"/>
                </a:lnTo>
                <a:lnTo>
                  <a:pt x="0" y="217"/>
                </a:lnTo>
                <a:lnTo>
                  <a:pt x="0" y="271"/>
                </a:lnTo>
                <a:close/>
                <a:moveTo>
                  <a:pt x="426" y="271"/>
                </a:moveTo>
                <a:lnTo>
                  <a:pt x="480" y="271"/>
                </a:lnTo>
                <a:lnTo>
                  <a:pt x="480" y="217"/>
                </a:lnTo>
                <a:lnTo>
                  <a:pt x="426" y="217"/>
                </a:lnTo>
                <a:lnTo>
                  <a:pt x="426" y="271"/>
                </a:lnTo>
                <a:close/>
                <a:moveTo>
                  <a:pt x="426" y="0"/>
                </a:moveTo>
                <a:lnTo>
                  <a:pt x="426" y="54"/>
                </a:lnTo>
                <a:lnTo>
                  <a:pt x="480" y="54"/>
                </a:lnTo>
                <a:lnTo>
                  <a:pt x="480" y="0"/>
                </a:lnTo>
                <a:lnTo>
                  <a:pt x="426" y="0"/>
                </a:lnTo>
                <a:close/>
                <a:moveTo>
                  <a:pt x="426" y="163"/>
                </a:moveTo>
                <a:lnTo>
                  <a:pt x="480" y="163"/>
                </a:lnTo>
                <a:lnTo>
                  <a:pt x="480" y="108"/>
                </a:lnTo>
                <a:lnTo>
                  <a:pt x="426" y="108"/>
                </a:lnTo>
                <a:lnTo>
                  <a:pt x="426" y="163"/>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 name="Google Shape;311;p10"/>
          <p:cNvSpPr/>
          <p:nvPr/>
        </p:nvSpPr>
        <p:spPr>
          <a:xfrm>
            <a:off x="8117746" y="4866387"/>
            <a:ext cx="262032" cy="159497"/>
          </a:xfrm>
          <a:custGeom>
            <a:rect b="b" l="l" r="r" t="t"/>
            <a:pathLst>
              <a:path extrusionOk="0" h="294" w="483">
                <a:moveTo>
                  <a:pt x="178" y="260"/>
                </a:moveTo>
                <a:lnTo>
                  <a:pt x="69" y="147"/>
                </a:lnTo>
                <a:lnTo>
                  <a:pt x="181" y="34"/>
                </a:lnTo>
                <a:lnTo>
                  <a:pt x="145" y="0"/>
                </a:lnTo>
                <a:lnTo>
                  <a:pt x="0" y="147"/>
                </a:lnTo>
                <a:lnTo>
                  <a:pt x="145" y="294"/>
                </a:lnTo>
                <a:lnTo>
                  <a:pt x="178" y="260"/>
                </a:lnTo>
                <a:close/>
                <a:moveTo>
                  <a:pt x="305" y="260"/>
                </a:moveTo>
                <a:lnTo>
                  <a:pt x="416" y="147"/>
                </a:lnTo>
                <a:lnTo>
                  <a:pt x="305" y="34"/>
                </a:lnTo>
                <a:lnTo>
                  <a:pt x="338" y="0"/>
                </a:lnTo>
                <a:lnTo>
                  <a:pt x="483" y="147"/>
                </a:lnTo>
                <a:lnTo>
                  <a:pt x="338" y="294"/>
                </a:lnTo>
                <a:lnTo>
                  <a:pt x="305" y="260"/>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2" name="Google Shape;312;p10"/>
          <p:cNvSpPr/>
          <p:nvPr/>
        </p:nvSpPr>
        <p:spPr>
          <a:xfrm>
            <a:off x="8523167" y="4867602"/>
            <a:ext cx="171374" cy="175368"/>
          </a:xfrm>
          <a:custGeom>
            <a:rect b="b" l="l" r="r" t="t"/>
            <a:pathLst>
              <a:path extrusionOk="0" h="160" w="156">
                <a:moveTo>
                  <a:pt x="137" y="88"/>
                </a:moveTo>
                <a:cubicBezTo>
                  <a:pt x="138" y="85"/>
                  <a:pt x="138" y="83"/>
                  <a:pt x="138" y="80"/>
                </a:cubicBezTo>
                <a:cubicBezTo>
                  <a:pt x="138" y="77"/>
                  <a:pt x="138" y="75"/>
                  <a:pt x="137" y="72"/>
                </a:cubicBezTo>
                <a:cubicBezTo>
                  <a:pt x="154" y="59"/>
                  <a:pt x="154" y="59"/>
                  <a:pt x="154" y="59"/>
                </a:cubicBezTo>
                <a:cubicBezTo>
                  <a:pt x="156" y="58"/>
                  <a:pt x="156" y="56"/>
                  <a:pt x="155" y="54"/>
                </a:cubicBezTo>
                <a:cubicBezTo>
                  <a:pt x="139" y="26"/>
                  <a:pt x="139" y="26"/>
                  <a:pt x="139" y="26"/>
                </a:cubicBezTo>
                <a:cubicBezTo>
                  <a:pt x="138" y="24"/>
                  <a:pt x="136" y="24"/>
                  <a:pt x="134" y="24"/>
                </a:cubicBezTo>
                <a:cubicBezTo>
                  <a:pt x="115" y="32"/>
                  <a:pt x="115" y="32"/>
                  <a:pt x="115" y="32"/>
                </a:cubicBezTo>
                <a:cubicBezTo>
                  <a:pt x="110" y="29"/>
                  <a:pt x="106" y="27"/>
                  <a:pt x="101" y="25"/>
                </a:cubicBezTo>
                <a:cubicBezTo>
                  <a:pt x="98" y="3"/>
                  <a:pt x="98" y="3"/>
                  <a:pt x="98" y="3"/>
                </a:cubicBezTo>
                <a:cubicBezTo>
                  <a:pt x="98" y="1"/>
                  <a:pt x="96" y="0"/>
                  <a:pt x="94" y="0"/>
                </a:cubicBezTo>
                <a:cubicBezTo>
                  <a:pt x="62" y="0"/>
                  <a:pt x="62" y="0"/>
                  <a:pt x="62" y="0"/>
                </a:cubicBezTo>
                <a:cubicBezTo>
                  <a:pt x="60" y="0"/>
                  <a:pt x="58" y="1"/>
                  <a:pt x="58" y="3"/>
                </a:cubicBezTo>
                <a:cubicBezTo>
                  <a:pt x="55" y="25"/>
                  <a:pt x="55" y="25"/>
                  <a:pt x="55" y="25"/>
                </a:cubicBezTo>
                <a:cubicBezTo>
                  <a:pt x="50" y="27"/>
                  <a:pt x="46" y="29"/>
                  <a:pt x="42" y="32"/>
                </a:cubicBezTo>
                <a:cubicBezTo>
                  <a:pt x="22" y="24"/>
                  <a:pt x="22" y="24"/>
                  <a:pt x="22" y="24"/>
                </a:cubicBezTo>
                <a:cubicBezTo>
                  <a:pt x="20" y="24"/>
                  <a:pt x="18" y="24"/>
                  <a:pt x="17" y="26"/>
                </a:cubicBezTo>
                <a:cubicBezTo>
                  <a:pt x="1" y="54"/>
                  <a:pt x="1" y="54"/>
                  <a:pt x="1" y="54"/>
                </a:cubicBezTo>
                <a:cubicBezTo>
                  <a:pt x="0" y="56"/>
                  <a:pt x="0" y="58"/>
                  <a:pt x="2" y="59"/>
                </a:cubicBezTo>
                <a:cubicBezTo>
                  <a:pt x="19" y="72"/>
                  <a:pt x="19" y="72"/>
                  <a:pt x="19" y="72"/>
                </a:cubicBezTo>
                <a:cubicBezTo>
                  <a:pt x="18" y="75"/>
                  <a:pt x="18" y="77"/>
                  <a:pt x="18" y="80"/>
                </a:cubicBezTo>
                <a:cubicBezTo>
                  <a:pt x="18" y="83"/>
                  <a:pt x="18" y="85"/>
                  <a:pt x="19" y="88"/>
                </a:cubicBezTo>
                <a:cubicBezTo>
                  <a:pt x="2" y="101"/>
                  <a:pt x="2" y="101"/>
                  <a:pt x="2" y="101"/>
                </a:cubicBezTo>
                <a:cubicBezTo>
                  <a:pt x="0" y="102"/>
                  <a:pt x="0" y="104"/>
                  <a:pt x="1" y="106"/>
                </a:cubicBezTo>
                <a:cubicBezTo>
                  <a:pt x="17" y="134"/>
                  <a:pt x="17" y="134"/>
                  <a:pt x="17" y="134"/>
                </a:cubicBezTo>
                <a:cubicBezTo>
                  <a:pt x="18" y="136"/>
                  <a:pt x="20" y="136"/>
                  <a:pt x="22" y="136"/>
                </a:cubicBezTo>
                <a:cubicBezTo>
                  <a:pt x="42" y="128"/>
                  <a:pt x="42" y="128"/>
                  <a:pt x="42" y="128"/>
                </a:cubicBezTo>
                <a:cubicBezTo>
                  <a:pt x="46" y="131"/>
                  <a:pt x="50" y="133"/>
                  <a:pt x="55" y="135"/>
                </a:cubicBezTo>
                <a:cubicBezTo>
                  <a:pt x="58" y="157"/>
                  <a:pt x="58" y="157"/>
                  <a:pt x="58" y="157"/>
                </a:cubicBezTo>
                <a:cubicBezTo>
                  <a:pt x="58" y="159"/>
                  <a:pt x="60" y="160"/>
                  <a:pt x="62" y="160"/>
                </a:cubicBezTo>
                <a:cubicBezTo>
                  <a:pt x="94" y="160"/>
                  <a:pt x="94" y="160"/>
                  <a:pt x="94" y="160"/>
                </a:cubicBezTo>
                <a:cubicBezTo>
                  <a:pt x="96" y="160"/>
                  <a:pt x="98" y="159"/>
                  <a:pt x="98" y="157"/>
                </a:cubicBezTo>
                <a:cubicBezTo>
                  <a:pt x="101" y="135"/>
                  <a:pt x="101" y="135"/>
                  <a:pt x="101" y="135"/>
                </a:cubicBezTo>
                <a:cubicBezTo>
                  <a:pt x="106" y="133"/>
                  <a:pt x="110" y="131"/>
                  <a:pt x="114" y="128"/>
                </a:cubicBezTo>
                <a:cubicBezTo>
                  <a:pt x="134" y="136"/>
                  <a:pt x="134" y="136"/>
                  <a:pt x="134" y="136"/>
                </a:cubicBezTo>
                <a:cubicBezTo>
                  <a:pt x="136" y="136"/>
                  <a:pt x="138" y="136"/>
                  <a:pt x="139" y="134"/>
                </a:cubicBezTo>
                <a:cubicBezTo>
                  <a:pt x="155" y="106"/>
                  <a:pt x="155" y="106"/>
                  <a:pt x="155" y="106"/>
                </a:cubicBezTo>
                <a:cubicBezTo>
                  <a:pt x="156" y="104"/>
                  <a:pt x="156" y="102"/>
                  <a:pt x="154" y="101"/>
                </a:cubicBezTo>
                <a:lnTo>
                  <a:pt x="137" y="88"/>
                </a:lnTo>
                <a:close/>
                <a:moveTo>
                  <a:pt x="78" y="108"/>
                </a:moveTo>
                <a:cubicBezTo>
                  <a:pt x="63" y="108"/>
                  <a:pt x="50" y="95"/>
                  <a:pt x="50" y="80"/>
                </a:cubicBezTo>
                <a:cubicBezTo>
                  <a:pt x="50" y="65"/>
                  <a:pt x="63" y="52"/>
                  <a:pt x="78" y="52"/>
                </a:cubicBezTo>
                <a:cubicBezTo>
                  <a:pt x="93" y="52"/>
                  <a:pt x="106" y="65"/>
                  <a:pt x="106" y="80"/>
                </a:cubicBezTo>
                <a:cubicBezTo>
                  <a:pt x="106" y="95"/>
                  <a:pt x="93" y="108"/>
                  <a:pt x="78" y="108"/>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3" name="Google Shape;313;p10"/>
          <p:cNvSpPr/>
          <p:nvPr/>
        </p:nvSpPr>
        <p:spPr>
          <a:xfrm>
            <a:off x="5606205" y="4899947"/>
            <a:ext cx="222198" cy="246151"/>
          </a:xfrm>
          <a:custGeom>
            <a:rect b="b" l="l" r="r" t="t"/>
            <a:pathLst>
              <a:path extrusionOk="0" h="160" w="144">
                <a:moveTo>
                  <a:pt x="128" y="16"/>
                </a:moveTo>
                <a:cubicBezTo>
                  <a:pt x="95" y="16"/>
                  <a:pt x="95" y="16"/>
                  <a:pt x="95" y="16"/>
                </a:cubicBezTo>
                <a:cubicBezTo>
                  <a:pt x="91" y="7"/>
                  <a:pt x="82" y="0"/>
                  <a:pt x="72" y="0"/>
                </a:cubicBezTo>
                <a:cubicBezTo>
                  <a:pt x="62" y="0"/>
                  <a:pt x="53" y="7"/>
                  <a:pt x="49" y="16"/>
                </a:cubicBezTo>
                <a:cubicBezTo>
                  <a:pt x="16" y="16"/>
                  <a:pt x="16" y="16"/>
                  <a:pt x="16" y="16"/>
                </a:cubicBezTo>
                <a:cubicBezTo>
                  <a:pt x="7" y="16"/>
                  <a:pt x="0" y="23"/>
                  <a:pt x="0" y="32"/>
                </a:cubicBezTo>
                <a:cubicBezTo>
                  <a:pt x="0" y="144"/>
                  <a:pt x="0" y="144"/>
                  <a:pt x="0" y="144"/>
                </a:cubicBezTo>
                <a:cubicBezTo>
                  <a:pt x="0" y="153"/>
                  <a:pt x="7" y="160"/>
                  <a:pt x="16" y="160"/>
                </a:cubicBezTo>
                <a:cubicBezTo>
                  <a:pt x="128" y="160"/>
                  <a:pt x="128" y="160"/>
                  <a:pt x="128" y="160"/>
                </a:cubicBezTo>
                <a:cubicBezTo>
                  <a:pt x="137" y="160"/>
                  <a:pt x="144" y="153"/>
                  <a:pt x="144" y="144"/>
                </a:cubicBezTo>
                <a:cubicBezTo>
                  <a:pt x="144" y="32"/>
                  <a:pt x="144" y="32"/>
                  <a:pt x="144" y="32"/>
                </a:cubicBezTo>
                <a:cubicBezTo>
                  <a:pt x="144" y="23"/>
                  <a:pt x="137" y="16"/>
                  <a:pt x="128" y="16"/>
                </a:cubicBezTo>
                <a:close/>
                <a:moveTo>
                  <a:pt x="72" y="16"/>
                </a:moveTo>
                <a:cubicBezTo>
                  <a:pt x="76" y="16"/>
                  <a:pt x="80" y="20"/>
                  <a:pt x="80" y="24"/>
                </a:cubicBezTo>
                <a:cubicBezTo>
                  <a:pt x="80" y="28"/>
                  <a:pt x="76" y="32"/>
                  <a:pt x="72" y="32"/>
                </a:cubicBezTo>
                <a:cubicBezTo>
                  <a:pt x="68" y="32"/>
                  <a:pt x="64" y="28"/>
                  <a:pt x="64" y="24"/>
                </a:cubicBezTo>
                <a:cubicBezTo>
                  <a:pt x="64" y="20"/>
                  <a:pt x="68" y="16"/>
                  <a:pt x="72" y="16"/>
                </a:cubicBezTo>
                <a:close/>
                <a:moveTo>
                  <a:pt x="56" y="128"/>
                </a:moveTo>
                <a:cubicBezTo>
                  <a:pt x="24" y="96"/>
                  <a:pt x="24" y="96"/>
                  <a:pt x="24" y="96"/>
                </a:cubicBezTo>
                <a:cubicBezTo>
                  <a:pt x="35" y="85"/>
                  <a:pt x="35" y="85"/>
                  <a:pt x="35" y="85"/>
                </a:cubicBezTo>
                <a:cubicBezTo>
                  <a:pt x="56" y="105"/>
                  <a:pt x="56" y="105"/>
                  <a:pt x="56" y="105"/>
                </a:cubicBezTo>
                <a:cubicBezTo>
                  <a:pt x="109" y="53"/>
                  <a:pt x="109" y="53"/>
                  <a:pt x="109" y="53"/>
                </a:cubicBezTo>
                <a:cubicBezTo>
                  <a:pt x="120" y="64"/>
                  <a:pt x="120" y="64"/>
                  <a:pt x="120" y="64"/>
                </a:cubicBezTo>
                <a:lnTo>
                  <a:pt x="56" y="128"/>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4" name="Google Shape;314;p10"/>
          <p:cNvSpPr txBox="1"/>
          <p:nvPr/>
        </p:nvSpPr>
        <p:spPr>
          <a:xfrm>
            <a:off x="834475" y="1406755"/>
            <a:ext cx="10641593" cy="2231380"/>
          </a:xfrm>
          <a:prstGeom prst="rect">
            <a:avLst/>
          </a:prstGeom>
          <a:noFill/>
          <a:ln>
            <a:noFill/>
          </a:ln>
        </p:spPr>
        <p:txBody>
          <a:bodyPr anchorCtr="0" anchor="t" bIns="45700" lIns="91425" spcFirstLastPara="1" rIns="91425" wrap="square" tIns="45700">
            <a:spAutoFit/>
          </a:bodyPr>
          <a:lstStyle/>
          <a:p>
            <a:pPr indent="-179388" lvl="0" marL="179388" marR="0" rtl="0" algn="l">
              <a:spcBef>
                <a:spcPts val="0"/>
              </a:spcBef>
              <a:spcAft>
                <a:spcPts val="0"/>
              </a:spcAft>
              <a:buNone/>
            </a:pPr>
            <a:r>
              <a:rPr b="1" lang="ja-JP" sz="1800">
                <a:solidFill>
                  <a:schemeClr val="dk1"/>
                </a:solidFill>
                <a:latin typeface="Arial"/>
                <a:ea typeface="Arial"/>
                <a:cs typeface="Arial"/>
                <a:sym typeface="Arial"/>
              </a:rPr>
              <a:t>テンプレートの利用</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環境の払い出しを各種機能や</a:t>
            </a:r>
            <a:r>
              <a:rPr b="1" lang="ja-JP" sz="1400">
                <a:solidFill>
                  <a:schemeClr val="dk1"/>
                </a:solidFill>
                <a:latin typeface="Arial"/>
                <a:ea typeface="Arial"/>
                <a:cs typeface="Arial"/>
                <a:sym typeface="Arial"/>
              </a:rPr>
              <a:t>テンプレート</a:t>
            </a:r>
            <a:r>
              <a:rPr lang="ja-JP" sz="1400">
                <a:solidFill>
                  <a:schemeClr val="dk1"/>
                </a:solidFill>
                <a:latin typeface="Arial"/>
                <a:ea typeface="Arial"/>
                <a:cs typeface="Arial"/>
                <a:sym typeface="Arial"/>
              </a:rPr>
              <a:t>で自動化する</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IaC(*)の考え方でテンプレートを使ってシステム構成・変更・管理を行うことで、</a:t>
            </a:r>
            <a:r>
              <a:rPr b="1" lang="ja-JP" sz="1400">
                <a:solidFill>
                  <a:schemeClr val="dk1"/>
                </a:solidFill>
                <a:latin typeface="Arial"/>
                <a:ea typeface="Arial"/>
                <a:cs typeface="Arial"/>
                <a:sym typeface="Arial"/>
              </a:rPr>
              <a:t>テンプレート</a:t>
            </a:r>
            <a:r>
              <a:rPr lang="ja-JP" sz="1400">
                <a:solidFill>
                  <a:schemeClr val="dk1"/>
                </a:solidFill>
                <a:latin typeface="Arial"/>
                <a:ea typeface="Arial"/>
                <a:cs typeface="Arial"/>
                <a:sym typeface="Arial"/>
              </a:rPr>
              <a:t>を見ればシステム構成がわかる</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典型的なシステム構成については、ベストプラクティスとなる共通</a:t>
            </a:r>
            <a:r>
              <a:rPr b="1" lang="ja-JP" sz="1400">
                <a:solidFill>
                  <a:schemeClr val="dk1"/>
                </a:solidFill>
                <a:latin typeface="Arial"/>
                <a:ea typeface="Arial"/>
                <a:cs typeface="Arial"/>
                <a:sym typeface="Arial"/>
              </a:rPr>
              <a:t>テンプレート</a:t>
            </a:r>
            <a:r>
              <a:rPr lang="ja-JP" sz="1400">
                <a:solidFill>
                  <a:schemeClr val="dk1"/>
                </a:solidFill>
                <a:latin typeface="Arial"/>
                <a:ea typeface="Arial"/>
                <a:cs typeface="Arial"/>
                <a:sym typeface="Arial"/>
              </a:rPr>
              <a:t>を配布・共有し品質を一定に維持する</a:t>
            </a:r>
            <a:endParaRPr sz="1400">
              <a:solidFill>
                <a:schemeClr val="dk1"/>
              </a:solidFill>
              <a:latin typeface="Arial"/>
              <a:ea typeface="Arial"/>
              <a:cs typeface="Arial"/>
              <a:sym typeface="Arial"/>
            </a:endParaRPr>
          </a:p>
          <a:p>
            <a:pPr indent="-179388" lvl="0" marL="179388" marR="0" rtl="0" algn="l">
              <a:spcBef>
                <a:spcPts val="600"/>
              </a:spcBef>
              <a:spcAft>
                <a:spcPts val="0"/>
              </a:spcAft>
              <a:buNone/>
            </a:pPr>
            <a:r>
              <a:rPr b="1" lang="ja-JP" sz="1800">
                <a:solidFill>
                  <a:schemeClr val="dk1"/>
                </a:solidFill>
                <a:latin typeface="Arial"/>
                <a:ea typeface="Arial"/>
                <a:cs typeface="Arial"/>
                <a:sym typeface="Arial"/>
              </a:rPr>
              <a:t>予防的・発見的統制による監視</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意図したシステム構成を強制（</a:t>
            </a:r>
            <a:r>
              <a:rPr b="1" lang="ja-JP" sz="1400">
                <a:solidFill>
                  <a:schemeClr val="dk1"/>
                </a:solidFill>
                <a:latin typeface="Arial"/>
                <a:ea typeface="Arial"/>
                <a:cs typeface="Arial"/>
                <a:sym typeface="Arial"/>
              </a:rPr>
              <a:t>予防的統制</a:t>
            </a:r>
            <a:r>
              <a:rPr lang="ja-JP" sz="1400">
                <a:solidFill>
                  <a:schemeClr val="dk1"/>
                </a:solidFill>
                <a:latin typeface="Arial"/>
                <a:ea typeface="Arial"/>
                <a:cs typeface="Arial"/>
                <a:sym typeface="Arial"/>
              </a:rPr>
              <a:t>）もしくは意図したシステム構成になっているかを自動検出する（</a:t>
            </a:r>
            <a:r>
              <a:rPr b="1" lang="ja-JP" sz="1400">
                <a:solidFill>
                  <a:schemeClr val="dk1"/>
                </a:solidFill>
                <a:latin typeface="Arial"/>
                <a:ea typeface="Arial"/>
                <a:cs typeface="Arial"/>
                <a:sym typeface="Arial"/>
              </a:rPr>
              <a:t>発見的統制</a:t>
            </a:r>
            <a:r>
              <a:rPr lang="ja-JP"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indent="-179388" lvl="0" marL="179388" marR="0" rtl="0" algn="l">
              <a:spcBef>
                <a:spcPts val="600"/>
              </a:spcBef>
              <a:spcAft>
                <a:spcPts val="0"/>
              </a:spcAft>
              <a:buNone/>
            </a:pPr>
            <a:r>
              <a:rPr b="1" lang="ja-JP" sz="1800">
                <a:solidFill>
                  <a:schemeClr val="dk1"/>
                </a:solidFill>
                <a:latin typeface="Arial"/>
                <a:ea typeface="Arial"/>
                <a:cs typeface="Arial"/>
                <a:sym typeface="Arial"/>
              </a:rPr>
              <a:t>ダッシュボードによる可視化</a:t>
            </a:r>
            <a:br>
              <a:rPr b="1" lang="ja-JP" sz="1600">
                <a:solidFill>
                  <a:schemeClr val="dk1"/>
                </a:solidFill>
                <a:latin typeface="Arial"/>
                <a:ea typeface="Arial"/>
                <a:cs typeface="Arial"/>
                <a:sym typeface="Arial"/>
              </a:rPr>
            </a:br>
            <a:r>
              <a:rPr lang="ja-JP" sz="1400">
                <a:solidFill>
                  <a:schemeClr val="dk1"/>
                </a:solidFill>
                <a:latin typeface="Arial"/>
                <a:ea typeface="Arial"/>
                <a:cs typeface="Arial"/>
                <a:sym typeface="Arial"/>
              </a:rPr>
              <a:t>データを自動収集し、予防的・発見的統制の遵守状況を</a:t>
            </a:r>
            <a:r>
              <a:rPr b="1" lang="ja-JP" sz="1400">
                <a:solidFill>
                  <a:schemeClr val="dk1"/>
                </a:solidFill>
                <a:latin typeface="Arial"/>
                <a:ea typeface="Arial"/>
                <a:cs typeface="Arial"/>
                <a:sym typeface="Arial"/>
              </a:rPr>
              <a:t>ダッシュボード</a:t>
            </a:r>
            <a:r>
              <a:rPr lang="ja-JP" sz="1400">
                <a:solidFill>
                  <a:schemeClr val="dk1"/>
                </a:solidFill>
                <a:latin typeface="Arial"/>
                <a:ea typeface="Arial"/>
                <a:cs typeface="Arial"/>
                <a:sym typeface="Arial"/>
              </a:rPr>
              <a:t>で見える化する</a:t>
            </a:r>
            <a:endParaRPr sz="1400">
              <a:solidFill>
                <a:schemeClr val="dk1"/>
              </a:solidFill>
              <a:latin typeface="Arial"/>
              <a:ea typeface="Arial"/>
              <a:cs typeface="Arial"/>
              <a:sym typeface="Arial"/>
            </a:endParaRPr>
          </a:p>
        </p:txBody>
      </p:sp>
      <p:sp>
        <p:nvSpPr>
          <p:cNvPr id="315" name="Google Shape;315;p10"/>
          <p:cNvSpPr/>
          <p:nvPr/>
        </p:nvSpPr>
        <p:spPr>
          <a:xfrm>
            <a:off x="834476" y="3648672"/>
            <a:ext cx="10515599" cy="2061521"/>
          </a:xfrm>
          <a:prstGeom prst="rect">
            <a:avLst/>
          </a:prstGeom>
          <a:noFill/>
          <a:ln cap="flat" cmpd="sng" w="9525">
            <a:solidFill>
              <a:schemeClr val="dk1"/>
            </a:solidFill>
            <a:prstDash val="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ガバメントクラウド</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利用システム</a:t>
            </a:r>
            <a:endParaRPr/>
          </a:p>
        </p:txBody>
      </p:sp>
      <p:sp>
        <p:nvSpPr>
          <p:cNvPr id="316" name="Google Shape;316;p10"/>
          <p:cNvSpPr/>
          <p:nvPr/>
        </p:nvSpPr>
        <p:spPr>
          <a:xfrm>
            <a:off x="834475" y="5796923"/>
            <a:ext cx="10515599" cy="746824"/>
          </a:xfrm>
          <a:prstGeom prst="rect">
            <a:avLst/>
          </a:prstGeom>
          <a:noFill/>
          <a:ln cap="flat" cmpd="sng" w="9525">
            <a:solidFill>
              <a:schemeClr val="dk1"/>
            </a:solidFill>
            <a:prstDash val="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ガバメントクラウド</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全体管理</a:t>
            </a:r>
            <a:endParaRPr/>
          </a:p>
        </p:txBody>
      </p:sp>
      <p:cxnSp>
        <p:nvCxnSpPr>
          <p:cNvPr id="317" name="Google Shape;317;p10"/>
          <p:cNvCxnSpPr>
            <a:endCxn id="272" idx="2"/>
          </p:cNvCxnSpPr>
          <p:nvPr/>
        </p:nvCxnSpPr>
        <p:spPr>
          <a:xfrm rot="10800000">
            <a:off x="8419197" y="5091025"/>
            <a:ext cx="0" cy="833400"/>
          </a:xfrm>
          <a:prstGeom prst="straightConnector1">
            <a:avLst/>
          </a:prstGeom>
          <a:noFill/>
          <a:ln cap="flat" cmpd="sng" w="9525">
            <a:solidFill>
              <a:schemeClr val="dk1"/>
            </a:solidFill>
            <a:prstDash val="solid"/>
            <a:miter lim="800000"/>
            <a:headEnd len="sm" w="sm" type="none"/>
            <a:tailEnd len="med" w="med" type="triangle"/>
          </a:ln>
        </p:spPr>
      </p:cxnSp>
      <p:sp>
        <p:nvSpPr>
          <p:cNvPr id="318" name="Google Shape;318;p10"/>
          <p:cNvSpPr txBox="1"/>
          <p:nvPr/>
        </p:nvSpPr>
        <p:spPr>
          <a:xfrm>
            <a:off x="7214082" y="5489773"/>
            <a:ext cx="1261884"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ja-JP" sz="1200">
                <a:solidFill>
                  <a:schemeClr val="dk1"/>
                </a:solidFill>
                <a:latin typeface="Arial"/>
                <a:ea typeface="Arial"/>
                <a:cs typeface="Arial"/>
                <a:sym typeface="Arial"/>
              </a:rPr>
              <a:t>テンプレートと</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ガイド提供</a:t>
            </a:r>
            <a:endParaRPr sz="1200">
              <a:solidFill>
                <a:schemeClr val="dk1"/>
              </a:solidFill>
              <a:latin typeface="Arial"/>
              <a:ea typeface="Arial"/>
              <a:cs typeface="Arial"/>
              <a:sym typeface="Arial"/>
            </a:endParaRPr>
          </a:p>
        </p:txBody>
      </p:sp>
      <p:sp>
        <p:nvSpPr>
          <p:cNvPr id="319" name="Google Shape;319;p10"/>
          <p:cNvSpPr txBox="1"/>
          <p:nvPr/>
        </p:nvSpPr>
        <p:spPr>
          <a:xfrm>
            <a:off x="9598631" y="3265677"/>
            <a:ext cx="187743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000">
                <a:solidFill>
                  <a:schemeClr val="dk1"/>
                </a:solidFill>
                <a:latin typeface="Arial"/>
                <a:ea typeface="Arial"/>
                <a:cs typeface="Arial"/>
                <a:sym typeface="Arial"/>
              </a:rPr>
              <a:t>* IaC: Infrastracture as Code</a:t>
            </a:r>
            <a:endParaRPr sz="10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1"/>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325" name="Google Shape;325;p11"/>
          <p:cNvSpPr txBox="1"/>
          <p:nvPr>
            <p:ph type="title"/>
          </p:nvPr>
        </p:nvSpPr>
        <p:spPr>
          <a:xfrm>
            <a:off x="838200" y="2379154"/>
            <a:ext cx="10515600" cy="1313308"/>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ガバメントクラウド利用者側</a:t>
            </a:r>
            <a:br>
              <a:rPr lang="ja-JP"/>
            </a:br>
            <a:r>
              <a:rPr lang="ja-JP"/>
              <a:t>でのセキュリティの考え方</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2"/>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利用システムをどう守るか</a:t>
            </a:r>
            <a:endParaRPr/>
          </a:p>
        </p:txBody>
      </p:sp>
      <p:sp>
        <p:nvSpPr>
          <p:cNvPr id="331" name="Google Shape;331;p12"/>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cxnSp>
        <p:nvCxnSpPr>
          <p:cNvPr id="332" name="Google Shape;332;p12"/>
          <p:cNvCxnSpPr>
            <a:stCxn id="333" idx="1"/>
          </p:cNvCxnSpPr>
          <p:nvPr/>
        </p:nvCxnSpPr>
        <p:spPr>
          <a:xfrm rot="10800000">
            <a:off x="5716586" y="4139831"/>
            <a:ext cx="1796100" cy="218400"/>
          </a:xfrm>
          <a:prstGeom prst="straightConnector1">
            <a:avLst/>
          </a:prstGeom>
          <a:noFill/>
          <a:ln cap="flat" cmpd="sng" w="9525">
            <a:solidFill>
              <a:schemeClr val="dk1"/>
            </a:solidFill>
            <a:prstDash val="solid"/>
            <a:miter lim="800000"/>
            <a:headEnd len="sm" w="sm" type="none"/>
            <a:tailEnd len="med" w="med" type="triangle"/>
          </a:ln>
        </p:spPr>
      </p:cxnSp>
      <p:sp>
        <p:nvSpPr>
          <p:cNvPr id="334" name="Google Shape;334;p12"/>
          <p:cNvSpPr/>
          <p:nvPr/>
        </p:nvSpPr>
        <p:spPr>
          <a:xfrm>
            <a:off x="4196762" y="1705312"/>
            <a:ext cx="453126" cy="453126"/>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5" name="Google Shape;335;p12"/>
          <p:cNvSpPr/>
          <p:nvPr/>
        </p:nvSpPr>
        <p:spPr>
          <a:xfrm>
            <a:off x="1370985" y="3695241"/>
            <a:ext cx="453126" cy="453126"/>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 name="Google Shape;336;p12"/>
          <p:cNvSpPr/>
          <p:nvPr/>
        </p:nvSpPr>
        <p:spPr>
          <a:xfrm>
            <a:off x="10225224" y="4148908"/>
            <a:ext cx="453126" cy="453126"/>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 name="Google Shape;337;p12"/>
          <p:cNvSpPr/>
          <p:nvPr/>
        </p:nvSpPr>
        <p:spPr>
          <a:xfrm>
            <a:off x="3140064" y="3510401"/>
            <a:ext cx="2581836" cy="779886"/>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lt1"/>
                </a:solidFill>
                <a:latin typeface="Arial"/>
                <a:ea typeface="Arial"/>
                <a:cs typeface="Arial"/>
                <a:sym typeface="Arial"/>
              </a:rPr>
              <a:t>利用システム</a:t>
            </a:r>
            <a:endParaRPr/>
          </a:p>
        </p:txBody>
      </p:sp>
      <p:sp>
        <p:nvSpPr>
          <p:cNvPr id="338" name="Google Shape;338;p12"/>
          <p:cNvSpPr/>
          <p:nvPr/>
        </p:nvSpPr>
        <p:spPr>
          <a:xfrm>
            <a:off x="3140064" y="5713424"/>
            <a:ext cx="2581836" cy="307578"/>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全体管理</a:t>
            </a:r>
            <a:endParaRPr/>
          </a:p>
        </p:txBody>
      </p:sp>
      <p:sp>
        <p:nvSpPr>
          <p:cNvPr id="339" name="Google Shape;339;p12"/>
          <p:cNvSpPr/>
          <p:nvPr/>
        </p:nvSpPr>
        <p:spPr>
          <a:xfrm>
            <a:off x="9198497" y="5788864"/>
            <a:ext cx="256514" cy="256514"/>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 name="Google Shape;340;p12"/>
          <p:cNvSpPr txBox="1"/>
          <p:nvPr/>
        </p:nvSpPr>
        <p:spPr>
          <a:xfrm>
            <a:off x="874840" y="4146295"/>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システム利用者</a:t>
            </a:r>
            <a:endParaRPr/>
          </a:p>
        </p:txBody>
      </p:sp>
      <p:sp>
        <p:nvSpPr>
          <p:cNvPr id="341" name="Google Shape;341;p12"/>
          <p:cNvSpPr txBox="1"/>
          <p:nvPr/>
        </p:nvSpPr>
        <p:spPr>
          <a:xfrm>
            <a:off x="9736568" y="3796180"/>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システム管理者</a:t>
            </a:r>
            <a:endParaRPr/>
          </a:p>
        </p:txBody>
      </p:sp>
      <p:sp>
        <p:nvSpPr>
          <p:cNvPr id="342" name="Google Shape;342;p12"/>
          <p:cNvSpPr txBox="1"/>
          <p:nvPr/>
        </p:nvSpPr>
        <p:spPr>
          <a:xfrm>
            <a:off x="9736568" y="4623727"/>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システム運用者</a:t>
            </a:r>
            <a:endParaRPr/>
          </a:p>
        </p:txBody>
      </p:sp>
      <p:sp>
        <p:nvSpPr>
          <p:cNvPr id="343" name="Google Shape;343;p12"/>
          <p:cNvSpPr txBox="1"/>
          <p:nvPr/>
        </p:nvSpPr>
        <p:spPr>
          <a:xfrm>
            <a:off x="9391675" y="5808653"/>
            <a:ext cx="203132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ガバメントクラウド管理者</a:t>
            </a:r>
            <a:endParaRPr/>
          </a:p>
        </p:txBody>
      </p:sp>
      <p:sp>
        <p:nvSpPr>
          <p:cNvPr id="344" name="Google Shape;344;p12"/>
          <p:cNvSpPr/>
          <p:nvPr/>
        </p:nvSpPr>
        <p:spPr>
          <a:xfrm>
            <a:off x="7516149" y="3428533"/>
            <a:ext cx="1820471" cy="57573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800">
                <a:solidFill>
                  <a:schemeClr val="dk1"/>
                </a:solidFill>
                <a:latin typeface="Arial"/>
                <a:ea typeface="Arial"/>
                <a:cs typeface="Arial"/>
                <a:sym typeface="Arial"/>
              </a:rPr>
              <a:t>ダッシュボード</a:t>
            </a:r>
            <a:endParaRPr/>
          </a:p>
        </p:txBody>
      </p:sp>
      <p:sp>
        <p:nvSpPr>
          <p:cNvPr id="345" name="Google Shape;345;p12"/>
          <p:cNvSpPr/>
          <p:nvPr/>
        </p:nvSpPr>
        <p:spPr>
          <a:xfrm>
            <a:off x="8119290" y="3780322"/>
            <a:ext cx="223958" cy="123951"/>
          </a:xfrm>
          <a:custGeom>
            <a:rect b="b" l="l" r="r" t="t"/>
            <a:pathLst>
              <a:path extrusionOk="0" h="96" w="176">
                <a:moveTo>
                  <a:pt x="176" y="16"/>
                </a:moveTo>
                <a:cubicBezTo>
                  <a:pt x="176" y="25"/>
                  <a:pt x="169" y="32"/>
                  <a:pt x="160" y="32"/>
                </a:cubicBezTo>
                <a:cubicBezTo>
                  <a:pt x="159" y="32"/>
                  <a:pt x="157" y="32"/>
                  <a:pt x="156" y="31"/>
                </a:cubicBezTo>
                <a:cubicBezTo>
                  <a:pt x="127" y="60"/>
                  <a:pt x="127" y="60"/>
                  <a:pt x="127" y="60"/>
                </a:cubicBezTo>
                <a:cubicBezTo>
                  <a:pt x="128" y="61"/>
                  <a:pt x="128" y="63"/>
                  <a:pt x="128" y="64"/>
                </a:cubicBezTo>
                <a:cubicBezTo>
                  <a:pt x="128" y="73"/>
                  <a:pt x="121" y="80"/>
                  <a:pt x="112" y="80"/>
                </a:cubicBezTo>
                <a:cubicBezTo>
                  <a:pt x="103" y="80"/>
                  <a:pt x="96" y="73"/>
                  <a:pt x="96" y="64"/>
                </a:cubicBezTo>
                <a:cubicBezTo>
                  <a:pt x="96" y="63"/>
                  <a:pt x="96" y="61"/>
                  <a:pt x="97" y="60"/>
                </a:cubicBezTo>
                <a:cubicBezTo>
                  <a:pt x="76" y="39"/>
                  <a:pt x="76" y="39"/>
                  <a:pt x="76" y="39"/>
                </a:cubicBezTo>
                <a:cubicBezTo>
                  <a:pt x="75" y="40"/>
                  <a:pt x="73" y="40"/>
                  <a:pt x="72" y="40"/>
                </a:cubicBezTo>
                <a:cubicBezTo>
                  <a:pt x="71" y="40"/>
                  <a:pt x="69" y="40"/>
                  <a:pt x="68" y="39"/>
                </a:cubicBezTo>
                <a:cubicBezTo>
                  <a:pt x="31" y="76"/>
                  <a:pt x="31" y="76"/>
                  <a:pt x="31" y="76"/>
                </a:cubicBezTo>
                <a:cubicBezTo>
                  <a:pt x="32" y="77"/>
                  <a:pt x="32" y="79"/>
                  <a:pt x="32" y="80"/>
                </a:cubicBezTo>
                <a:cubicBezTo>
                  <a:pt x="32" y="89"/>
                  <a:pt x="25" y="96"/>
                  <a:pt x="16" y="96"/>
                </a:cubicBezTo>
                <a:cubicBezTo>
                  <a:pt x="7" y="96"/>
                  <a:pt x="0" y="89"/>
                  <a:pt x="0" y="80"/>
                </a:cubicBezTo>
                <a:cubicBezTo>
                  <a:pt x="0" y="71"/>
                  <a:pt x="7" y="64"/>
                  <a:pt x="16" y="64"/>
                </a:cubicBezTo>
                <a:cubicBezTo>
                  <a:pt x="17" y="64"/>
                  <a:pt x="19" y="64"/>
                  <a:pt x="20" y="65"/>
                </a:cubicBezTo>
                <a:cubicBezTo>
                  <a:pt x="57" y="28"/>
                  <a:pt x="57" y="28"/>
                  <a:pt x="57" y="28"/>
                </a:cubicBezTo>
                <a:cubicBezTo>
                  <a:pt x="56" y="27"/>
                  <a:pt x="56" y="25"/>
                  <a:pt x="56" y="24"/>
                </a:cubicBezTo>
                <a:cubicBezTo>
                  <a:pt x="56" y="15"/>
                  <a:pt x="63" y="8"/>
                  <a:pt x="72" y="8"/>
                </a:cubicBezTo>
                <a:cubicBezTo>
                  <a:pt x="81" y="8"/>
                  <a:pt x="88" y="15"/>
                  <a:pt x="88" y="24"/>
                </a:cubicBezTo>
                <a:cubicBezTo>
                  <a:pt x="88" y="25"/>
                  <a:pt x="88" y="27"/>
                  <a:pt x="87" y="28"/>
                </a:cubicBezTo>
                <a:cubicBezTo>
                  <a:pt x="108" y="49"/>
                  <a:pt x="108" y="49"/>
                  <a:pt x="108" y="49"/>
                </a:cubicBezTo>
                <a:cubicBezTo>
                  <a:pt x="109" y="48"/>
                  <a:pt x="111" y="48"/>
                  <a:pt x="112" y="48"/>
                </a:cubicBezTo>
                <a:cubicBezTo>
                  <a:pt x="113" y="48"/>
                  <a:pt x="115" y="48"/>
                  <a:pt x="116" y="49"/>
                </a:cubicBezTo>
                <a:cubicBezTo>
                  <a:pt x="145" y="20"/>
                  <a:pt x="145" y="20"/>
                  <a:pt x="145" y="20"/>
                </a:cubicBezTo>
                <a:cubicBezTo>
                  <a:pt x="144" y="19"/>
                  <a:pt x="144" y="17"/>
                  <a:pt x="144" y="16"/>
                </a:cubicBezTo>
                <a:cubicBezTo>
                  <a:pt x="144" y="7"/>
                  <a:pt x="151" y="0"/>
                  <a:pt x="160" y="0"/>
                </a:cubicBezTo>
                <a:cubicBezTo>
                  <a:pt x="169" y="0"/>
                  <a:pt x="176" y="7"/>
                  <a:pt x="176" y="16"/>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Arial"/>
              <a:ea typeface="Arial"/>
              <a:cs typeface="Arial"/>
              <a:sym typeface="Arial"/>
            </a:endParaRPr>
          </a:p>
        </p:txBody>
      </p:sp>
      <p:sp>
        <p:nvSpPr>
          <p:cNvPr id="346" name="Google Shape;346;p12"/>
          <p:cNvSpPr/>
          <p:nvPr/>
        </p:nvSpPr>
        <p:spPr>
          <a:xfrm>
            <a:off x="8520199" y="3767617"/>
            <a:ext cx="173222" cy="173222"/>
          </a:xfrm>
          <a:custGeom>
            <a:rect b="b" l="l" r="r" t="t"/>
            <a:pathLst>
              <a:path extrusionOk="0" h="160" w="160">
                <a:moveTo>
                  <a:pt x="72" y="57"/>
                </a:moveTo>
                <a:cubicBezTo>
                  <a:pt x="72" y="0"/>
                  <a:pt x="72" y="0"/>
                  <a:pt x="72" y="0"/>
                </a:cubicBezTo>
                <a:cubicBezTo>
                  <a:pt x="32" y="4"/>
                  <a:pt x="0" y="38"/>
                  <a:pt x="0" y="80"/>
                </a:cubicBezTo>
                <a:cubicBezTo>
                  <a:pt x="0" y="122"/>
                  <a:pt x="32" y="156"/>
                  <a:pt x="72" y="160"/>
                </a:cubicBezTo>
                <a:cubicBezTo>
                  <a:pt x="72" y="103"/>
                  <a:pt x="72" y="103"/>
                  <a:pt x="72" y="103"/>
                </a:cubicBezTo>
                <a:cubicBezTo>
                  <a:pt x="64" y="99"/>
                  <a:pt x="56" y="91"/>
                  <a:pt x="56" y="80"/>
                </a:cubicBezTo>
                <a:cubicBezTo>
                  <a:pt x="56" y="69"/>
                  <a:pt x="64" y="61"/>
                  <a:pt x="72" y="57"/>
                </a:cubicBezTo>
                <a:close/>
                <a:moveTo>
                  <a:pt x="103" y="72"/>
                </a:moveTo>
                <a:cubicBezTo>
                  <a:pt x="160" y="72"/>
                  <a:pt x="160" y="72"/>
                  <a:pt x="160" y="72"/>
                </a:cubicBezTo>
                <a:cubicBezTo>
                  <a:pt x="156" y="34"/>
                  <a:pt x="128" y="4"/>
                  <a:pt x="88" y="0"/>
                </a:cubicBezTo>
                <a:cubicBezTo>
                  <a:pt x="88" y="57"/>
                  <a:pt x="88" y="57"/>
                  <a:pt x="88" y="57"/>
                </a:cubicBezTo>
                <a:cubicBezTo>
                  <a:pt x="96" y="60"/>
                  <a:pt x="100" y="65"/>
                  <a:pt x="103" y="72"/>
                </a:cubicBezTo>
                <a:close/>
                <a:moveTo>
                  <a:pt x="88" y="103"/>
                </a:moveTo>
                <a:cubicBezTo>
                  <a:pt x="88" y="160"/>
                  <a:pt x="88" y="160"/>
                  <a:pt x="88" y="160"/>
                </a:cubicBezTo>
                <a:cubicBezTo>
                  <a:pt x="128" y="156"/>
                  <a:pt x="156" y="126"/>
                  <a:pt x="160" y="88"/>
                </a:cubicBezTo>
                <a:cubicBezTo>
                  <a:pt x="103" y="88"/>
                  <a:pt x="103" y="88"/>
                  <a:pt x="103" y="88"/>
                </a:cubicBezTo>
                <a:cubicBezTo>
                  <a:pt x="100" y="95"/>
                  <a:pt x="96" y="100"/>
                  <a:pt x="88" y="103"/>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Arial"/>
              <a:ea typeface="Arial"/>
              <a:cs typeface="Arial"/>
              <a:sym typeface="Arial"/>
            </a:endParaRPr>
          </a:p>
        </p:txBody>
      </p:sp>
      <p:sp>
        <p:nvSpPr>
          <p:cNvPr id="333" name="Google Shape;333;p12"/>
          <p:cNvSpPr/>
          <p:nvPr/>
        </p:nvSpPr>
        <p:spPr>
          <a:xfrm>
            <a:off x="7512686" y="4070742"/>
            <a:ext cx="1820471" cy="57497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800">
                <a:solidFill>
                  <a:schemeClr val="dk1"/>
                </a:solidFill>
                <a:latin typeface="Arial"/>
                <a:ea typeface="Arial"/>
                <a:cs typeface="Arial"/>
                <a:sym typeface="Arial"/>
              </a:rPr>
              <a:t>テンプレート</a:t>
            </a:r>
            <a:endParaRPr/>
          </a:p>
        </p:txBody>
      </p:sp>
      <p:sp>
        <p:nvSpPr>
          <p:cNvPr id="347" name="Google Shape;347;p12"/>
          <p:cNvSpPr/>
          <p:nvPr/>
        </p:nvSpPr>
        <p:spPr>
          <a:xfrm>
            <a:off x="8840046" y="4508148"/>
            <a:ext cx="755651" cy="574977"/>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ガイド</a:t>
            </a:r>
            <a:endParaRPr/>
          </a:p>
        </p:txBody>
      </p:sp>
      <p:sp>
        <p:nvSpPr>
          <p:cNvPr id="348" name="Google Shape;348;p12"/>
          <p:cNvSpPr/>
          <p:nvPr/>
        </p:nvSpPr>
        <p:spPr>
          <a:xfrm>
            <a:off x="7552737" y="5759449"/>
            <a:ext cx="1567788" cy="258641"/>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ja-JP" sz="1400">
                <a:solidFill>
                  <a:schemeClr val="dk1"/>
                </a:solidFill>
                <a:latin typeface="Arial"/>
                <a:ea typeface="Arial"/>
                <a:cs typeface="Arial"/>
                <a:sym typeface="Arial"/>
              </a:rPr>
              <a:t>ダッシュボード</a:t>
            </a:r>
            <a:endParaRPr/>
          </a:p>
        </p:txBody>
      </p:sp>
      <p:cxnSp>
        <p:nvCxnSpPr>
          <p:cNvPr id="349" name="Google Shape;349;p12"/>
          <p:cNvCxnSpPr>
            <a:endCxn id="344" idx="3"/>
          </p:cNvCxnSpPr>
          <p:nvPr/>
        </p:nvCxnSpPr>
        <p:spPr>
          <a:xfrm rot="10800000">
            <a:off x="9336620" y="3716401"/>
            <a:ext cx="789900" cy="0"/>
          </a:xfrm>
          <a:prstGeom prst="straightConnector1">
            <a:avLst/>
          </a:prstGeom>
          <a:noFill/>
          <a:ln cap="flat" cmpd="sng" w="9525">
            <a:solidFill>
              <a:schemeClr val="dk1"/>
            </a:solidFill>
            <a:prstDash val="solid"/>
            <a:miter lim="800000"/>
            <a:headEnd len="sm" w="sm" type="none"/>
            <a:tailEnd len="med" w="med" type="triangle"/>
          </a:ln>
        </p:spPr>
      </p:cxnSp>
      <p:cxnSp>
        <p:nvCxnSpPr>
          <p:cNvPr id="350" name="Google Shape;350;p12"/>
          <p:cNvCxnSpPr>
            <a:stCxn id="344" idx="1"/>
            <a:endCxn id="351" idx="4"/>
          </p:cNvCxnSpPr>
          <p:nvPr/>
        </p:nvCxnSpPr>
        <p:spPr>
          <a:xfrm flipH="1">
            <a:off x="5633649" y="3716401"/>
            <a:ext cx="1882500" cy="54900"/>
          </a:xfrm>
          <a:prstGeom prst="straightConnector1">
            <a:avLst/>
          </a:prstGeom>
          <a:noFill/>
          <a:ln cap="flat" cmpd="sng" w="9525">
            <a:solidFill>
              <a:schemeClr val="dk1"/>
            </a:solidFill>
            <a:prstDash val="solid"/>
            <a:miter lim="800000"/>
            <a:headEnd len="sm" w="sm" type="none"/>
            <a:tailEnd len="med" w="med" type="triangle"/>
          </a:ln>
        </p:spPr>
      </p:cxnSp>
      <p:sp>
        <p:nvSpPr>
          <p:cNvPr id="351" name="Google Shape;351;p12"/>
          <p:cNvSpPr/>
          <p:nvPr/>
        </p:nvSpPr>
        <p:spPr>
          <a:xfrm>
            <a:off x="5221184" y="3595447"/>
            <a:ext cx="412376" cy="351944"/>
          </a:xfrm>
          <a:prstGeom prst="can">
            <a:avLst>
              <a:gd fmla="val 25000" name="adj"/>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52" name="Google Shape;352;p12"/>
          <p:cNvCxnSpPr>
            <a:endCxn id="333" idx="3"/>
          </p:cNvCxnSpPr>
          <p:nvPr/>
        </p:nvCxnSpPr>
        <p:spPr>
          <a:xfrm rot="10800000">
            <a:off x="9333157" y="4358231"/>
            <a:ext cx="789900" cy="0"/>
          </a:xfrm>
          <a:prstGeom prst="straightConnector1">
            <a:avLst/>
          </a:prstGeom>
          <a:noFill/>
          <a:ln cap="flat" cmpd="sng" w="9525">
            <a:solidFill>
              <a:schemeClr val="dk1"/>
            </a:solidFill>
            <a:prstDash val="solid"/>
            <a:miter lim="800000"/>
            <a:headEnd len="sm" w="sm" type="none"/>
            <a:tailEnd len="med" w="med" type="triangle"/>
          </a:ln>
        </p:spPr>
      </p:cxnSp>
      <p:cxnSp>
        <p:nvCxnSpPr>
          <p:cNvPr id="353" name="Google Shape;353;p12"/>
          <p:cNvCxnSpPr>
            <a:stCxn id="342" idx="2"/>
            <a:endCxn id="354" idx="0"/>
          </p:cNvCxnSpPr>
          <p:nvPr/>
        </p:nvCxnSpPr>
        <p:spPr>
          <a:xfrm>
            <a:off x="10457278" y="4931504"/>
            <a:ext cx="12600" cy="532200"/>
          </a:xfrm>
          <a:prstGeom prst="straightConnector1">
            <a:avLst/>
          </a:prstGeom>
          <a:noFill/>
          <a:ln cap="flat" cmpd="sng" w="9525">
            <a:solidFill>
              <a:schemeClr val="dk1"/>
            </a:solidFill>
            <a:prstDash val="solid"/>
            <a:miter lim="800000"/>
            <a:headEnd len="sm" w="sm" type="none"/>
            <a:tailEnd len="med" w="med" type="triangle"/>
          </a:ln>
        </p:spPr>
      </p:cxnSp>
      <p:sp>
        <p:nvSpPr>
          <p:cNvPr id="354" name="Google Shape;354;p12"/>
          <p:cNvSpPr/>
          <p:nvPr/>
        </p:nvSpPr>
        <p:spPr>
          <a:xfrm>
            <a:off x="9857889" y="5463777"/>
            <a:ext cx="1224009" cy="26845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環境依頼</a:t>
            </a:r>
            <a:endParaRPr/>
          </a:p>
        </p:txBody>
      </p:sp>
      <p:cxnSp>
        <p:nvCxnSpPr>
          <p:cNvPr id="355" name="Google Shape;355;p12"/>
          <p:cNvCxnSpPr>
            <a:stCxn id="338" idx="0"/>
            <a:endCxn id="356" idx="2"/>
          </p:cNvCxnSpPr>
          <p:nvPr/>
        </p:nvCxnSpPr>
        <p:spPr>
          <a:xfrm rot="10800000">
            <a:off x="4430082" y="5157224"/>
            <a:ext cx="900" cy="556200"/>
          </a:xfrm>
          <a:prstGeom prst="straightConnector1">
            <a:avLst/>
          </a:prstGeom>
          <a:noFill/>
          <a:ln cap="flat" cmpd="sng" w="9525">
            <a:solidFill>
              <a:schemeClr val="dk1"/>
            </a:solidFill>
            <a:prstDash val="solid"/>
            <a:miter lim="800000"/>
            <a:headEnd len="sm" w="sm" type="none"/>
            <a:tailEnd len="med" w="med" type="triangle"/>
          </a:ln>
        </p:spPr>
      </p:cxnSp>
      <p:sp>
        <p:nvSpPr>
          <p:cNvPr id="357" name="Google Shape;357;p12"/>
          <p:cNvSpPr/>
          <p:nvPr/>
        </p:nvSpPr>
        <p:spPr>
          <a:xfrm>
            <a:off x="5321071" y="5802419"/>
            <a:ext cx="210822" cy="154474"/>
          </a:xfrm>
          <a:prstGeom prst="can">
            <a:avLst>
              <a:gd fmla="val 25000" name="adj"/>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58" name="Google Shape;358;p12"/>
          <p:cNvCxnSpPr>
            <a:stCxn id="357" idx="1"/>
            <a:endCxn id="351" idx="3"/>
          </p:cNvCxnSpPr>
          <p:nvPr/>
        </p:nvCxnSpPr>
        <p:spPr>
          <a:xfrm flipH="1" rot="10800000">
            <a:off x="5426482" y="3947519"/>
            <a:ext cx="900" cy="1854900"/>
          </a:xfrm>
          <a:prstGeom prst="straightConnector1">
            <a:avLst/>
          </a:prstGeom>
          <a:noFill/>
          <a:ln cap="flat" cmpd="sng" w="9525">
            <a:solidFill>
              <a:schemeClr val="dk1"/>
            </a:solidFill>
            <a:prstDash val="solid"/>
            <a:miter lim="800000"/>
            <a:headEnd len="sm" w="sm" type="none"/>
            <a:tailEnd len="med" w="med" type="triangle"/>
          </a:ln>
        </p:spPr>
      </p:cxnSp>
      <p:sp>
        <p:nvSpPr>
          <p:cNvPr id="356" name="Google Shape;356;p12"/>
          <p:cNvSpPr/>
          <p:nvPr/>
        </p:nvSpPr>
        <p:spPr>
          <a:xfrm>
            <a:off x="2706881" y="4878102"/>
            <a:ext cx="3446533" cy="27919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環境</a:t>
            </a:r>
            <a:endParaRPr/>
          </a:p>
        </p:txBody>
      </p:sp>
      <p:sp>
        <p:nvSpPr>
          <p:cNvPr id="359" name="Google Shape;359;p12"/>
          <p:cNvSpPr/>
          <p:nvPr/>
        </p:nvSpPr>
        <p:spPr>
          <a:xfrm>
            <a:off x="2702101" y="3972871"/>
            <a:ext cx="3442448" cy="824753"/>
          </a:xfrm>
          <a:custGeom>
            <a:rect b="b" l="l" r="r" t="t"/>
            <a:pathLst>
              <a:path extrusionOk="0" h="824753" w="3442448">
                <a:moveTo>
                  <a:pt x="0" y="0"/>
                </a:moveTo>
                <a:lnTo>
                  <a:pt x="0" y="824753"/>
                </a:lnTo>
                <a:lnTo>
                  <a:pt x="3442448" y="824753"/>
                </a:lnTo>
                <a:lnTo>
                  <a:pt x="3442448" y="0"/>
                </a:lnTo>
                <a:lnTo>
                  <a:pt x="3209365" y="0"/>
                </a:lnTo>
                <a:lnTo>
                  <a:pt x="3209365" y="412376"/>
                </a:lnTo>
                <a:lnTo>
                  <a:pt x="251012" y="412376"/>
                </a:lnTo>
                <a:lnTo>
                  <a:pt x="251012" y="8965"/>
                </a:lnTo>
                <a:lnTo>
                  <a:pt x="0" y="0"/>
                </a:lnTo>
                <a:close/>
              </a:path>
            </a:pathLst>
          </a:cu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0" name="Google Shape;360;p12"/>
          <p:cNvSpPr txBox="1"/>
          <p:nvPr/>
        </p:nvSpPr>
        <p:spPr>
          <a:xfrm>
            <a:off x="3365878" y="4410818"/>
            <a:ext cx="22621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800">
                <a:solidFill>
                  <a:schemeClr val="dk1"/>
                </a:solidFill>
                <a:latin typeface="Arial"/>
                <a:ea typeface="Arial"/>
                <a:cs typeface="Arial"/>
                <a:sym typeface="Arial"/>
              </a:rPr>
              <a:t>予防的・発見的統制</a:t>
            </a:r>
            <a:endParaRPr/>
          </a:p>
        </p:txBody>
      </p:sp>
      <p:cxnSp>
        <p:nvCxnSpPr>
          <p:cNvPr id="361" name="Google Shape;361;p12"/>
          <p:cNvCxnSpPr>
            <a:stCxn id="348" idx="1"/>
            <a:endCxn id="357" idx="4"/>
          </p:cNvCxnSpPr>
          <p:nvPr/>
        </p:nvCxnSpPr>
        <p:spPr>
          <a:xfrm rot="10800000">
            <a:off x="5531937" y="5879770"/>
            <a:ext cx="2020800" cy="9000"/>
          </a:xfrm>
          <a:prstGeom prst="straightConnector1">
            <a:avLst/>
          </a:prstGeom>
          <a:noFill/>
          <a:ln cap="flat" cmpd="sng" w="9525">
            <a:solidFill>
              <a:schemeClr val="dk1"/>
            </a:solidFill>
            <a:prstDash val="solid"/>
            <a:miter lim="800000"/>
            <a:headEnd len="sm" w="sm" type="none"/>
            <a:tailEnd len="med" w="med" type="triangle"/>
          </a:ln>
        </p:spPr>
      </p:cxnSp>
      <p:cxnSp>
        <p:nvCxnSpPr>
          <p:cNvPr id="362" name="Google Shape;362;p12"/>
          <p:cNvCxnSpPr>
            <a:stCxn id="354" idx="1"/>
          </p:cNvCxnSpPr>
          <p:nvPr/>
        </p:nvCxnSpPr>
        <p:spPr>
          <a:xfrm flipH="1">
            <a:off x="5716389" y="5598004"/>
            <a:ext cx="4141500" cy="166500"/>
          </a:xfrm>
          <a:prstGeom prst="straightConnector1">
            <a:avLst/>
          </a:prstGeom>
          <a:noFill/>
          <a:ln cap="flat" cmpd="sng" w="9525">
            <a:solidFill>
              <a:schemeClr val="dk1"/>
            </a:solidFill>
            <a:prstDash val="solid"/>
            <a:miter lim="800000"/>
            <a:headEnd len="sm" w="sm" type="none"/>
            <a:tailEnd len="med" w="med" type="triangle"/>
          </a:ln>
        </p:spPr>
      </p:cxnSp>
      <p:cxnSp>
        <p:nvCxnSpPr>
          <p:cNvPr id="363" name="Google Shape;363;p12"/>
          <p:cNvCxnSpPr>
            <a:endCxn id="337" idx="1"/>
          </p:cNvCxnSpPr>
          <p:nvPr/>
        </p:nvCxnSpPr>
        <p:spPr>
          <a:xfrm>
            <a:off x="1929564" y="3900344"/>
            <a:ext cx="1210500" cy="0"/>
          </a:xfrm>
          <a:prstGeom prst="straightConnector1">
            <a:avLst/>
          </a:prstGeom>
          <a:noFill/>
          <a:ln cap="flat" cmpd="sng" w="9525">
            <a:solidFill>
              <a:schemeClr val="dk1"/>
            </a:solidFill>
            <a:prstDash val="solid"/>
            <a:miter lim="800000"/>
            <a:headEnd len="sm" w="sm" type="none"/>
            <a:tailEnd len="med" w="med" type="triangle"/>
          </a:ln>
        </p:spPr>
      </p:cxnSp>
      <p:sp>
        <p:nvSpPr>
          <p:cNvPr id="364" name="Google Shape;364;p12"/>
          <p:cNvSpPr txBox="1"/>
          <p:nvPr/>
        </p:nvSpPr>
        <p:spPr>
          <a:xfrm>
            <a:off x="6249146" y="3490618"/>
            <a:ext cx="95410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自動可視化</a:t>
            </a:r>
            <a:endParaRPr/>
          </a:p>
        </p:txBody>
      </p:sp>
      <p:sp>
        <p:nvSpPr>
          <p:cNvPr id="365" name="Google Shape;365;p12"/>
          <p:cNvSpPr txBox="1"/>
          <p:nvPr/>
        </p:nvSpPr>
        <p:spPr>
          <a:xfrm>
            <a:off x="6506062" y="4051562"/>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自動構築</a:t>
            </a:r>
            <a:endParaRPr/>
          </a:p>
        </p:txBody>
      </p:sp>
      <p:sp>
        <p:nvSpPr>
          <p:cNvPr id="366" name="Google Shape;366;p12"/>
          <p:cNvSpPr txBox="1"/>
          <p:nvPr/>
        </p:nvSpPr>
        <p:spPr>
          <a:xfrm>
            <a:off x="3696738" y="5427582"/>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chemeClr val="dk1"/>
                </a:solidFill>
                <a:latin typeface="Arial"/>
                <a:ea typeface="Arial"/>
                <a:cs typeface="Arial"/>
                <a:sym typeface="Arial"/>
              </a:rPr>
              <a:t>自動払出</a:t>
            </a:r>
            <a:endParaRPr/>
          </a:p>
        </p:txBody>
      </p:sp>
      <p:sp>
        <p:nvSpPr>
          <p:cNvPr id="367" name="Google Shape;367;p12"/>
          <p:cNvSpPr txBox="1"/>
          <p:nvPr/>
        </p:nvSpPr>
        <p:spPr>
          <a:xfrm>
            <a:off x="5360303" y="5295660"/>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200">
                <a:solidFill>
                  <a:schemeClr val="dk1"/>
                </a:solidFill>
                <a:latin typeface="Arial"/>
                <a:ea typeface="Arial"/>
                <a:cs typeface="Arial"/>
                <a:sym typeface="Arial"/>
              </a:rPr>
              <a:t>自動収集</a:t>
            </a:r>
            <a:endParaRPr/>
          </a:p>
        </p:txBody>
      </p:sp>
      <p:sp>
        <p:nvSpPr>
          <p:cNvPr id="368" name="Google Shape;368;p12"/>
          <p:cNvSpPr txBox="1"/>
          <p:nvPr/>
        </p:nvSpPr>
        <p:spPr>
          <a:xfrm>
            <a:off x="6105953" y="4431038"/>
            <a:ext cx="80021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自動</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チェック</a:t>
            </a:r>
            <a:endParaRPr sz="1200">
              <a:solidFill>
                <a:schemeClr val="dk1"/>
              </a:solidFill>
              <a:latin typeface="Arial"/>
              <a:ea typeface="Arial"/>
              <a:cs typeface="Arial"/>
              <a:sym typeface="Arial"/>
            </a:endParaRPr>
          </a:p>
        </p:txBody>
      </p:sp>
      <p:sp>
        <p:nvSpPr>
          <p:cNvPr id="369" name="Google Shape;369;p12"/>
          <p:cNvSpPr/>
          <p:nvPr/>
        </p:nvSpPr>
        <p:spPr>
          <a:xfrm>
            <a:off x="9120525" y="4902138"/>
            <a:ext cx="212632" cy="120049"/>
          </a:xfrm>
          <a:custGeom>
            <a:rect b="b" l="l" r="r" t="t"/>
            <a:pathLst>
              <a:path extrusionOk="0" h="271" w="480">
                <a:moveTo>
                  <a:pt x="0" y="54"/>
                </a:moveTo>
                <a:lnTo>
                  <a:pt x="373" y="54"/>
                </a:lnTo>
                <a:lnTo>
                  <a:pt x="373" y="0"/>
                </a:lnTo>
                <a:lnTo>
                  <a:pt x="0" y="0"/>
                </a:lnTo>
                <a:lnTo>
                  <a:pt x="0" y="54"/>
                </a:lnTo>
                <a:close/>
                <a:moveTo>
                  <a:pt x="0" y="163"/>
                </a:moveTo>
                <a:lnTo>
                  <a:pt x="373" y="163"/>
                </a:lnTo>
                <a:lnTo>
                  <a:pt x="373" y="108"/>
                </a:lnTo>
                <a:lnTo>
                  <a:pt x="0" y="108"/>
                </a:lnTo>
                <a:lnTo>
                  <a:pt x="0" y="163"/>
                </a:lnTo>
                <a:close/>
                <a:moveTo>
                  <a:pt x="0" y="271"/>
                </a:moveTo>
                <a:lnTo>
                  <a:pt x="373" y="271"/>
                </a:lnTo>
                <a:lnTo>
                  <a:pt x="373" y="217"/>
                </a:lnTo>
                <a:lnTo>
                  <a:pt x="0" y="217"/>
                </a:lnTo>
                <a:lnTo>
                  <a:pt x="0" y="271"/>
                </a:lnTo>
                <a:close/>
                <a:moveTo>
                  <a:pt x="426" y="271"/>
                </a:moveTo>
                <a:lnTo>
                  <a:pt x="480" y="271"/>
                </a:lnTo>
                <a:lnTo>
                  <a:pt x="480" y="217"/>
                </a:lnTo>
                <a:lnTo>
                  <a:pt x="426" y="217"/>
                </a:lnTo>
                <a:lnTo>
                  <a:pt x="426" y="271"/>
                </a:lnTo>
                <a:close/>
                <a:moveTo>
                  <a:pt x="426" y="0"/>
                </a:moveTo>
                <a:lnTo>
                  <a:pt x="426" y="54"/>
                </a:lnTo>
                <a:lnTo>
                  <a:pt x="480" y="54"/>
                </a:lnTo>
                <a:lnTo>
                  <a:pt x="480" y="0"/>
                </a:lnTo>
                <a:lnTo>
                  <a:pt x="426" y="0"/>
                </a:lnTo>
                <a:close/>
                <a:moveTo>
                  <a:pt x="426" y="163"/>
                </a:moveTo>
                <a:lnTo>
                  <a:pt x="480" y="163"/>
                </a:lnTo>
                <a:lnTo>
                  <a:pt x="480" y="108"/>
                </a:lnTo>
                <a:lnTo>
                  <a:pt x="426" y="108"/>
                </a:lnTo>
                <a:lnTo>
                  <a:pt x="426" y="163"/>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0" name="Google Shape;370;p12"/>
          <p:cNvSpPr/>
          <p:nvPr/>
        </p:nvSpPr>
        <p:spPr>
          <a:xfrm>
            <a:off x="8121471" y="4421082"/>
            <a:ext cx="262032" cy="159497"/>
          </a:xfrm>
          <a:custGeom>
            <a:rect b="b" l="l" r="r" t="t"/>
            <a:pathLst>
              <a:path extrusionOk="0" h="294" w="483">
                <a:moveTo>
                  <a:pt x="178" y="260"/>
                </a:moveTo>
                <a:lnTo>
                  <a:pt x="69" y="147"/>
                </a:lnTo>
                <a:lnTo>
                  <a:pt x="181" y="34"/>
                </a:lnTo>
                <a:lnTo>
                  <a:pt x="145" y="0"/>
                </a:lnTo>
                <a:lnTo>
                  <a:pt x="0" y="147"/>
                </a:lnTo>
                <a:lnTo>
                  <a:pt x="145" y="294"/>
                </a:lnTo>
                <a:lnTo>
                  <a:pt x="178" y="260"/>
                </a:lnTo>
                <a:close/>
                <a:moveTo>
                  <a:pt x="305" y="260"/>
                </a:moveTo>
                <a:lnTo>
                  <a:pt x="416" y="147"/>
                </a:lnTo>
                <a:lnTo>
                  <a:pt x="305" y="34"/>
                </a:lnTo>
                <a:lnTo>
                  <a:pt x="338" y="0"/>
                </a:lnTo>
                <a:lnTo>
                  <a:pt x="483" y="147"/>
                </a:lnTo>
                <a:lnTo>
                  <a:pt x="338" y="294"/>
                </a:lnTo>
                <a:lnTo>
                  <a:pt x="305" y="260"/>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1" name="Google Shape;371;p12"/>
          <p:cNvSpPr/>
          <p:nvPr/>
        </p:nvSpPr>
        <p:spPr>
          <a:xfrm>
            <a:off x="8526892" y="4422297"/>
            <a:ext cx="171374" cy="175368"/>
          </a:xfrm>
          <a:custGeom>
            <a:rect b="b" l="l" r="r" t="t"/>
            <a:pathLst>
              <a:path extrusionOk="0" h="160" w="156">
                <a:moveTo>
                  <a:pt x="137" y="88"/>
                </a:moveTo>
                <a:cubicBezTo>
                  <a:pt x="138" y="85"/>
                  <a:pt x="138" y="83"/>
                  <a:pt x="138" y="80"/>
                </a:cubicBezTo>
                <a:cubicBezTo>
                  <a:pt x="138" y="77"/>
                  <a:pt x="138" y="75"/>
                  <a:pt x="137" y="72"/>
                </a:cubicBezTo>
                <a:cubicBezTo>
                  <a:pt x="154" y="59"/>
                  <a:pt x="154" y="59"/>
                  <a:pt x="154" y="59"/>
                </a:cubicBezTo>
                <a:cubicBezTo>
                  <a:pt x="156" y="58"/>
                  <a:pt x="156" y="56"/>
                  <a:pt x="155" y="54"/>
                </a:cubicBezTo>
                <a:cubicBezTo>
                  <a:pt x="139" y="26"/>
                  <a:pt x="139" y="26"/>
                  <a:pt x="139" y="26"/>
                </a:cubicBezTo>
                <a:cubicBezTo>
                  <a:pt x="138" y="24"/>
                  <a:pt x="136" y="24"/>
                  <a:pt x="134" y="24"/>
                </a:cubicBezTo>
                <a:cubicBezTo>
                  <a:pt x="115" y="32"/>
                  <a:pt x="115" y="32"/>
                  <a:pt x="115" y="32"/>
                </a:cubicBezTo>
                <a:cubicBezTo>
                  <a:pt x="110" y="29"/>
                  <a:pt x="106" y="27"/>
                  <a:pt x="101" y="25"/>
                </a:cubicBezTo>
                <a:cubicBezTo>
                  <a:pt x="98" y="3"/>
                  <a:pt x="98" y="3"/>
                  <a:pt x="98" y="3"/>
                </a:cubicBezTo>
                <a:cubicBezTo>
                  <a:pt x="98" y="1"/>
                  <a:pt x="96" y="0"/>
                  <a:pt x="94" y="0"/>
                </a:cubicBezTo>
                <a:cubicBezTo>
                  <a:pt x="62" y="0"/>
                  <a:pt x="62" y="0"/>
                  <a:pt x="62" y="0"/>
                </a:cubicBezTo>
                <a:cubicBezTo>
                  <a:pt x="60" y="0"/>
                  <a:pt x="58" y="1"/>
                  <a:pt x="58" y="3"/>
                </a:cubicBezTo>
                <a:cubicBezTo>
                  <a:pt x="55" y="25"/>
                  <a:pt x="55" y="25"/>
                  <a:pt x="55" y="25"/>
                </a:cubicBezTo>
                <a:cubicBezTo>
                  <a:pt x="50" y="27"/>
                  <a:pt x="46" y="29"/>
                  <a:pt x="42" y="32"/>
                </a:cubicBezTo>
                <a:cubicBezTo>
                  <a:pt x="22" y="24"/>
                  <a:pt x="22" y="24"/>
                  <a:pt x="22" y="24"/>
                </a:cubicBezTo>
                <a:cubicBezTo>
                  <a:pt x="20" y="24"/>
                  <a:pt x="18" y="24"/>
                  <a:pt x="17" y="26"/>
                </a:cubicBezTo>
                <a:cubicBezTo>
                  <a:pt x="1" y="54"/>
                  <a:pt x="1" y="54"/>
                  <a:pt x="1" y="54"/>
                </a:cubicBezTo>
                <a:cubicBezTo>
                  <a:pt x="0" y="56"/>
                  <a:pt x="0" y="58"/>
                  <a:pt x="2" y="59"/>
                </a:cubicBezTo>
                <a:cubicBezTo>
                  <a:pt x="19" y="72"/>
                  <a:pt x="19" y="72"/>
                  <a:pt x="19" y="72"/>
                </a:cubicBezTo>
                <a:cubicBezTo>
                  <a:pt x="18" y="75"/>
                  <a:pt x="18" y="77"/>
                  <a:pt x="18" y="80"/>
                </a:cubicBezTo>
                <a:cubicBezTo>
                  <a:pt x="18" y="83"/>
                  <a:pt x="18" y="85"/>
                  <a:pt x="19" y="88"/>
                </a:cubicBezTo>
                <a:cubicBezTo>
                  <a:pt x="2" y="101"/>
                  <a:pt x="2" y="101"/>
                  <a:pt x="2" y="101"/>
                </a:cubicBezTo>
                <a:cubicBezTo>
                  <a:pt x="0" y="102"/>
                  <a:pt x="0" y="104"/>
                  <a:pt x="1" y="106"/>
                </a:cubicBezTo>
                <a:cubicBezTo>
                  <a:pt x="17" y="134"/>
                  <a:pt x="17" y="134"/>
                  <a:pt x="17" y="134"/>
                </a:cubicBezTo>
                <a:cubicBezTo>
                  <a:pt x="18" y="136"/>
                  <a:pt x="20" y="136"/>
                  <a:pt x="22" y="136"/>
                </a:cubicBezTo>
                <a:cubicBezTo>
                  <a:pt x="42" y="128"/>
                  <a:pt x="42" y="128"/>
                  <a:pt x="42" y="128"/>
                </a:cubicBezTo>
                <a:cubicBezTo>
                  <a:pt x="46" y="131"/>
                  <a:pt x="50" y="133"/>
                  <a:pt x="55" y="135"/>
                </a:cubicBezTo>
                <a:cubicBezTo>
                  <a:pt x="58" y="157"/>
                  <a:pt x="58" y="157"/>
                  <a:pt x="58" y="157"/>
                </a:cubicBezTo>
                <a:cubicBezTo>
                  <a:pt x="58" y="159"/>
                  <a:pt x="60" y="160"/>
                  <a:pt x="62" y="160"/>
                </a:cubicBezTo>
                <a:cubicBezTo>
                  <a:pt x="94" y="160"/>
                  <a:pt x="94" y="160"/>
                  <a:pt x="94" y="160"/>
                </a:cubicBezTo>
                <a:cubicBezTo>
                  <a:pt x="96" y="160"/>
                  <a:pt x="98" y="159"/>
                  <a:pt x="98" y="157"/>
                </a:cubicBezTo>
                <a:cubicBezTo>
                  <a:pt x="101" y="135"/>
                  <a:pt x="101" y="135"/>
                  <a:pt x="101" y="135"/>
                </a:cubicBezTo>
                <a:cubicBezTo>
                  <a:pt x="106" y="133"/>
                  <a:pt x="110" y="131"/>
                  <a:pt x="114" y="128"/>
                </a:cubicBezTo>
                <a:cubicBezTo>
                  <a:pt x="134" y="136"/>
                  <a:pt x="134" y="136"/>
                  <a:pt x="134" y="136"/>
                </a:cubicBezTo>
                <a:cubicBezTo>
                  <a:pt x="136" y="136"/>
                  <a:pt x="138" y="136"/>
                  <a:pt x="139" y="134"/>
                </a:cubicBezTo>
                <a:cubicBezTo>
                  <a:pt x="155" y="106"/>
                  <a:pt x="155" y="106"/>
                  <a:pt x="155" y="106"/>
                </a:cubicBezTo>
                <a:cubicBezTo>
                  <a:pt x="156" y="104"/>
                  <a:pt x="156" y="102"/>
                  <a:pt x="154" y="101"/>
                </a:cubicBezTo>
                <a:lnTo>
                  <a:pt x="137" y="88"/>
                </a:lnTo>
                <a:close/>
                <a:moveTo>
                  <a:pt x="78" y="108"/>
                </a:moveTo>
                <a:cubicBezTo>
                  <a:pt x="63" y="108"/>
                  <a:pt x="50" y="95"/>
                  <a:pt x="50" y="80"/>
                </a:cubicBezTo>
                <a:cubicBezTo>
                  <a:pt x="50" y="65"/>
                  <a:pt x="63" y="52"/>
                  <a:pt x="78" y="52"/>
                </a:cubicBezTo>
                <a:cubicBezTo>
                  <a:pt x="93" y="52"/>
                  <a:pt x="106" y="65"/>
                  <a:pt x="106" y="80"/>
                </a:cubicBezTo>
                <a:cubicBezTo>
                  <a:pt x="106" y="95"/>
                  <a:pt x="93" y="108"/>
                  <a:pt x="78" y="108"/>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2" name="Google Shape;372;p12"/>
          <p:cNvSpPr/>
          <p:nvPr/>
        </p:nvSpPr>
        <p:spPr>
          <a:xfrm>
            <a:off x="5590928" y="4436536"/>
            <a:ext cx="259306" cy="287259"/>
          </a:xfrm>
          <a:custGeom>
            <a:rect b="b" l="l" r="r" t="t"/>
            <a:pathLst>
              <a:path extrusionOk="0" h="160" w="144">
                <a:moveTo>
                  <a:pt x="128" y="16"/>
                </a:moveTo>
                <a:cubicBezTo>
                  <a:pt x="95" y="16"/>
                  <a:pt x="95" y="16"/>
                  <a:pt x="95" y="16"/>
                </a:cubicBezTo>
                <a:cubicBezTo>
                  <a:pt x="91" y="7"/>
                  <a:pt x="82" y="0"/>
                  <a:pt x="72" y="0"/>
                </a:cubicBezTo>
                <a:cubicBezTo>
                  <a:pt x="62" y="0"/>
                  <a:pt x="53" y="7"/>
                  <a:pt x="49" y="16"/>
                </a:cubicBezTo>
                <a:cubicBezTo>
                  <a:pt x="16" y="16"/>
                  <a:pt x="16" y="16"/>
                  <a:pt x="16" y="16"/>
                </a:cubicBezTo>
                <a:cubicBezTo>
                  <a:pt x="7" y="16"/>
                  <a:pt x="0" y="23"/>
                  <a:pt x="0" y="32"/>
                </a:cubicBezTo>
                <a:cubicBezTo>
                  <a:pt x="0" y="144"/>
                  <a:pt x="0" y="144"/>
                  <a:pt x="0" y="144"/>
                </a:cubicBezTo>
                <a:cubicBezTo>
                  <a:pt x="0" y="153"/>
                  <a:pt x="7" y="160"/>
                  <a:pt x="16" y="160"/>
                </a:cubicBezTo>
                <a:cubicBezTo>
                  <a:pt x="128" y="160"/>
                  <a:pt x="128" y="160"/>
                  <a:pt x="128" y="160"/>
                </a:cubicBezTo>
                <a:cubicBezTo>
                  <a:pt x="137" y="160"/>
                  <a:pt x="144" y="153"/>
                  <a:pt x="144" y="144"/>
                </a:cubicBezTo>
                <a:cubicBezTo>
                  <a:pt x="144" y="32"/>
                  <a:pt x="144" y="32"/>
                  <a:pt x="144" y="32"/>
                </a:cubicBezTo>
                <a:cubicBezTo>
                  <a:pt x="144" y="23"/>
                  <a:pt x="137" y="16"/>
                  <a:pt x="128" y="16"/>
                </a:cubicBezTo>
                <a:close/>
                <a:moveTo>
                  <a:pt x="72" y="16"/>
                </a:moveTo>
                <a:cubicBezTo>
                  <a:pt x="76" y="16"/>
                  <a:pt x="80" y="20"/>
                  <a:pt x="80" y="24"/>
                </a:cubicBezTo>
                <a:cubicBezTo>
                  <a:pt x="80" y="28"/>
                  <a:pt x="76" y="32"/>
                  <a:pt x="72" y="32"/>
                </a:cubicBezTo>
                <a:cubicBezTo>
                  <a:pt x="68" y="32"/>
                  <a:pt x="64" y="28"/>
                  <a:pt x="64" y="24"/>
                </a:cubicBezTo>
                <a:cubicBezTo>
                  <a:pt x="64" y="20"/>
                  <a:pt x="68" y="16"/>
                  <a:pt x="72" y="16"/>
                </a:cubicBezTo>
                <a:close/>
                <a:moveTo>
                  <a:pt x="56" y="128"/>
                </a:moveTo>
                <a:cubicBezTo>
                  <a:pt x="24" y="96"/>
                  <a:pt x="24" y="96"/>
                  <a:pt x="24" y="96"/>
                </a:cubicBezTo>
                <a:cubicBezTo>
                  <a:pt x="35" y="85"/>
                  <a:pt x="35" y="85"/>
                  <a:pt x="35" y="85"/>
                </a:cubicBezTo>
                <a:cubicBezTo>
                  <a:pt x="56" y="105"/>
                  <a:pt x="56" y="105"/>
                  <a:pt x="56" y="105"/>
                </a:cubicBezTo>
                <a:cubicBezTo>
                  <a:pt x="109" y="53"/>
                  <a:pt x="109" y="53"/>
                  <a:pt x="109" y="53"/>
                </a:cubicBezTo>
                <a:cubicBezTo>
                  <a:pt x="120" y="64"/>
                  <a:pt x="120" y="64"/>
                  <a:pt x="120" y="64"/>
                </a:cubicBezTo>
                <a:lnTo>
                  <a:pt x="56" y="128"/>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3" name="Google Shape;373;p12"/>
          <p:cNvSpPr/>
          <p:nvPr/>
        </p:nvSpPr>
        <p:spPr>
          <a:xfrm>
            <a:off x="838201" y="3123239"/>
            <a:ext cx="10515599" cy="2141650"/>
          </a:xfrm>
          <a:prstGeom prst="rect">
            <a:avLst/>
          </a:prstGeom>
          <a:noFill/>
          <a:ln cap="flat" cmpd="sng" w="9525">
            <a:solidFill>
              <a:schemeClr val="dk1"/>
            </a:solidFill>
            <a:prstDash val="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ガバメントクラウド</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利用システム</a:t>
            </a:r>
            <a:endParaRPr/>
          </a:p>
        </p:txBody>
      </p:sp>
      <p:sp>
        <p:nvSpPr>
          <p:cNvPr id="374" name="Google Shape;374;p12"/>
          <p:cNvSpPr/>
          <p:nvPr/>
        </p:nvSpPr>
        <p:spPr>
          <a:xfrm>
            <a:off x="838200" y="5351617"/>
            <a:ext cx="10515599" cy="790355"/>
          </a:xfrm>
          <a:prstGeom prst="rect">
            <a:avLst/>
          </a:prstGeom>
          <a:noFill/>
          <a:ln cap="flat" cmpd="sng" w="9525">
            <a:solidFill>
              <a:schemeClr val="dk1"/>
            </a:solidFill>
            <a:prstDash val="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ガバメントクラウド</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全体管理</a:t>
            </a:r>
            <a:endParaRPr/>
          </a:p>
        </p:txBody>
      </p:sp>
      <p:cxnSp>
        <p:nvCxnSpPr>
          <p:cNvPr id="375" name="Google Shape;375;p12"/>
          <p:cNvCxnSpPr>
            <a:endCxn id="333" idx="2"/>
          </p:cNvCxnSpPr>
          <p:nvPr/>
        </p:nvCxnSpPr>
        <p:spPr>
          <a:xfrm rot="10800000">
            <a:off x="8422922" y="4645720"/>
            <a:ext cx="0" cy="833400"/>
          </a:xfrm>
          <a:prstGeom prst="straightConnector1">
            <a:avLst/>
          </a:prstGeom>
          <a:noFill/>
          <a:ln cap="flat" cmpd="sng" w="9525">
            <a:solidFill>
              <a:schemeClr val="dk1"/>
            </a:solidFill>
            <a:prstDash val="solid"/>
            <a:miter lim="800000"/>
            <a:headEnd len="sm" w="sm" type="none"/>
            <a:tailEnd len="med" w="med" type="triangle"/>
          </a:ln>
        </p:spPr>
      </p:cxnSp>
      <p:sp>
        <p:nvSpPr>
          <p:cNvPr id="376" name="Google Shape;376;p12"/>
          <p:cNvSpPr txBox="1"/>
          <p:nvPr/>
        </p:nvSpPr>
        <p:spPr>
          <a:xfrm>
            <a:off x="7217807" y="5044468"/>
            <a:ext cx="1261884"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ja-JP" sz="1200">
                <a:solidFill>
                  <a:schemeClr val="dk1"/>
                </a:solidFill>
                <a:latin typeface="Arial"/>
                <a:ea typeface="Arial"/>
                <a:cs typeface="Arial"/>
                <a:sym typeface="Arial"/>
              </a:rPr>
              <a:t>テンプレートと</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ガイド提供</a:t>
            </a:r>
            <a:endParaRPr sz="1200">
              <a:solidFill>
                <a:schemeClr val="dk1"/>
              </a:solidFill>
              <a:latin typeface="Arial"/>
              <a:ea typeface="Arial"/>
              <a:cs typeface="Arial"/>
              <a:sym typeface="Arial"/>
            </a:endParaRPr>
          </a:p>
        </p:txBody>
      </p:sp>
      <p:sp>
        <p:nvSpPr>
          <p:cNvPr id="377" name="Google Shape;377;p12"/>
          <p:cNvSpPr/>
          <p:nvPr/>
        </p:nvSpPr>
        <p:spPr>
          <a:xfrm>
            <a:off x="4720216" y="1584057"/>
            <a:ext cx="500968" cy="500968"/>
          </a:xfrm>
          <a:custGeom>
            <a:rect b="b" l="l" r="r" t="t"/>
            <a:pathLst>
              <a:path extrusionOk="0" h="160" w="160">
                <a:moveTo>
                  <a:pt x="80" y="0"/>
                </a:moveTo>
                <a:cubicBezTo>
                  <a:pt x="36" y="0"/>
                  <a:pt x="0" y="36"/>
                  <a:pt x="0" y="80"/>
                </a:cubicBezTo>
                <a:cubicBezTo>
                  <a:pt x="0" y="124"/>
                  <a:pt x="36" y="160"/>
                  <a:pt x="80" y="160"/>
                </a:cubicBezTo>
                <a:cubicBezTo>
                  <a:pt x="124" y="160"/>
                  <a:pt x="160" y="124"/>
                  <a:pt x="160" y="80"/>
                </a:cubicBezTo>
                <a:cubicBezTo>
                  <a:pt x="160" y="36"/>
                  <a:pt x="124" y="0"/>
                  <a:pt x="80" y="0"/>
                </a:cubicBezTo>
                <a:close/>
                <a:moveTo>
                  <a:pt x="88" y="136"/>
                </a:moveTo>
                <a:cubicBezTo>
                  <a:pt x="72" y="136"/>
                  <a:pt x="72" y="136"/>
                  <a:pt x="72" y="136"/>
                </a:cubicBezTo>
                <a:cubicBezTo>
                  <a:pt x="72" y="120"/>
                  <a:pt x="72" y="120"/>
                  <a:pt x="72" y="120"/>
                </a:cubicBezTo>
                <a:cubicBezTo>
                  <a:pt x="88" y="120"/>
                  <a:pt x="88" y="120"/>
                  <a:pt x="88" y="120"/>
                </a:cubicBezTo>
                <a:lnTo>
                  <a:pt x="88" y="136"/>
                </a:lnTo>
                <a:close/>
                <a:moveTo>
                  <a:pt x="105" y="74"/>
                </a:moveTo>
                <a:cubicBezTo>
                  <a:pt x="97" y="81"/>
                  <a:pt x="97" y="81"/>
                  <a:pt x="97" y="81"/>
                </a:cubicBezTo>
                <a:cubicBezTo>
                  <a:pt x="92" y="87"/>
                  <a:pt x="88" y="92"/>
                  <a:pt x="88" y="104"/>
                </a:cubicBezTo>
                <a:cubicBezTo>
                  <a:pt x="72" y="104"/>
                  <a:pt x="72" y="104"/>
                  <a:pt x="72" y="104"/>
                </a:cubicBezTo>
                <a:cubicBezTo>
                  <a:pt x="72" y="100"/>
                  <a:pt x="72" y="100"/>
                  <a:pt x="72" y="100"/>
                </a:cubicBezTo>
                <a:cubicBezTo>
                  <a:pt x="72" y="91"/>
                  <a:pt x="76" y="83"/>
                  <a:pt x="81" y="77"/>
                </a:cubicBezTo>
                <a:cubicBezTo>
                  <a:pt x="91" y="67"/>
                  <a:pt x="91" y="67"/>
                  <a:pt x="91" y="67"/>
                </a:cubicBezTo>
                <a:cubicBezTo>
                  <a:pt x="94" y="64"/>
                  <a:pt x="96" y="60"/>
                  <a:pt x="96" y="56"/>
                </a:cubicBezTo>
                <a:cubicBezTo>
                  <a:pt x="96" y="47"/>
                  <a:pt x="89" y="40"/>
                  <a:pt x="80" y="40"/>
                </a:cubicBezTo>
                <a:cubicBezTo>
                  <a:pt x="71" y="40"/>
                  <a:pt x="64" y="47"/>
                  <a:pt x="64" y="56"/>
                </a:cubicBezTo>
                <a:cubicBezTo>
                  <a:pt x="48" y="56"/>
                  <a:pt x="48" y="56"/>
                  <a:pt x="48" y="56"/>
                </a:cubicBezTo>
                <a:cubicBezTo>
                  <a:pt x="48" y="38"/>
                  <a:pt x="62" y="24"/>
                  <a:pt x="80" y="24"/>
                </a:cubicBezTo>
                <a:cubicBezTo>
                  <a:pt x="98" y="24"/>
                  <a:pt x="112" y="38"/>
                  <a:pt x="112" y="56"/>
                </a:cubicBezTo>
                <a:cubicBezTo>
                  <a:pt x="112" y="63"/>
                  <a:pt x="109" y="69"/>
                  <a:pt x="105" y="7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8" name="Google Shape;378;p12"/>
          <p:cNvSpPr/>
          <p:nvPr/>
        </p:nvSpPr>
        <p:spPr>
          <a:xfrm>
            <a:off x="10225224" y="3362397"/>
            <a:ext cx="453126" cy="453126"/>
          </a:xfrm>
          <a:custGeom>
            <a:rect b="b" l="l" r="r" t="t"/>
            <a:pathLst>
              <a:path extrusionOk="0" h="128" w="128">
                <a:moveTo>
                  <a:pt x="64" y="15"/>
                </a:moveTo>
                <a:cubicBezTo>
                  <a:pt x="73" y="15"/>
                  <a:pt x="81" y="23"/>
                  <a:pt x="81" y="32"/>
                </a:cubicBezTo>
                <a:cubicBezTo>
                  <a:pt x="81" y="41"/>
                  <a:pt x="73" y="49"/>
                  <a:pt x="64" y="49"/>
                </a:cubicBezTo>
                <a:cubicBezTo>
                  <a:pt x="55" y="49"/>
                  <a:pt x="47" y="41"/>
                  <a:pt x="47" y="32"/>
                </a:cubicBezTo>
                <a:cubicBezTo>
                  <a:pt x="47" y="23"/>
                  <a:pt x="55" y="15"/>
                  <a:pt x="64" y="15"/>
                </a:cubicBezTo>
                <a:moveTo>
                  <a:pt x="64" y="87"/>
                </a:moveTo>
                <a:cubicBezTo>
                  <a:pt x="88" y="87"/>
                  <a:pt x="113" y="99"/>
                  <a:pt x="113" y="104"/>
                </a:cubicBezTo>
                <a:cubicBezTo>
                  <a:pt x="113" y="113"/>
                  <a:pt x="113" y="113"/>
                  <a:pt x="113" y="113"/>
                </a:cubicBezTo>
                <a:cubicBezTo>
                  <a:pt x="15" y="113"/>
                  <a:pt x="15" y="113"/>
                  <a:pt x="15" y="113"/>
                </a:cubicBezTo>
                <a:cubicBezTo>
                  <a:pt x="15" y="104"/>
                  <a:pt x="15" y="104"/>
                  <a:pt x="15" y="104"/>
                </a:cubicBezTo>
                <a:cubicBezTo>
                  <a:pt x="15" y="99"/>
                  <a:pt x="40" y="87"/>
                  <a:pt x="64" y="87"/>
                </a:cubicBezTo>
                <a:moveTo>
                  <a:pt x="64" y="0"/>
                </a:moveTo>
                <a:cubicBezTo>
                  <a:pt x="46" y="0"/>
                  <a:pt x="32" y="14"/>
                  <a:pt x="32" y="32"/>
                </a:cubicBezTo>
                <a:cubicBezTo>
                  <a:pt x="32" y="50"/>
                  <a:pt x="46" y="64"/>
                  <a:pt x="64" y="64"/>
                </a:cubicBezTo>
                <a:cubicBezTo>
                  <a:pt x="82" y="64"/>
                  <a:pt x="96" y="50"/>
                  <a:pt x="96" y="32"/>
                </a:cubicBezTo>
                <a:cubicBezTo>
                  <a:pt x="96" y="14"/>
                  <a:pt x="82" y="0"/>
                  <a:pt x="64" y="0"/>
                </a:cubicBezTo>
                <a:close/>
                <a:moveTo>
                  <a:pt x="64" y="72"/>
                </a:moveTo>
                <a:cubicBezTo>
                  <a:pt x="43" y="72"/>
                  <a:pt x="0" y="83"/>
                  <a:pt x="0" y="104"/>
                </a:cubicBezTo>
                <a:cubicBezTo>
                  <a:pt x="0" y="128"/>
                  <a:pt x="0" y="128"/>
                  <a:pt x="0" y="128"/>
                </a:cubicBezTo>
                <a:cubicBezTo>
                  <a:pt x="128" y="128"/>
                  <a:pt x="128" y="128"/>
                  <a:pt x="128" y="128"/>
                </a:cubicBezTo>
                <a:cubicBezTo>
                  <a:pt x="128" y="104"/>
                  <a:pt x="128" y="104"/>
                  <a:pt x="128" y="104"/>
                </a:cubicBezTo>
                <a:cubicBezTo>
                  <a:pt x="128" y="83"/>
                  <a:pt x="85" y="72"/>
                  <a:pt x="64" y="72"/>
                </a:cubicBez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9" name="Google Shape;379;p12"/>
          <p:cNvSpPr/>
          <p:nvPr/>
        </p:nvSpPr>
        <p:spPr>
          <a:xfrm>
            <a:off x="4301488" y="2424129"/>
            <a:ext cx="257317" cy="959606"/>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12"/>
          <p:cNvSpPr txBox="1"/>
          <p:nvPr/>
        </p:nvSpPr>
        <p:spPr>
          <a:xfrm>
            <a:off x="3709436" y="2155407"/>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システム管理者</a:t>
            </a:r>
            <a:endParaRPr/>
          </a:p>
        </p:txBody>
      </p:sp>
      <p:sp>
        <p:nvSpPr>
          <p:cNvPr id="381" name="Google Shape;381;p12"/>
          <p:cNvSpPr txBox="1"/>
          <p:nvPr/>
        </p:nvSpPr>
        <p:spPr>
          <a:xfrm>
            <a:off x="5320267" y="1534468"/>
            <a:ext cx="603272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accent1"/>
                </a:solidFill>
                <a:latin typeface="Arial"/>
                <a:ea typeface="Arial"/>
                <a:cs typeface="Arial"/>
                <a:sym typeface="Arial"/>
              </a:rPr>
              <a:t>テンプレート、予防的・発見的統制、ダッシュボード</a:t>
            </a:r>
            <a:br>
              <a:rPr lang="ja-JP" sz="1800">
                <a:solidFill>
                  <a:schemeClr val="accent1"/>
                </a:solidFill>
                <a:latin typeface="Arial"/>
                <a:ea typeface="Arial"/>
                <a:cs typeface="Arial"/>
                <a:sym typeface="Arial"/>
              </a:rPr>
            </a:br>
            <a:r>
              <a:rPr lang="ja-JP" sz="1800">
                <a:solidFill>
                  <a:schemeClr val="accent1"/>
                </a:solidFill>
                <a:latin typeface="Arial"/>
                <a:ea typeface="Arial"/>
                <a:cs typeface="Arial"/>
                <a:sym typeface="Arial"/>
              </a:rPr>
              <a:t>を使って利用システムのセキュリティをどう実現するか</a:t>
            </a:r>
            <a:endParaRPr/>
          </a:p>
        </p:txBody>
      </p:sp>
      <p:sp>
        <p:nvSpPr>
          <p:cNvPr id="382" name="Google Shape;382;p12"/>
          <p:cNvSpPr txBox="1"/>
          <p:nvPr/>
        </p:nvSpPr>
        <p:spPr>
          <a:xfrm>
            <a:off x="4470162" y="2735009"/>
            <a:ext cx="8002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200">
                <a:solidFill>
                  <a:schemeClr val="dk1"/>
                </a:solidFill>
                <a:latin typeface="Arial"/>
                <a:ea typeface="Arial"/>
                <a:cs typeface="Arial"/>
                <a:sym typeface="Arial"/>
              </a:rPr>
              <a:t>設計構築</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3"/>
          <p:cNvSpPr txBox="1"/>
          <p:nvPr>
            <p:ph type="title"/>
          </p:nvPr>
        </p:nvSpPr>
        <p:spPr>
          <a:xfrm>
            <a:off x="838200" y="463168"/>
            <a:ext cx="10515600" cy="703911"/>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責任共有モデルにより範囲を絞る</a:t>
            </a:r>
            <a:endParaRPr/>
          </a:p>
        </p:txBody>
      </p:sp>
      <p:sp>
        <p:nvSpPr>
          <p:cNvPr id="388" name="Google Shape;388;p13"/>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389" name="Google Shape;389;p13"/>
          <p:cNvSpPr/>
          <p:nvPr/>
        </p:nvSpPr>
        <p:spPr>
          <a:xfrm>
            <a:off x="3245225" y="2865792"/>
            <a:ext cx="6384912" cy="363210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クラウドサービスプロバイダー</a:t>
            </a:r>
            <a:endParaRPr/>
          </a:p>
        </p:txBody>
      </p:sp>
      <p:sp>
        <p:nvSpPr>
          <p:cNvPr id="390" name="Google Shape;390;p13"/>
          <p:cNvSpPr/>
          <p:nvPr/>
        </p:nvSpPr>
        <p:spPr>
          <a:xfrm>
            <a:off x="838200" y="3647452"/>
            <a:ext cx="1940859" cy="1070320"/>
          </a:xfrm>
          <a:prstGeom prst="cloud">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インターネット</a:t>
            </a:r>
            <a:endParaRPr/>
          </a:p>
        </p:txBody>
      </p:sp>
      <p:sp>
        <p:nvSpPr>
          <p:cNvPr id="391" name="Google Shape;391;p13"/>
          <p:cNvSpPr/>
          <p:nvPr/>
        </p:nvSpPr>
        <p:spPr>
          <a:xfrm>
            <a:off x="3890681" y="3440360"/>
            <a:ext cx="5278681" cy="186589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利用者の環境</a:t>
            </a:r>
            <a:endParaRPr/>
          </a:p>
        </p:txBody>
      </p:sp>
      <p:sp>
        <p:nvSpPr>
          <p:cNvPr id="392" name="Google Shape;392;p13"/>
          <p:cNvSpPr/>
          <p:nvPr/>
        </p:nvSpPr>
        <p:spPr>
          <a:xfrm>
            <a:off x="3450204" y="3280629"/>
            <a:ext cx="5964354" cy="3095387"/>
          </a:xfrm>
          <a:prstGeom prst="rect">
            <a:avLst/>
          </a:prstGeom>
          <a:noFill/>
          <a:ln cap="flat" cmpd="sng" w="571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3" name="Google Shape;393;p13"/>
          <p:cNvSpPr txBox="1"/>
          <p:nvPr/>
        </p:nvSpPr>
        <p:spPr>
          <a:xfrm>
            <a:off x="4283252" y="3101732"/>
            <a:ext cx="4493538"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クラウドサービスプロバイダーによるインフラ防御策</a:t>
            </a:r>
            <a:endParaRPr/>
          </a:p>
        </p:txBody>
      </p:sp>
      <p:sp>
        <p:nvSpPr>
          <p:cNvPr id="394" name="Google Shape;394;p13"/>
          <p:cNvSpPr/>
          <p:nvPr/>
        </p:nvSpPr>
        <p:spPr>
          <a:xfrm>
            <a:off x="4149450" y="3716281"/>
            <a:ext cx="2948036" cy="897228"/>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仮想プライベートネットワーク</a:t>
            </a:r>
            <a:endParaRPr/>
          </a:p>
        </p:txBody>
      </p:sp>
      <p:sp>
        <p:nvSpPr>
          <p:cNvPr id="395" name="Google Shape;395;p13"/>
          <p:cNvSpPr/>
          <p:nvPr/>
        </p:nvSpPr>
        <p:spPr>
          <a:xfrm>
            <a:off x="4986442" y="5726939"/>
            <a:ext cx="1695538" cy="41414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サービス</a:t>
            </a:r>
            <a:endParaRPr/>
          </a:p>
        </p:txBody>
      </p:sp>
      <p:sp>
        <p:nvSpPr>
          <p:cNvPr id="396" name="Google Shape;396;p13"/>
          <p:cNvSpPr/>
          <p:nvPr/>
        </p:nvSpPr>
        <p:spPr>
          <a:xfrm>
            <a:off x="4986442" y="4055616"/>
            <a:ext cx="1695538" cy="488611"/>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利用システム</a:t>
            </a:r>
            <a:endParaRPr/>
          </a:p>
        </p:txBody>
      </p:sp>
      <p:sp>
        <p:nvSpPr>
          <p:cNvPr id="397" name="Google Shape;397;p13"/>
          <p:cNvSpPr/>
          <p:nvPr/>
        </p:nvSpPr>
        <p:spPr>
          <a:xfrm>
            <a:off x="4687938" y="5573051"/>
            <a:ext cx="2259709" cy="689938"/>
          </a:xfrm>
          <a:prstGeom prst="rect">
            <a:avLst/>
          </a:prstGeom>
          <a:noFill/>
          <a:ln cap="flat" cmpd="sng" w="571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8" name="Google Shape;398;p13"/>
          <p:cNvSpPr txBox="1"/>
          <p:nvPr/>
        </p:nvSpPr>
        <p:spPr>
          <a:xfrm>
            <a:off x="4842135" y="5419162"/>
            <a:ext cx="1980029"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サービス自体の防御策</a:t>
            </a:r>
            <a:endParaRPr/>
          </a:p>
        </p:txBody>
      </p:sp>
      <p:sp>
        <p:nvSpPr>
          <p:cNvPr id="399" name="Google Shape;399;p13"/>
          <p:cNvSpPr/>
          <p:nvPr/>
        </p:nvSpPr>
        <p:spPr>
          <a:xfrm>
            <a:off x="4986442" y="4731695"/>
            <a:ext cx="1695538" cy="48861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設定による</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サービス利用</a:t>
            </a:r>
            <a:endParaRPr/>
          </a:p>
        </p:txBody>
      </p:sp>
      <p:cxnSp>
        <p:nvCxnSpPr>
          <p:cNvPr id="400" name="Google Shape;400;p13"/>
          <p:cNvCxnSpPr>
            <a:stCxn id="390" idx="0"/>
          </p:cNvCxnSpPr>
          <p:nvPr/>
        </p:nvCxnSpPr>
        <p:spPr>
          <a:xfrm>
            <a:off x="2777442" y="4182612"/>
            <a:ext cx="1812000" cy="0"/>
          </a:xfrm>
          <a:prstGeom prst="straightConnector1">
            <a:avLst/>
          </a:prstGeom>
          <a:noFill/>
          <a:ln cap="flat" cmpd="sng" w="9525">
            <a:solidFill>
              <a:schemeClr val="dk1"/>
            </a:solidFill>
            <a:prstDash val="solid"/>
            <a:miter lim="800000"/>
            <a:headEnd len="sm" w="sm" type="none"/>
            <a:tailEnd len="med" w="med" type="triangle"/>
          </a:ln>
        </p:spPr>
      </p:cxnSp>
      <p:sp>
        <p:nvSpPr>
          <p:cNvPr id="401" name="Google Shape;401;p13"/>
          <p:cNvSpPr txBox="1"/>
          <p:nvPr/>
        </p:nvSpPr>
        <p:spPr>
          <a:xfrm>
            <a:off x="3442125" y="3901728"/>
            <a:ext cx="11320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400">
                <a:solidFill>
                  <a:schemeClr val="dk1"/>
                </a:solidFill>
                <a:latin typeface="Arial"/>
                <a:ea typeface="Arial"/>
                <a:cs typeface="Arial"/>
                <a:sym typeface="Arial"/>
              </a:rPr>
              <a:t>HTTPSのみ</a:t>
            </a:r>
            <a:endParaRPr sz="1400">
              <a:solidFill>
                <a:schemeClr val="dk1"/>
              </a:solidFill>
              <a:latin typeface="Arial"/>
              <a:ea typeface="Arial"/>
              <a:cs typeface="Arial"/>
              <a:sym typeface="Arial"/>
            </a:endParaRPr>
          </a:p>
        </p:txBody>
      </p:sp>
      <p:cxnSp>
        <p:nvCxnSpPr>
          <p:cNvPr id="402" name="Google Shape;402;p13"/>
          <p:cNvCxnSpPr/>
          <p:nvPr/>
        </p:nvCxnSpPr>
        <p:spPr>
          <a:xfrm>
            <a:off x="4930589" y="3986334"/>
            <a:ext cx="0" cy="585457"/>
          </a:xfrm>
          <a:prstGeom prst="straightConnector1">
            <a:avLst/>
          </a:prstGeom>
          <a:noFill/>
          <a:ln cap="flat" cmpd="sng" w="38100">
            <a:solidFill>
              <a:schemeClr val="accent2"/>
            </a:solidFill>
            <a:prstDash val="dashDot"/>
            <a:miter lim="800000"/>
            <a:headEnd len="sm" w="sm" type="none"/>
            <a:tailEnd len="sm" w="sm" type="none"/>
          </a:ln>
        </p:spPr>
      </p:cxnSp>
      <p:sp>
        <p:nvSpPr>
          <p:cNvPr id="403" name="Google Shape;403;p13"/>
          <p:cNvSpPr/>
          <p:nvPr/>
        </p:nvSpPr>
        <p:spPr>
          <a:xfrm>
            <a:off x="5637308" y="5247652"/>
            <a:ext cx="389681" cy="180853"/>
          </a:xfrm>
          <a:prstGeom prst="upArrow">
            <a:avLst>
              <a:gd fmla="val 50000" name="adj1"/>
              <a:gd fmla="val 63247"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4" name="Google Shape;404;p13"/>
          <p:cNvSpPr/>
          <p:nvPr/>
        </p:nvSpPr>
        <p:spPr>
          <a:xfrm>
            <a:off x="4930589" y="4683000"/>
            <a:ext cx="1806359" cy="580279"/>
          </a:xfrm>
          <a:prstGeom prst="rect">
            <a:avLst/>
          </a:prstGeom>
          <a:noFill/>
          <a:ln cap="flat" cmpd="sng" w="38100">
            <a:solidFill>
              <a:schemeClr val="accent2"/>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405" name="Google Shape;405;p13"/>
          <p:cNvSpPr/>
          <p:nvPr/>
        </p:nvSpPr>
        <p:spPr>
          <a:xfrm>
            <a:off x="7696028" y="4460584"/>
            <a:ext cx="1265082" cy="48861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セキュリティ</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監視</a:t>
            </a:r>
            <a:endParaRPr/>
          </a:p>
        </p:txBody>
      </p:sp>
      <p:sp>
        <p:nvSpPr>
          <p:cNvPr id="406" name="Google Shape;406;p13"/>
          <p:cNvSpPr txBox="1"/>
          <p:nvPr/>
        </p:nvSpPr>
        <p:spPr>
          <a:xfrm>
            <a:off x="838200" y="1312221"/>
            <a:ext cx="105156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責任共有モデル</a:t>
            </a:r>
            <a:r>
              <a:rPr lang="ja-JP" sz="1200">
                <a:solidFill>
                  <a:schemeClr val="dk1"/>
                </a:solidFill>
                <a:latin typeface="Arial"/>
                <a:ea typeface="Arial"/>
                <a:cs typeface="Arial"/>
                <a:sym typeface="Arial"/>
              </a:rPr>
              <a:t>(*次ページ)</a:t>
            </a:r>
            <a:r>
              <a:rPr lang="ja-JP" sz="1800">
                <a:solidFill>
                  <a:schemeClr val="dk1"/>
                </a:solidFill>
                <a:latin typeface="Arial"/>
                <a:ea typeface="Arial"/>
                <a:cs typeface="Arial"/>
                <a:sym typeface="Arial"/>
              </a:rPr>
              <a:t>により、利用者の責任範囲に絞ってセキュリティを検討</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ja-JP" sz="1800">
                <a:solidFill>
                  <a:schemeClr val="dk1"/>
                </a:solidFill>
                <a:latin typeface="Arial"/>
                <a:ea typeface="Arial"/>
                <a:cs typeface="Arial"/>
                <a:sym typeface="Arial"/>
              </a:rPr>
              <a:t>具体的には、多くのケースで、次の3つが利用者側の検討箇所となる</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ja-JP" sz="1800">
                <a:solidFill>
                  <a:schemeClr val="dk1"/>
                </a:solidFill>
                <a:latin typeface="Arial"/>
                <a:ea typeface="Arial"/>
                <a:cs typeface="Arial"/>
                <a:sym typeface="Arial"/>
              </a:rPr>
              <a:t>    ①外部から許可した通信とそれを受けるプログラム</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b="1" lang="ja-JP" sz="1800">
                <a:solidFill>
                  <a:schemeClr val="dk1"/>
                </a:solidFill>
                <a:latin typeface="Arial"/>
                <a:ea typeface="Arial"/>
                <a:cs typeface="Arial"/>
                <a:sym typeface="Arial"/>
              </a:rPr>
              <a:t>    ②サービスそれ自体ではなくその設定</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b="1" lang="ja-JP" sz="1800">
                <a:solidFill>
                  <a:schemeClr val="dk1"/>
                </a:solidFill>
                <a:latin typeface="Arial"/>
                <a:ea typeface="Arial"/>
                <a:cs typeface="Arial"/>
                <a:sym typeface="Arial"/>
              </a:rPr>
              <a:t>    ③環境へアクセスするデバイスや通信</a:t>
            </a:r>
            <a:endParaRPr b="1" sz="1800">
              <a:solidFill>
                <a:schemeClr val="dk1"/>
              </a:solidFill>
              <a:latin typeface="Arial"/>
              <a:ea typeface="Arial"/>
              <a:cs typeface="Arial"/>
              <a:sym typeface="Arial"/>
            </a:endParaRPr>
          </a:p>
        </p:txBody>
      </p:sp>
      <p:grpSp>
        <p:nvGrpSpPr>
          <p:cNvPr id="407" name="Google Shape;407;p13"/>
          <p:cNvGrpSpPr/>
          <p:nvPr/>
        </p:nvGrpSpPr>
        <p:grpSpPr>
          <a:xfrm>
            <a:off x="3237806" y="4685162"/>
            <a:ext cx="144546" cy="144546"/>
            <a:chOff x="1994263" y="5030413"/>
            <a:chExt cx="298434" cy="298434"/>
          </a:xfrm>
        </p:grpSpPr>
        <p:cxnSp>
          <p:nvCxnSpPr>
            <p:cNvPr id="408" name="Google Shape;408;p13"/>
            <p:cNvCxnSpPr/>
            <p:nvPr/>
          </p:nvCxnSpPr>
          <p:spPr>
            <a:xfrm>
              <a:off x="1994263" y="5030413"/>
              <a:ext cx="298434" cy="298434"/>
            </a:xfrm>
            <a:prstGeom prst="straightConnector1">
              <a:avLst/>
            </a:prstGeom>
            <a:noFill/>
            <a:ln cap="flat" cmpd="sng" w="38100">
              <a:solidFill>
                <a:srgbClr val="FF0000"/>
              </a:solidFill>
              <a:prstDash val="solid"/>
              <a:miter lim="800000"/>
              <a:headEnd len="sm" w="sm" type="none"/>
              <a:tailEnd len="sm" w="sm" type="none"/>
            </a:ln>
          </p:spPr>
        </p:cxnSp>
        <p:cxnSp>
          <p:nvCxnSpPr>
            <p:cNvPr id="409" name="Google Shape;409;p13"/>
            <p:cNvCxnSpPr/>
            <p:nvPr/>
          </p:nvCxnSpPr>
          <p:spPr>
            <a:xfrm flipH="1">
              <a:off x="1994263" y="5030413"/>
              <a:ext cx="298434" cy="298434"/>
            </a:xfrm>
            <a:prstGeom prst="straightConnector1">
              <a:avLst/>
            </a:prstGeom>
            <a:noFill/>
            <a:ln cap="flat" cmpd="sng" w="38100">
              <a:solidFill>
                <a:srgbClr val="FF0000"/>
              </a:solidFill>
              <a:prstDash val="solid"/>
              <a:miter lim="800000"/>
              <a:headEnd len="sm" w="sm" type="none"/>
              <a:tailEnd len="sm" w="sm" type="none"/>
            </a:ln>
          </p:spPr>
        </p:cxnSp>
      </p:grpSp>
      <p:cxnSp>
        <p:nvCxnSpPr>
          <p:cNvPr id="410" name="Google Shape;410;p13"/>
          <p:cNvCxnSpPr/>
          <p:nvPr/>
        </p:nvCxnSpPr>
        <p:spPr>
          <a:xfrm>
            <a:off x="2734270" y="4373306"/>
            <a:ext cx="470738" cy="358389"/>
          </a:xfrm>
          <a:prstGeom prst="straightConnector1">
            <a:avLst/>
          </a:prstGeom>
          <a:noFill/>
          <a:ln cap="flat" cmpd="sng" w="9525">
            <a:solidFill>
              <a:schemeClr val="dk1"/>
            </a:solidFill>
            <a:prstDash val="solid"/>
            <a:miter lim="800000"/>
            <a:headEnd len="sm" w="sm" type="none"/>
            <a:tailEnd len="sm" w="sm" type="none"/>
          </a:ln>
        </p:spPr>
      </p:cxnSp>
      <p:cxnSp>
        <p:nvCxnSpPr>
          <p:cNvPr id="411" name="Google Shape;411;p13"/>
          <p:cNvCxnSpPr/>
          <p:nvPr/>
        </p:nvCxnSpPr>
        <p:spPr>
          <a:xfrm flipH="1">
            <a:off x="2971643" y="4778754"/>
            <a:ext cx="233365" cy="94034"/>
          </a:xfrm>
          <a:prstGeom prst="straightConnector1">
            <a:avLst/>
          </a:prstGeom>
          <a:noFill/>
          <a:ln cap="flat" cmpd="sng" w="9525">
            <a:solidFill>
              <a:schemeClr val="dk1"/>
            </a:solidFill>
            <a:prstDash val="solid"/>
            <a:miter lim="800000"/>
            <a:headEnd len="sm" w="sm" type="none"/>
            <a:tailEnd len="med" w="med" type="triangle"/>
          </a:ln>
        </p:spPr>
      </p:cxnSp>
      <p:cxnSp>
        <p:nvCxnSpPr>
          <p:cNvPr id="412" name="Google Shape;412;p13"/>
          <p:cNvCxnSpPr>
            <a:endCxn id="405" idx="1"/>
          </p:cNvCxnSpPr>
          <p:nvPr/>
        </p:nvCxnSpPr>
        <p:spPr>
          <a:xfrm>
            <a:off x="6884528" y="4389890"/>
            <a:ext cx="811500" cy="315000"/>
          </a:xfrm>
          <a:prstGeom prst="straightConnector1">
            <a:avLst/>
          </a:prstGeom>
          <a:noFill/>
          <a:ln cap="flat" cmpd="sng" w="9525">
            <a:solidFill>
              <a:schemeClr val="dk1"/>
            </a:solidFill>
            <a:prstDash val="solid"/>
            <a:miter lim="800000"/>
            <a:headEnd len="sm" w="sm" type="none"/>
            <a:tailEnd len="med" w="med" type="triangle"/>
          </a:ln>
        </p:spPr>
      </p:cxnSp>
      <p:cxnSp>
        <p:nvCxnSpPr>
          <p:cNvPr id="413" name="Google Shape;413;p13"/>
          <p:cNvCxnSpPr>
            <a:endCxn id="405" idx="1"/>
          </p:cNvCxnSpPr>
          <p:nvPr/>
        </p:nvCxnSpPr>
        <p:spPr>
          <a:xfrm flipH="1" rot="10800000">
            <a:off x="6877928" y="4704890"/>
            <a:ext cx="818100" cy="290100"/>
          </a:xfrm>
          <a:prstGeom prst="straightConnector1">
            <a:avLst/>
          </a:prstGeom>
          <a:noFill/>
          <a:ln cap="flat" cmpd="sng" w="9525">
            <a:solidFill>
              <a:schemeClr val="dk1"/>
            </a:solidFill>
            <a:prstDash val="solid"/>
            <a:miter lim="800000"/>
            <a:headEnd len="sm" w="sm" type="none"/>
            <a:tailEnd len="med" w="med" type="triangle"/>
          </a:ln>
        </p:spPr>
      </p:cxnSp>
      <p:cxnSp>
        <p:nvCxnSpPr>
          <p:cNvPr id="414" name="Google Shape;414;p13"/>
          <p:cNvCxnSpPr/>
          <p:nvPr/>
        </p:nvCxnSpPr>
        <p:spPr>
          <a:xfrm rot="10800000">
            <a:off x="7097486" y="4165468"/>
            <a:ext cx="3413760" cy="0"/>
          </a:xfrm>
          <a:prstGeom prst="straightConnector1">
            <a:avLst/>
          </a:prstGeom>
          <a:noFill/>
          <a:ln cap="flat" cmpd="sng" w="9525">
            <a:solidFill>
              <a:schemeClr val="dk1"/>
            </a:solidFill>
            <a:prstDash val="solid"/>
            <a:miter lim="800000"/>
            <a:headEnd len="sm" w="sm" type="none"/>
            <a:tailEnd len="med" w="med" type="triangle"/>
          </a:ln>
        </p:spPr>
      </p:cxnSp>
      <p:sp>
        <p:nvSpPr>
          <p:cNvPr id="415" name="Google Shape;415;p13"/>
          <p:cNvSpPr/>
          <p:nvPr/>
        </p:nvSpPr>
        <p:spPr>
          <a:xfrm>
            <a:off x="9051468" y="3827092"/>
            <a:ext cx="2358857" cy="786406"/>
          </a:xfrm>
          <a:prstGeom prst="rect">
            <a:avLst/>
          </a:prstGeom>
          <a:noFill/>
          <a:ln cap="flat" cmpd="sng" w="38100">
            <a:solidFill>
              <a:schemeClr val="accent2"/>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416" name="Google Shape;416;p13"/>
          <p:cNvSpPr txBox="1"/>
          <p:nvPr/>
        </p:nvSpPr>
        <p:spPr>
          <a:xfrm>
            <a:off x="4525292" y="4182612"/>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accent2"/>
                </a:solidFill>
                <a:latin typeface="Arial"/>
                <a:ea typeface="Arial"/>
                <a:cs typeface="Arial"/>
                <a:sym typeface="Arial"/>
              </a:rPr>
              <a:t>①</a:t>
            </a:r>
            <a:endParaRPr/>
          </a:p>
        </p:txBody>
      </p:sp>
      <p:sp>
        <p:nvSpPr>
          <p:cNvPr id="417" name="Google Shape;417;p13"/>
          <p:cNvSpPr txBox="1"/>
          <p:nvPr/>
        </p:nvSpPr>
        <p:spPr>
          <a:xfrm>
            <a:off x="4536137" y="4874878"/>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accent2"/>
                </a:solidFill>
                <a:latin typeface="Arial"/>
                <a:ea typeface="Arial"/>
                <a:cs typeface="Arial"/>
                <a:sym typeface="Arial"/>
              </a:rPr>
              <a:t>②</a:t>
            </a:r>
            <a:endParaRPr/>
          </a:p>
        </p:txBody>
      </p:sp>
      <p:sp>
        <p:nvSpPr>
          <p:cNvPr id="418" name="Google Shape;418;p13"/>
          <p:cNvSpPr txBox="1"/>
          <p:nvPr/>
        </p:nvSpPr>
        <p:spPr>
          <a:xfrm>
            <a:off x="8668713" y="3690120"/>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accent2"/>
                </a:solidFill>
                <a:latin typeface="Arial"/>
                <a:ea typeface="Arial"/>
                <a:cs typeface="Arial"/>
                <a:sym typeface="Arial"/>
              </a:rPr>
              <a:t>③</a:t>
            </a:r>
            <a:endParaRPr sz="1800">
              <a:solidFill>
                <a:schemeClr val="accent2"/>
              </a:solidFill>
              <a:latin typeface="Arial"/>
              <a:ea typeface="Arial"/>
              <a:cs typeface="Arial"/>
              <a:sym typeface="Arial"/>
            </a:endParaRPr>
          </a:p>
        </p:txBody>
      </p:sp>
      <p:sp>
        <p:nvSpPr>
          <p:cNvPr id="419" name="Google Shape;419;p13"/>
          <p:cNvSpPr/>
          <p:nvPr/>
        </p:nvSpPr>
        <p:spPr>
          <a:xfrm>
            <a:off x="10601604" y="3885454"/>
            <a:ext cx="569747" cy="519581"/>
          </a:xfrm>
          <a:custGeom>
            <a:rect b="b" l="l" r="r" t="t"/>
            <a:pathLst>
              <a:path extrusionOk="0" h="160" w="176">
                <a:moveTo>
                  <a:pt x="160" y="0"/>
                </a:moveTo>
                <a:cubicBezTo>
                  <a:pt x="16" y="0"/>
                  <a:pt x="16" y="0"/>
                  <a:pt x="16" y="0"/>
                </a:cubicBezTo>
                <a:cubicBezTo>
                  <a:pt x="7" y="0"/>
                  <a:pt x="0" y="7"/>
                  <a:pt x="0" y="16"/>
                </a:cubicBezTo>
                <a:cubicBezTo>
                  <a:pt x="0" y="112"/>
                  <a:pt x="0" y="112"/>
                  <a:pt x="0" y="112"/>
                </a:cubicBezTo>
                <a:cubicBezTo>
                  <a:pt x="0" y="121"/>
                  <a:pt x="7" y="128"/>
                  <a:pt x="16" y="128"/>
                </a:cubicBezTo>
                <a:cubicBezTo>
                  <a:pt x="72" y="128"/>
                  <a:pt x="72" y="128"/>
                  <a:pt x="72" y="128"/>
                </a:cubicBezTo>
                <a:cubicBezTo>
                  <a:pt x="72" y="144"/>
                  <a:pt x="72" y="144"/>
                  <a:pt x="72" y="144"/>
                </a:cubicBezTo>
                <a:cubicBezTo>
                  <a:pt x="56" y="144"/>
                  <a:pt x="56" y="144"/>
                  <a:pt x="56" y="144"/>
                </a:cubicBezTo>
                <a:cubicBezTo>
                  <a:pt x="56" y="160"/>
                  <a:pt x="56" y="160"/>
                  <a:pt x="56" y="160"/>
                </a:cubicBezTo>
                <a:cubicBezTo>
                  <a:pt x="120" y="160"/>
                  <a:pt x="120" y="160"/>
                  <a:pt x="120" y="160"/>
                </a:cubicBezTo>
                <a:cubicBezTo>
                  <a:pt x="120" y="144"/>
                  <a:pt x="120" y="144"/>
                  <a:pt x="120" y="144"/>
                </a:cubicBezTo>
                <a:cubicBezTo>
                  <a:pt x="104" y="144"/>
                  <a:pt x="104" y="144"/>
                  <a:pt x="104" y="144"/>
                </a:cubicBezTo>
                <a:cubicBezTo>
                  <a:pt x="104" y="128"/>
                  <a:pt x="104" y="128"/>
                  <a:pt x="104" y="128"/>
                </a:cubicBezTo>
                <a:cubicBezTo>
                  <a:pt x="160" y="128"/>
                  <a:pt x="160" y="128"/>
                  <a:pt x="160" y="128"/>
                </a:cubicBezTo>
                <a:cubicBezTo>
                  <a:pt x="169" y="128"/>
                  <a:pt x="176" y="121"/>
                  <a:pt x="176" y="112"/>
                </a:cubicBezTo>
                <a:cubicBezTo>
                  <a:pt x="176" y="16"/>
                  <a:pt x="176" y="16"/>
                  <a:pt x="176" y="16"/>
                </a:cubicBezTo>
                <a:cubicBezTo>
                  <a:pt x="176" y="7"/>
                  <a:pt x="169" y="0"/>
                  <a:pt x="160" y="0"/>
                </a:cubicBezTo>
                <a:close/>
                <a:moveTo>
                  <a:pt x="160" y="112"/>
                </a:moveTo>
                <a:cubicBezTo>
                  <a:pt x="16" y="112"/>
                  <a:pt x="16" y="112"/>
                  <a:pt x="16" y="112"/>
                </a:cubicBezTo>
                <a:cubicBezTo>
                  <a:pt x="16" y="16"/>
                  <a:pt x="16" y="16"/>
                  <a:pt x="16" y="16"/>
                </a:cubicBezTo>
                <a:cubicBezTo>
                  <a:pt x="160" y="16"/>
                  <a:pt x="160" y="16"/>
                  <a:pt x="160" y="16"/>
                </a:cubicBezTo>
                <a:lnTo>
                  <a:pt x="160" y="112"/>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0" name="Google Shape;420;p13"/>
          <p:cNvSpPr/>
          <p:nvPr/>
        </p:nvSpPr>
        <p:spPr>
          <a:xfrm>
            <a:off x="11101456" y="4203385"/>
            <a:ext cx="234997" cy="365125"/>
          </a:xfrm>
          <a:custGeom>
            <a:rect b="b" l="l" r="r" t="t"/>
            <a:pathLst>
              <a:path extrusionOk="0" h="176" w="112">
                <a:moveTo>
                  <a:pt x="88" y="0"/>
                </a:moveTo>
                <a:cubicBezTo>
                  <a:pt x="24" y="0"/>
                  <a:pt x="24" y="0"/>
                  <a:pt x="24" y="0"/>
                </a:cubicBezTo>
                <a:cubicBezTo>
                  <a:pt x="11" y="0"/>
                  <a:pt x="0" y="11"/>
                  <a:pt x="0" y="24"/>
                </a:cubicBezTo>
                <a:cubicBezTo>
                  <a:pt x="0" y="152"/>
                  <a:pt x="0" y="152"/>
                  <a:pt x="0" y="152"/>
                </a:cubicBezTo>
                <a:cubicBezTo>
                  <a:pt x="0" y="165"/>
                  <a:pt x="11" y="176"/>
                  <a:pt x="24" y="176"/>
                </a:cubicBezTo>
                <a:cubicBezTo>
                  <a:pt x="88" y="176"/>
                  <a:pt x="88" y="176"/>
                  <a:pt x="88" y="176"/>
                </a:cubicBezTo>
                <a:cubicBezTo>
                  <a:pt x="101" y="176"/>
                  <a:pt x="112" y="165"/>
                  <a:pt x="112" y="152"/>
                </a:cubicBezTo>
                <a:cubicBezTo>
                  <a:pt x="112" y="24"/>
                  <a:pt x="112" y="24"/>
                  <a:pt x="112" y="24"/>
                </a:cubicBezTo>
                <a:cubicBezTo>
                  <a:pt x="112" y="11"/>
                  <a:pt x="101" y="0"/>
                  <a:pt x="88" y="0"/>
                </a:cubicBezTo>
                <a:close/>
                <a:moveTo>
                  <a:pt x="72" y="160"/>
                </a:moveTo>
                <a:cubicBezTo>
                  <a:pt x="40" y="160"/>
                  <a:pt x="40" y="160"/>
                  <a:pt x="40" y="160"/>
                </a:cubicBezTo>
                <a:cubicBezTo>
                  <a:pt x="40" y="152"/>
                  <a:pt x="40" y="152"/>
                  <a:pt x="40" y="152"/>
                </a:cubicBezTo>
                <a:cubicBezTo>
                  <a:pt x="72" y="152"/>
                  <a:pt x="72" y="152"/>
                  <a:pt x="72" y="152"/>
                </a:cubicBezTo>
                <a:lnTo>
                  <a:pt x="72" y="160"/>
                </a:lnTo>
                <a:close/>
                <a:moveTo>
                  <a:pt x="98" y="136"/>
                </a:moveTo>
                <a:cubicBezTo>
                  <a:pt x="14" y="136"/>
                  <a:pt x="14" y="136"/>
                  <a:pt x="14" y="136"/>
                </a:cubicBezTo>
                <a:cubicBezTo>
                  <a:pt x="14" y="24"/>
                  <a:pt x="14" y="24"/>
                  <a:pt x="14" y="24"/>
                </a:cubicBezTo>
                <a:cubicBezTo>
                  <a:pt x="98" y="24"/>
                  <a:pt x="98" y="24"/>
                  <a:pt x="98" y="24"/>
                </a:cubicBezTo>
                <a:lnTo>
                  <a:pt x="98" y="13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4"/>
          <p:cNvSpPr txBox="1"/>
          <p:nvPr>
            <p:ph type="title"/>
          </p:nvPr>
        </p:nvSpPr>
        <p:spPr>
          <a:xfrm>
            <a:off x="838200" y="518760"/>
            <a:ext cx="10515600" cy="592726"/>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3600"/>
              <a:buFont typeface="Roboto"/>
              <a:buNone/>
            </a:pPr>
            <a:r>
              <a:rPr lang="ja-JP" sz="3600"/>
              <a:t>（参考）ガバメントクラウドでの責任共有モデル</a:t>
            </a:r>
            <a:endParaRPr sz="3600"/>
          </a:p>
        </p:txBody>
      </p:sp>
      <p:sp>
        <p:nvSpPr>
          <p:cNvPr id="426" name="Google Shape;426;p14"/>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427" name="Google Shape;427;p14"/>
          <p:cNvSpPr/>
          <p:nvPr/>
        </p:nvSpPr>
        <p:spPr>
          <a:xfrm>
            <a:off x="2961030" y="1687361"/>
            <a:ext cx="3874093" cy="4311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データ</a:t>
            </a:r>
            <a:endParaRPr sz="1400" u="none" cap="none" strike="noStrike">
              <a:solidFill>
                <a:srgbClr val="000000"/>
              </a:solidFill>
              <a:latin typeface="Arial"/>
              <a:ea typeface="Arial"/>
              <a:cs typeface="Arial"/>
              <a:sym typeface="Arial"/>
            </a:endParaRPr>
          </a:p>
        </p:txBody>
      </p:sp>
      <p:sp>
        <p:nvSpPr>
          <p:cNvPr id="428" name="Google Shape;428;p14"/>
          <p:cNvSpPr/>
          <p:nvPr/>
        </p:nvSpPr>
        <p:spPr>
          <a:xfrm>
            <a:off x="2961031" y="2179396"/>
            <a:ext cx="3874180"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アプリケーション</a:t>
            </a:r>
            <a:endParaRPr sz="1400" u="none" cap="none" strike="noStrike">
              <a:solidFill>
                <a:srgbClr val="000000"/>
              </a:solidFill>
              <a:latin typeface="Arial"/>
              <a:ea typeface="Arial"/>
              <a:cs typeface="Arial"/>
              <a:sym typeface="Arial"/>
            </a:endParaRPr>
          </a:p>
        </p:txBody>
      </p:sp>
      <p:sp>
        <p:nvSpPr>
          <p:cNvPr id="429" name="Google Shape;429;p14"/>
          <p:cNvSpPr/>
          <p:nvPr/>
        </p:nvSpPr>
        <p:spPr>
          <a:xfrm>
            <a:off x="2961031" y="2671431"/>
            <a:ext cx="3874180"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マネージドサービス構成</a:t>
            </a:r>
            <a:endParaRPr sz="1400" u="none" cap="none" strike="noStrike">
              <a:solidFill>
                <a:srgbClr val="000000"/>
              </a:solidFill>
              <a:latin typeface="Arial"/>
              <a:ea typeface="Arial"/>
              <a:cs typeface="Arial"/>
              <a:sym typeface="Arial"/>
            </a:endParaRPr>
          </a:p>
        </p:txBody>
      </p:sp>
      <p:sp>
        <p:nvSpPr>
          <p:cNvPr id="430" name="Google Shape;430;p14"/>
          <p:cNvSpPr/>
          <p:nvPr/>
        </p:nvSpPr>
        <p:spPr>
          <a:xfrm>
            <a:off x="2961031" y="3163466"/>
            <a:ext cx="3874180"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ミドルウェア／OS</a:t>
            </a:r>
            <a:endParaRPr sz="1400" u="none" cap="none" strike="noStrike">
              <a:solidFill>
                <a:schemeClr val="dk1"/>
              </a:solidFill>
              <a:latin typeface="Arial"/>
              <a:ea typeface="Arial"/>
              <a:cs typeface="Arial"/>
              <a:sym typeface="Arial"/>
            </a:endParaRPr>
          </a:p>
        </p:txBody>
      </p:sp>
      <p:sp>
        <p:nvSpPr>
          <p:cNvPr id="431" name="Google Shape;431;p14"/>
          <p:cNvSpPr/>
          <p:nvPr/>
        </p:nvSpPr>
        <p:spPr>
          <a:xfrm>
            <a:off x="2961031" y="3655501"/>
            <a:ext cx="3874180"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ネットワーク構成</a:t>
            </a:r>
            <a:br>
              <a:rPr lang="ja-JP" sz="1400" u="none" cap="none" strike="noStrike">
                <a:solidFill>
                  <a:schemeClr val="dk1"/>
                </a:solidFill>
                <a:latin typeface="Arial"/>
                <a:ea typeface="Arial"/>
                <a:cs typeface="Arial"/>
                <a:sym typeface="Arial"/>
              </a:rPr>
            </a:br>
            <a:r>
              <a:rPr lang="ja-JP" sz="1000" u="none" cap="none" strike="noStrike">
                <a:solidFill>
                  <a:schemeClr val="dk1"/>
                </a:solidFill>
                <a:latin typeface="Arial"/>
                <a:ea typeface="Arial"/>
                <a:cs typeface="Arial"/>
                <a:sym typeface="Arial"/>
              </a:rPr>
              <a:t>（システム内／インターネット接続）</a:t>
            </a:r>
            <a:endParaRPr sz="1400" u="none" cap="none" strike="noStrike">
              <a:solidFill>
                <a:srgbClr val="000000"/>
              </a:solidFill>
              <a:latin typeface="Arial"/>
              <a:ea typeface="Arial"/>
              <a:cs typeface="Arial"/>
              <a:sym typeface="Arial"/>
            </a:endParaRPr>
          </a:p>
        </p:txBody>
      </p:sp>
      <p:sp>
        <p:nvSpPr>
          <p:cNvPr id="432" name="Google Shape;432;p14"/>
          <p:cNvSpPr/>
          <p:nvPr/>
        </p:nvSpPr>
        <p:spPr>
          <a:xfrm>
            <a:off x="2933871" y="4211642"/>
            <a:ext cx="1910289"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ガバナンス</a:t>
            </a:r>
            <a:br>
              <a:rPr lang="ja-JP" sz="1400" u="none" cap="none" strike="noStrike">
                <a:solidFill>
                  <a:schemeClr val="dk1"/>
                </a:solidFill>
                <a:latin typeface="Arial"/>
                <a:ea typeface="Arial"/>
                <a:cs typeface="Arial"/>
                <a:sym typeface="Arial"/>
              </a:rPr>
            </a:br>
            <a:r>
              <a:rPr lang="ja-JP" sz="1400" u="none" cap="none" strike="noStrike">
                <a:solidFill>
                  <a:schemeClr val="dk1"/>
                </a:solidFill>
                <a:latin typeface="Arial"/>
                <a:ea typeface="Arial"/>
                <a:cs typeface="Arial"/>
                <a:sym typeface="Arial"/>
              </a:rPr>
              <a:t>ルール</a:t>
            </a:r>
            <a:endParaRPr sz="1400" u="none" cap="none" strike="noStrike">
              <a:solidFill>
                <a:schemeClr val="dk1"/>
              </a:solidFill>
              <a:latin typeface="Arial"/>
              <a:ea typeface="Arial"/>
              <a:cs typeface="Arial"/>
              <a:sym typeface="Arial"/>
            </a:endParaRPr>
          </a:p>
        </p:txBody>
      </p:sp>
      <p:sp>
        <p:nvSpPr>
          <p:cNvPr id="433" name="Google Shape;433;p14"/>
          <p:cNvSpPr/>
          <p:nvPr/>
        </p:nvSpPr>
        <p:spPr>
          <a:xfrm>
            <a:off x="2961031" y="4703679"/>
            <a:ext cx="3874180"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ベースライン環境、コスト</a:t>
            </a:r>
            <a:endParaRPr sz="1400" u="none" cap="none" strike="noStrike">
              <a:solidFill>
                <a:schemeClr val="dk1"/>
              </a:solidFill>
              <a:latin typeface="Arial"/>
              <a:ea typeface="Arial"/>
              <a:cs typeface="Arial"/>
              <a:sym typeface="Arial"/>
            </a:endParaRPr>
          </a:p>
        </p:txBody>
      </p:sp>
      <p:sp>
        <p:nvSpPr>
          <p:cNvPr id="434" name="Google Shape;434;p14"/>
          <p:cNvSpPr/>
          <p:nvPr/>
        </p:nvSpPr>
        <p:spPr>
          <a:xfrm>
            <a:off x="2961031" y="5265386"/>
            <a:ext cx="3874180"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クラウドサービス</a:t>
            </a:r>
            <a:r>
              <a:rPr lang="ja-JP" sz="1400">
                <a:solidFill>
                  <a:schemeClr val="dk1"/>
                </a:solidFill>
                <a:latin typeface="Arial"/>
                <a:ea typeface="Arial"/>
                <a:cs typeface="Arial"/>
                <a:sym typeface="Arial"/>
              </a:rPr>
              <a:t>環境</a:t>
            </a:r>
            <a:endParaRPr sz="1400" u="none" cap="none" strike="noStrike">
              <a:solidFill>
                <a:srgbClr val="000000"/>
              </a:solidFill>
              <a:latin typeface="Arial"/>
              <a:ea typeface="Arial"/>
              <a:cs typeface="Arial"/>
              <a:sym typeface="Arial"/>
            </a:endParaRPr>
          </a:p>
        </p:txBody>
      </p:sp>
      <p:sp>
        <p:nvSpPr>
          <p:cNvPr id="435" name="Google Shape;435;p14"/>
          <p:cNvSpPr/>
          <p:nvPr/>
        </p:nvSpPr>
        <p:spPr>
          <a:xfrm>
            <a:off x="4924834" y="4211641"/>
            <a:ext cx="1910289"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リファレンス</a:t>
            </a:r>
            <a:endParaRPr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構成</a:t>
            </a:r>
            <a:endParaRPr sz="1400" u="none" cap="none" strike="noStrike">
              <a:solidFill>
                <a:schemeClr val="dk1"/>
              </a:solidFill>
              <a:latin typeface="Arial"/>
              <a:ea typeface="Arial"/>
              <a:cs typeface="Arial"/>
              <a:sym typeface="Arial"/>
            </a:endParaRPr>
          </a:p>
        </p:txBody>
      </p:sp>
      <p:sp>
        <p:nvSpPr>
          <p:cNvPr id="436" name="Google Shape;436;p14"/>
          <p:cNvSpPr/>
          <p:nvPr/>
        </p:nvSpPr>
        <p:spPr>
          <a:xfrm>
            <a:off x="9283346" y="1687071"/>
            <a:ext cx="2021386" cy="2399210"/>
          </a:xfrm>
          <a:prstGeom prst="rect">
            <a:avLst/>
          </a:prstGeom>
          <a:solidFill>
            <a:srgbClr val="7F7F7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lt1"/>
                </a:solidFill>
                <a:latin typeface="Arial"/>
                <a:ea typeface="Arial"/>
                <a:cs typeface="Arial"/>
                <a:sym typeface="Arial"/>
              </a:rPr>
              <a:t>利用システム</a:t>
            </a:r>
            <a:endParaRPr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lt1"/>
                </a:solidFill>
                <a:latin typeface="Arial"/>
                <a:ea typeface="Arial"/>
                <a:cs typeface="Arial"/>
                <a:sym typeface="Arial"/>
              </a:rPr>
              <a:t>開発運用体制</a:t>
            </a:r>
            <a:endParaRPr sz="1400" u="none" cap="none" strike="noStrike">
              <a:solidFill>
                <a:schemeClr val="lt1"/>
              </a:solidFill>
              <a:latin typeface="Arial"/>
              <a:ea typeface="Arial"/>
              <a:cs typeface="Arial"/>
              <a:sym typeface="Arial"/>
            </a:endParaRPr>
          </a:p>
        </p:txBody>
      </p:sp>
      <p:sp>
        <p:nvSpPr>
          <p:cNvPr id="437" name="Google Shape;437;p14"/>
          <p:cNvSpPr txBox="1"/>
          <p:nvPr/>
        </p:nvSpPr>
        <p:spPr>
          <a:xfrm>
            <a:off x="838200" y="2794766"/>
            <a:ext cx="1825869"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lang="ja-JP" sz="1400">
                <a:solidFill>
                  <a:srgbClr val="000000"/>
                </a:solidFill>
                <a:latin typeface="Arial"/>
                <a:ea typeface="Arial"/>
                <a:cs typeface="Arial"/>
                <a:sym typeface="Arial"/>
              </a:rPr>
              <a:t>利用</a:t>
            </a:r>
            <a:r>
              <a:rPr lang="ja-JP" sz="1400" u="none" cap="none" strike="noStrike">
                <a:solidFill>
                  <a:srgbClr val="000000"/>
                </a:solidFill>
                <a:latin typeface="Arial"/>
                <a:ea typeface="Arial"/>
                <a:cs typeface="Arial"/>
                <a:sym typeface="Arial"/>
              </a:rPr>
              <a:t>システムの</a:t>
            </a:r>
            <a:br>
              <a:rPr lang="ja-JP" sz="1400" u="none" cap="none" strike="noStrike">
                <a:solidFill>
                  <a:srgbClr val="000000"/>
                </a:solidFill>
                <a:latin typeface="Arial"/>
                <a:ea typeface="Arial"/>
                <a:cs typeface="Arial"/>
                <a:sym typeface="Arial"/>
              </a:rPr>
            </a:br>
            <a:r>
              <a:rPr lang="ja-JP" sz="1400" u="none" cap="none" strike="noStrike">
                <a:solidFill>
                  <a:srgbClr val="000000"/>
                </a:solidFill>
                <a:latin typeface="Arial"/>
                <a:ea typeface="Arial"/>
                <a:cs typeface="Arial"/>
                <a:sym typeface="Arial"/>
              </a:rPr>
              <a:t>責任範囲</a:t>
            </a:r>
            <a:endParaRPr sz="1400" u="none" cap="none" strike="noStrike">
              <a:solidFill>
                <a:srgbClr val="000000"/>
              </a:solidFill>
              <a:latin typeface="Arial"/>
              <a:ea typeface="Arial"/>
              <a:cs typeface="Arial"/>
              <a:sym typeface="Arial"/>
            </a:endParaRPr>
          </a:p>
        </p:txBody>
      </p:sp>
      <p:sp>
        <p:nvSpPr>
          <p:cNvPr id="438" name="Google Shape;438;p14"/>
          <p:cNvSpPr/>
          <p:nvPr/>
        </p:nvSpPr>
        <p:spPr>
          <a:xfrm>
            <a:off x="9283346" y="5267965"/>
            <a:ext cx="2021386" cy="92309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クラウドサービス</a:t>
            </a:r>
            <a:endParaRPr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事業者</a:t>
            </a:r>
            <a:r>
              <a:rPr lang="ja-JP" sz="1400">
                <a:solidFill>
                  <a:schemeClr val="dk1"/>
                </a:solidFill>
                <a:latin typeface="Arial"/>
                <a:ea typeface="Arial"/>
                <a:cs typeface="Arial"/>
                <a:sym typeface="Arial"/>
              </a:rPr>
              <a:t>サポート</a:t>
            </a:r>
            <a:endParaRPr sz="1400" u="none" cap="none" strike="noStrike">
              <a:solidFill>
                <a:schemeClr val="dk1"/>
              </a:solidFill>
              <a:latin typeface="Arial"/>
              <a:ea typeface="Arial"/>
              <a:cs typeface="Arial"/>
              <a:sym typeface="Arial"/>
            </a:endParaRPr>
          </a:p>
        </p:txBody>
      </p:sp>
      <p:sp>
        <p:nvSpPr>
          <p:cNvPr id="439" name="Google Shape;439;p14"/>
          <p:cNvSpPr/>
          <p:nvPr/>
        </p:nvSpPr>
        <p:spPr>
          <a:xfrm>
            <a:off x="2961030" y="5757421"/>
            <a:ext cx="3874180" cy="43107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200" u="none" cap="none" strike="noStrike">
                <a:solidFill>
                  <a:schemeClr val="dk1"/>
                </a:solidFill>
                <a:latin typeface="Arial"/>
                <a:ea typeface="Arial"/>
                <a:cs typeface="Arial"/>
                <a:sym typeface="Arial"/>
              </a:rPr>
              <a:t>クラウド環境下の物理</a:t>
            </a:r>
            <a:r>
              <a:rPr lang="ja-JP" sz="1200">
                <a:solidFill>
                  <a:schemeClr val="dk1"/>
                </a:solidFill>
                <a:latin typeface="Arial"/>
                <a:ea typeface="Arial"/>
                <a:cs typeface="Arial"/>
                <a:sym typeface="Arial"/>
              </a:rPr>
              <a:t>インフラストラクチャ</a:t>
            </a:r>
            <a:br>
              <a:rPr lang="ja-JP" sz="1400" u="none" cap="none" strike="noStrike">
                <a:solidFill>
                  <a:schemeClr val="dk1"/>
                </a:solidFill>
                <a:latin typeface="Arial"/>
                <a:ea typeface="Arial"/>
                <a:cs typeface="Arial"/>
                <a:sym typeface="Arial"/>
              </a:rPr>
            </a:br>
            <a:r>
              <a:rPr lang="ja-JP" sz="900" u="none" cap="none" strike="noStrike">
                <a:solidFill>
                  <a:schemeClr val="dk1"/>
                </a:solidFill>
                <a:latin typeface="Arial"/>
                <a:ea typeface="Arial"/>
                <a:cs typeface="Arial"/>
                <a:sym typeface="Arial"/>
              </a:rPr>
              <a:t>（コンピュート、ストレージ、ネットワーク、リージョン他）</a:t>
            </a:r>
            <a:endParaRPr sz="1200" u="none" cap="none" strike="noStrike">
              <a:solidFill>
                <a:srgbClr val="000000"/>
              </a:solidFill>
              <a:latin typeface="Arial"/>
              <a:ea typeface="Arial"/>
              <a:cs typeface="Arial"/>
              <a:sym typeface="Arial"/>
            </a:endParaRPr>
          </a:p>
        </p:txBody>
      </p:sp>
      <p:cxnSp>
        <p:nvCxnSpPr>
          <p:cNvPr id="440" name="Google Shape;440;p14"/>
          <p:cNvCxnSpPr/>
          <p:nvPr/>
        </p:nvCxnSpPr>
        <p:spPr>
          <a:xfrm>
            <a:off x="855133" y="5205317"/>
            <a:ext cx="10498667" cy="0"/>
          </a:xfrm>
          <a:prstGeom prst="straightConnector1">
            <a:avLst/>
          </a:prstGeom>
          <a:noFill/>
          <a:ln cap="flat" cmpd="sng" w="28575">
            <a:solidFill>
              <a:schemeClr val="dk1"/>
            </a:solidFill>
            <a:prstDash val="solid"/>
            <a:miter lim="800000"/>
            <a:headEnd len="sm" w="sm" type="none"/>
            <a:tailEnd len="sm" w="sm" type="none"/>
          </a:ln>
        </p:spPr>
      </p:cxnSp>
      <p:sp>
        <p:nvSpPr>
          <p:cNvPr id="441" name="Google Shape;441;p14"/>
          <p:cNvSpPr/>
          <p:nvPr/>
        </p:nvSpPr>
        <p:spPr>
          <a:xfrm>
            <a:off x="9283346" y="4212680"/>
            <a:ext cx="2021386" cy="94277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ガバメントクラウド</a:t>
            </a:r>
            <a:endParaRPr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開発運用体制</a:t>
            </a:r>
            <a:endParaRPr sz="1400" u="none" cap="none" strike="noStrike">
              <a:solidFill>
                <a:schemeClr val="dk1"/>
              </a:solidFill>
              <a:latin typeface="Arial"/>
              <a:ea typeface="Arial"/>
              <a:cs typeface="Arial"/>
              <a:sym typeface="Arial"/>
            </a:endParaRPr>
          </a:p>
        </p:txBody>
      </p:sp>
      <p:sp>
        <p:nvSpPr>
          <p:cNvPr id="442" name="Google Shape;442;p14"/>
          <p:cNvSpPr txBox="1"/>
          <p:nvPr/>
        </p:nvSpPr>
        <p:spPr>
          <a:xfrm>
            <a:off x="838200" y="4437792"/>
            <a:ext cx="1998135"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lang="ja-JP" sz="1400">
                <a:solidFill>
                  <a:srgbClr val="000000"/>
                </a:solidFill>
                <a:latin typeface="Arial"/>
                <a:ea typeface="Arial"/>
                <a:cs typeface="Arial"/>
                <a:sym typeface="Arial"/>
              </a:rPr>
              <a:t>ガバメントクラウド</a:t>
            </a:r>
            <a:br>
              <a:rPr lang="ja-JP" sz="1400">
                <a:solidFill>
                  <a:srgbClr val="000000"/>
                </a:solidFill>
                <a:latin typeface="Arial"/>
                <a:ea typeface="Arial"/>
                <a:cs typeface="Arial"/>
                <a:sym typeface="Arial"/>
              </a:rPr>
            </a:br>
            <a:r>
              <a:rPr lang="ja-JP" sz="1400">
                <a:solidFill>
                  <a:srgbClr val="000000"/>
                </a:solidFill>
                <a:latin typeface="Arial"/>
                <a:ea typeface="Arial"/>
                <a:cs typeface="Arial"/>
                <a:sym typeface="Arial"/>
              </a:rPr>
              <a:t>共通の技術ガバナンス</a:t>
            </a:r>
            <a:endParaRPr sz="1400" u="none" cap="none" strike="noStrike">
              <a:solidFill>
                <a:srgbClr val="000000"/>
              </a:solidFill>
              <a:latin typeface="Arial"/>
              <a:ea typeface="Arial"/>
              <a:cs typeface="Arial"/>
              <a:sym typeface="Arial"/>
            </a:endParaRPr>
          </a:p>
        </p:txBody>
      </p:sp>
      <p:sp>
        <p:nvSpPr>
          <p:cNvPr id="443" name="Google Shape;443;p14"/>
          <p:cNvSpPr/>
          <p:nvPr/>
        </p:nvSpPr>
        <p:spPr>
          <a:xfrm>
            <a:off x="7029242" y="1684441"/>
            <a:ext cx="2060072" cy="2399210"/>
          </a:xfrm>
          <a:prstGeom prst="rect">
            <a:avLst/>
          </a:prstGeom>
          <a:solidFill>
            <a:srgbClr val="7F7F7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lt1"/>
                </a:solidFill>
                <a:latin typeface="Arial"/>
                <a:ea typeface="Arial"/>
                <a:cs typeface="Arial"/>
                <a:sym typeface="Arial"/>
              </a:rPr>
              <a:t>クラウド</a:t>
            </a:r>
            <a:endParaRPr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lt1"/>
                </a:solidFill>
                <a:latin typeface="Arial"/>
                <a:ea typeface="Arial"/>
                <a:cs typeface="Arial"/>
                <a:sym typeface="Arial"/>
              </a:rPr>
              <a:t>セキュリティ機能</a:t>
            </a:r>
            <a:endParaRPr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ja-JP" sz="1400">
                <a:solidFill>
                  <a:schemeClr val="lt1"/>
                </a:solidFill>
                <a:latin typeface="Arial"/>
                <a:ea typeface="Arial"/>
                <a:cs typeface="Arial"/>
                <a:sym typeface="Arial"/>
              </a:rPr>
              <a:t>を活用した</a:t>
            </a:r>
            <a:endParaRPr sz="1400">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lt1"/>
                </a:solidFill>
                <a:latin typeface="Arial"/>
                <a:ea typeface="Arial"/>
                <a:cs typeface="Arial"/>
                <a:sym typeface="Arial"/>
              </a:rPr>
              <a:t>セキュリティ対策</a:t>
            </a:r>
            <a:br>
              <a:rPr lang="ja-JP" sz="1400" u="none" cap="none" strike="noStrike">
                <a:solidFill>
                  <a:schemeClr val="lt1"/>
                </a:solidFill>
                <a:latin typeface="Arial"/>
                <a:ea typeface="Arial"/>
                <a:cs typeface="Arial"/>
                <a:sym typeface="Arial"/>
              </a:rPr>
            </a:br>
            <a:r>
              <a:rPr lang="ja-JP" sz="1400" u="none" cap="none" strike="noStrike">
                <a:solidFill>
                  <a:schemeClr val="lt1"/>
                </a:solidFill>
                <a:latin typeface="Arial"/>
                <a:ea typeface="Arial"/>
                <a:cs typeface="Arial"/>
                <a:sym typeface="Arial"/>
              </a:rPr>
              <a:t>と運用</a:t>
            </a:r>
            <a:endParaRPr sz="1400" u="none" cap="none" strike="noStrike">
              <a:solidFill>
                <a:schemeClr val="lt1"/>
              </a:solidFill>
              <a:latin typeface="Arial"/>
              <a:ea typeface="Arial"/>
              <a:cs typeface="Arial"/>
              <a:sym typeface="Arial"/>
            </a:endParaRPr>
          </a:p>
        </p:txBody>
      </p:sp>
      <p:sp>
        <p:nvSpPr>
          <p:cNvPr id="444" name="Google Shape;444;p14"/>
          <p:cNvSpPr/>
          <p:nvPr/>
        </p:nvSpPr>
        <p:spPr>
          <a:xfrm>
            <a:off x="7029242" y="4213437"/>
            <a:ext cx="2060072" cy="94277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リスク、ガバナンス</a:t>
            </a:r>
            <a:r>
              <a:rPr lang="ja-JP" sz="1400">
                <a:solidFill>
                  <a:schemeClr val="dk1"/>
                </a:solidFill>
                <a:latin typeface="Arial"/>
                <a:ea typeface="Arial"/>
                <a:cs typeface="Arial"/>
                <a:sym typeface="Arial"/>
              </a:rPr>
              <a:t>を</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実装した</a:t>
            </a:r>
            <a:r>
              <a:rPr lang="ja-JP" sz="1400" u="none" cap="none" strike="noStrike">
                <a:solidFill>
                  <a:schemeClr val="dk1"/>
                </a:solidFill>
                <a:latin typeface="Arial"/>
                <a:ea typeface="Arial"/>
                <a:cs typeface="Arial"/>
                <a:sym typeface="Arial"/>
              </a:rPr>
              <a:t>統制基盤</a:t>
            </a:r>
            <a:endParaRPr sz="1400" u="none" cap="none" strike="noStrike">
              <a:solidFill>
                <a:schemeClr val="dk1"/>
              </a:solidFill>
              <a:latin typeface="Arial"/>
              <a:ea typeface="Arial"/>
              <a:cs typeface="Arial"/>
              <a:sym typeface="Arial"/>
            </a:endParaRPr>
          </a:p>
        </p:txBody>
      </p:sp>
      <p:cxnSp>
        <p:nvCxnSpPr>
          <p:cNvPr id="445" name="Google Shape;445;p14"/>
          <p:cNvCxnSpPr/>
          <p:nvPr/>
        </p:nvCxnSpPr>
        <p:spPr>
          <a:xfrm>
            <a:off x="838200" y="4148251"/>
            <a:ext cx="10515600" cy="0"/>
          </a:xfrm>
          <a:prstGeom prst="straightConnector1">
            <a:avLst/>
          </a:prstGeom>
          <a:noFill/>
          <a:ln cap="flat" cmpd="sng" w="28575">
            <a:solidFill>
              <a:schemeClr val="dk1"/>
            </a:solidFill>
            <a:prstDash val="solid"/>
            <a:miter lim="800000"/>
            <a:headEnd len="sm" w="sm" type="none"/>
            <a:tailEnd len="sm" w="sm" type="none"/>
          </a:ln>
        </p:spPr>
      </p:cxnSp>
      <p:sp>
        <p:nvSpPr>
          <p:cNvPr id="446" name="Google Shape;446;p14"/>
          <p:cNvSpPr/>
          <p:nvPr/>
        </p:nvSpPr>
        <p:spPr>
          <a:xfrm>
            <a:off x="7029242" y="5263455"/>
            <a:ext cx="2060072" cy="923097"/>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ja-JP" sz="1400" u="none" cap="none" strike="noStrike">
                <a:solidFill>
                  <a:schemeClr val="dk1"/>
                </a:solidFill>
                <a:latin typeface="Arial"/>
                <a:ea typeface="Arial"/>
                <a:cs typeface="Arial"/>
                <a:sym typeface="Arial"/>
              </a:rPr>
              <a:t>クラウドサービス</a:t>
            </a:r>
            <a:br>
              <a:rPr lang="ja-JP" sz="1400" u="none" cap="none" strike="noStrike">
                <a:solidFill>
                  <a:schemeClr val="dk1"/>
                </a:solidFill>
                <a:latin typeface="Arial"/>
                <a:ea typeface="Arial"/>
                <a:cs typeface="Arial"/>
                <a:sym typeface="Arial"/>
              </a:rPr>
            </a:br>
            <a:r>
              <a:rPr lang="ja-JP" sz="1400" u="none" cap="none" strike="noStrike">
                <a:solidFill>
                  <a:schemeClr val="dk1"/>
                </a:solidFill>
                <a:latin typeface="Arial"/>
                <a:ea typeface="Arial"/>
                <a:cs typeface="Arial"/>
                <a:sym typeface="Arial"/>
              </a:rPr>
              <a:t>事業者による</a:t>
            </a:r>
            <a:br>
              <a:rPr lang="ja-JP" sz="1400" u="none" cap="none" strike="noStrike">
                <a:solidFill>
                  <a:schemeClr val="dk1"/>
                </a:solidFill>
                <a:latin typeface="Arial"/>
                <a:ea typeface="Arial"/>
                <a:cs typeface="Arial"/>
                <a:sym typeface="Arial"/>
              </a:rPr>
            </a:br>
            <a:r>
              <a:rPr lang="ja-JP" sz="1400" u="none" cap="none" strike="noStrike">
                <a:solidFill>
                  <a:schemeClr val="dk1"/>
                </a:solidFill>
                <a:latin typeface="Arial"/>
                <a:ea typeface="Arial"/>
                <a:cs typeface="Arial"/>
                <a:sym typeface="Arial"/>
              </a:rPr>
              <a:t>リスク、ガバナンス、</a:t>
            </a:r>
            <a:br>
              <a:rPr lang="ja-JP" sz="1400" u="none" cap="none" strike="noStrike">
                <a:solidFill>
                  <a:schemeClr val="dk1"/>
                </a:solidFill>
                <a:latin typeface="Arial"/>
                <a:ea typeface="Arial"/>
                <a:cs typeface="Arial"/>
                <a:sym typeface="Arial"/>
              </a:rPr>
            </a:br>
            <a:r>
              <a:rPr lang="ja-JP" sz="1400" u="none" cap="none" strike="noStrike">
                <a:solidFill>
                  <a:schemeClr val="dk1"/>
                </a:solidFill>
                <a:latin typeface="Arial"/>
                <a:ea typeface="Arial"/>
                <a:cs typeface="Arial"/>
                <a:sym typeface="Arial"/>
              </a:rPr>
              <a:t>セキュリティ</a:t>
            </a:r>
            <a:endParaRPr sz="1400" u="none" cap="none" strike="noStrike">
              <a:solidFill>
                <a:schemeClr val="dk1"/>
              </a:solidFill>
              <a:latin typeface="Arial"/>
              <a:ea typeface="Arial"/>
              <a:cs typeface="Arial"/>
              <a:sym typeface="Arial"/>
            </a:endParaRPr>
          </a:p>
        </p:txBody>
      </p:sp>
      <p:sp>
        <p:nvSpPr>
          <p:cNvPr id="447" name="Google Shape;447;p14"/>
          <p:cNvSpPr txBox="1"/>
          <p:nvPr/>
        </p:nvSpPr>
        <p:spPr>
          <a:xfrm>
            <a:off x="838200" y="5463414"/>
            <a:ext cx="1825869"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lang="ja-JP" sz="1400" u="none" cap="none" strike="noStrike">
                <a:solidFill>
                  <a:srgbClr val="000000"/>
                </a:solidFill>
                <a:latin typeface="Arial"/>
                <a:ea typeface="Arial"/>
                <a:cs typeface="Arial"/>
                <a:sym typeface="Arial"/>
              </a:rPr>
              <a:t>クラウドサービス</a:t>
            </a:r>
            <a:endParaRPr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ja-JP" sz="1400">
                <a:solidFill>
                  <a:srgbClr val="000000"/>
                </a:solidFill>
                <a:latin typeface="Arial"/>
                <a:ea typeface="Arial"/>
                <a:cs typeface="Arial"/>
                <a:sym typeface="Arial"/>
              </a:rPr>
              <a:t>ガバナンス</a:t>
            </a:r>
            <a:endParaRPr sz="1400" u="none" cap="none" strike="noStrike">
              <a:solidFill>
                <a:srgbClr val="000000"/>
              </a:solidFill>
              <a:latin typeface="Arial"/>
              <a:ea typeface="Arial"/>
              <a:cs typeface="Arial"/>
              <a:sym typeface="Arial"/>
            </a:endParaRPr>
          </a:p>
        </p:txBody>
      </p:sp>
      <p:sp>
        <p:nvSpPr>
          <p:cNvPr id="448" name="Google Shape;448;p14"/>
          <p:cNvSpPr/>
          <p:nvPr/>
        </p:nvSpPr>
        <p:spPr>
          <a:xfrm>
            <a:off x="6278604" y="4025372"/>
            <a:ext cx="314801" cy="160485"/>
          </a:xfrm>
          <a:prstGeom prst="up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9" name="Google Shape;449;p14"/>
          <p:cNvSpPr/>
          <p:nvPr/>
        </p:nvSpPr>
        <p:spPr>
          <a:xfrm>
            <a:off x="1731549" y="4214048"/>
            <a:ext cx="219562" cy="254579"/>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sz="1600" u="none" cap="none" strike="noStrike">
              <a:solidFill>
                <a:schemeClr val="lt1"/>
              </a:solidFill>
              <a:latin typeface="Arial"/>
              <a:ea typeface="Arial"/>
              <a:cs typeface="Arial"/>
              <a:sym typeface="Arial"/>
            </a:endParaRPr>
          </a:p>
        </p:txBody>
      </p:sp>
      <p:sp>
        <p:nvSpPr>
          <p:cNvPr id="450" name="Google Shape;450;p14"/>
          <p:cNvSpPr/>
          <p:nvPr/>
        </p:nvSpPr>
        <p:spPr>
          <a:xfrm flipH="1" rot="10800000">
            <a:off x="1731549" y="3820388"/>
            <a:ext cx="219562" cy="254579"/>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sz="1600" u="none" cap="none" strike="noStrike">
              <a:solidFill>
                <a:schemeClr val="lt1"/>
              </a:solidFill>
              <a:latin typeface="Arial"/>
              <a:ea typeface="Arial"/>
              <a:cs typeface="Arial"/>
              <a:sym typeface="Arial"/>
            </a:endParaRPr>
          </a:p>
        </p:txBody>
      </p:sp>
      <p:sp>
        <p:nvSpPr>
          <p:cNvPr id="451" name="Google Shape;451;p14"/>
          <p:cNvSpPr/>
          <p:nvPr/>
        </p:nvSpPr>
        <p:spPr>
          <a:xfrm>
            <a:off x="1731549" y="5253568"/>
            <a:ext cx="219562" cy="254579"/>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sz="1600" u="none" cap="none" strike="noStrike">
              <a:solidFill>
                <a:schemeClr val="lt1"/>
              </a:solidFill>
              <a:latin typeface="Arial"/>
              <a:ea typeface="Arial"/>
              <a:cs typeface="Arial"/>
              <a:sym typeface="Arial"/>
            </a:endParaRPr>
          </a:p>
        </p:txBody>
      </p:sp>
      <p:sp>
        <p:nvSpPr>
          <p:cNvPr id="452" name="Google Shape;452;p14"/>
          <p:cNvSpPr/>
          <p:nvPr/>
        </p:nvSpPr>
        <p:spPr>
          <a:xfrm>
            <a:off x="5939827" y="2763252"/>
            <a:ext cx="992356" cy="1220176"/>
          </a:xfrm>
          <a:prstGeom prst="roundRect">
            <a:avLst>
              <a:gd fmla="val 7796" name="adj"/>
            </a:avLst>
          </a:prstGeom>
          <a:solidFill>
            <a:srgbClr val="7F7F7F">
              <a:alpha val="60000"/>
            </a:srgbClr>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IaC</a:t>
            </a:r>
            <a:endParaRPr sz="1400">
              <a:solidFill>
                <a:schemeClr val="lt1"/>
              </a:solidFill>
              <a:latin typeface="Arial"/>
              <a:ea typeface="Arial"/>
              <a:cs typeface="Arial"/>
              <a:sym typeface="Arial"/>
            </a:endParaRPr>
          </a:p>
          <a:p>
            <a:pPr indent="0" lvl="0" marL="0" marR="0" rtl="0" algn="ctr">
              <a:spcBef>
                <a:spcPts val="0"/>
              </a:spcBef>
              <a:spcAft>
                <a:spcPts val="0"/>
              </a:spcAft>
              <a:buNone/>
            </a:pPr>
            <a:r>
              <a:rPr lang="ja-JP" sz="1400">
                <a:solidFill>
                  <a:schemeClr val="lt1"/>
                </a:solidFill>
                <a:latin typeface="Arial"/>
                <a:ea typeface="Arial"/>
                <a:cs typeface="Arial"/>
                <a:sym typeface="Arial"/>
              </a:rPr>
              <a:t>テンプレート</a:t>
            </a:r>
            <a:endParaRPr sz="1400">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5"/>
          <p:cNvSpPr txBox="1"/>
          <p:nvPr>
            <p:ph type="title"/>
          </p:nvPr>
        </p:nvSpPr>
        <p:spPr>
          <a:xfrm>
            <a:off x="838200" y="270360"/>
            <a:ext cx="10515600" cy="1089529"/>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3600"/>
              <a:buFont typeface="Roboto"/>
              <a:buNone/>
            </a:pPr>
            <a:r>
              <a:rPr lang="ja-JP" sz="3600"/>
              <a:t>セキュリティ対策の範囲を絞り込み、</a:t>
            </a:r>
            <a:br>
              <a:rPr lang="ja-JP" sz="3600"/>
            </a:br>
            <a:r>
              <a:rPr lang="ja-JP" sz="3600"/>
              <a:t>日常的な監視で重大な状況になる前に修正する</a:t>
            </a:r>
            <a:endParaRPr sz="3600"/>
          </a:p>
        </p:txBody>
      </p:sp>
      <p:sp>
        <p:nvSpPr>
          <p:cNvPr id="458" name="Google Shape;458;p15"/>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459" name="Google Shape;459;p15"/>
          <p:cNvSpPr/>
          <p:nvPr/>
        </p:nvSpPr>
        <p:spPr>
          <a:xfrm>
            <a:off x="838200" y="1429127"/>
            <a:ext cx="1484164" cy="216568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各利用システム</a:t>
            </a:r>
            <a:endParaRPr/>
          </a:p>
        </p:txBody>
      </p:sp>
      <p:sp>
        <p:nvSpPr>
          <p:cNvPr id="460" name="Google Shape;460;p15"/>
          <p:cNvSpPr/>
          <p:nvPr/>
        </p:nvSpPr>
        <p:spPr>
          <a:xfrm>
            <a:off x="838200" y="4871858"/>
            <a:ext cx="1484164" cy="75393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ガバメント</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クラウド</a:t>
            </a:r>
            <a:endParaRPr sz="1400">
              <a:solidFill>
                <a:schemeClr val="dk1"/>
              </a:solidFill>
              <a:latin typeface="Arial"/>
              <a:ea typeface="Arial"/>
              <a:cs typeface="Arial"/>
              <a:sym typeface="Arial"/>
            </a:endParaRPr>
          </a:p>
        </p:txBody>
      </p:sp>
      <p:sp>
        <p:nvSpPr>
          <p:cNvPr id="461" name="Google Shape;461;p15"/>
          <p:cNvSpPr/>
          <p:nvPr/>
        </p:nvSpPr>
        <p:spPr>
          <a:xfrm>
            <a:off x="2417275" y="1429127"/>
            <a:ext cx="8936525" cy="216568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462" name="Google Shape;462;p15"/>
          <p:cNvSpPr/>
          <p:nvPr/>
        </p:nvSpPr>
        <p:spPr>
          <a:xfrm>
            <a:off x="2413016" y="4871858"/>
            <a:ext cx="8936525" cy="753939"/>
          </a:xfrm>
          <a:prstGeom prst="rect">
            <a:avLst/>
          </a:prstGeom>
          <a:noFill/>
          <a:ln cap="flat" cmpd="sng" w="9525">
            <a:solidFill>
              <a:schemeClr val="dk1"/>
            </a:solidFill>
            <a:prstDash val="solid"/>
            <a:miter lim="800000"/>
            <a:headEnd len="sm" w="sm" type="none"/>
            <a:tailEnd len="sm" w="sm" type="none"/>
          </a:ln>
        </p:spPr>
        <p:txBody>
          <a:bodyPr anchorCtr="0" anchor="ctr" bIns="45700" lIns="1440000" spcFirstLastPara="1" rIns="18000" wrap="square" tIns="45700">
            <a:noAutofit/>
          </a:bodyPr>
          <a:lstStyle/>
          <a:p>
            <a:pPr indent="-285750" lvl="0" marL="285750" marR="0" rtl="0" algn="l">
              <a:spcBef>
                <a:spcPts val="0"/>
              </a:spcBef>
              <a:spcAft>
                <a:spcPts val="0"/>
              </a:spcAft>
              <a:buClr>
                <a:schemeClr val="dk1"/>
              </a:buClr>
              <a:buSzPts val="1400"/>
              <a:buFont typeface="Arial"/>
              <a:buChar char="•"/>
            </a:pPr>
            <a:r>
              <a:rPr lang="ja-JP" sz="1400">
                <a:solidFill>
                  <a:schemeClr val="dk1"/>
                </a:solidFill>
                <a:latin typeface="Arial"/>
                <a:ea typeface="Arial"/>
                <a:cs typeface="Arial"/>
                <a:sym typeface="Arial"/>
              </a:rPr>
              <a:t>ベースラインセキュリティ（予防的・発見的統制）の管理</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lang="ja-JP" sz="1400">
                <a:solidFill>
                  <a:schemeClr val="dk1"/>
                </a:solidFill>
                <a:latin typeface="Arial"/>
                <a:ea typeface="Arial"/>
                <a:cs typeface="Arial"/>
                <a:sym typeface="Arial"/>
              </a:rPr>
              <a:t>テンプレートの開発管理、ダッシュボードのテンプレート提供</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lang="ja-JP" sz="1400">
                <a:solidFill>
                  <a:schemeClr val="dk1"/>
                </a:solidFill>
                <a:latin typeface="Arial"/>
                <a:ea typeface="Arial"/>
                <a:cs typeface="Arial"/>
                <a:sym typeface="Arial"/>
              </a:rPr>
              <a:t>ガイドとコンサルテーションの提供</a:t>
            </a:r>
            <a:endParaRPr sz="1400">
              <a:solidFill>
                <a:schemeClr val="dk1"/>
              </a:solidFill>
              <a:latin typeface="Arial"/>
              <a:ea typeface="Arial"/>
              <a:cs typeface="Arial"/>
              <a:sym typeface="Arial"/>
            </a:endParaRPr>
          </a:p>
        </p:txBody>
      </p:sp>
      <p:sp>
        <p:nvSpPr>
          <p:cNvPr id="463" name="Google Shape;463;p15"/>
          <p:cNvSpPr/>
          <p:nvPr/>
        </p:nvSpPr>
        <p:spPr>
          <a:xfrm>
            <a:off x="6330686" y="3630153"/>
            <a:ext cx="1229226" cy="1198080"/>
          </a:xfrm>
          <a:prstGeom prst="upArrow">
            <a:avLst>
              <a:gd fmla="val 50000" name="adj1"/>
              <a:gd fmla="val 20407" name="adj2"/>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4" name="Google Shape;464;p15"/>
          <p:cNvSpPr/>
          <p:nvPr/>
        </p:nvSpPr>
        <p:spPr>
          <a:xfrm>
            <a:off x="2413016" y="3923800"/>
            <a:ext cx="2858038" cy="753939"/>
          </a:xfrm>
          <a:prstGeom prst="roundRect">
            <a:avLst>
              <a:gd fmla="val 16667" name="adj"/>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予防的・発見的統制</a:t>
            </a:r>
            <a:endParaRPr sz="1800">
              <a:solidFill>
                <a:schemeClr val="dk1"/>
              </a:solidFill>
              <a:latin typeface="Arial"/>
              <a:ea typeface="Arial"/>
              <a:cs typeface="Arial"/>
              <a:sym typeface="Arial"/>
            </a:endParaRPr>
          </a:p>
        </p:txBody>
      </p:sp>
      <p:sp>
        <p:nvSpPr>
          <p:cNvPr id="465" name="Google Shape;465;p15"/>
          <p:cNvSpPr/>
          <p:nvPr/>
        </p:nvSpPr>
        <p:spPr>
          <a:xfrm>
            <a:off x="5448000" y="3923800"/>
            <a:ext cx="2858038" cy="753939"/>
          </a:xfrm>
          <a:prstGeom prst="roundRect">
            <a:avLst>
              <a:gd fmla="val 16667" name="adj"/>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ベストプラクティスを</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組み込んだテンプレート</a:t>
            </a:r>
            <a:endParaRPr sz="1800">
              <a:solidFill>
                <a:schemeClr val="dk1"/>
              </a:solidFill>
              <a:latin typeface="Arial"/>
              <a:ea typeface="Arial"/>
              <a:cs typeface="Arial"/>
              <a:sym typeface="Arial"/>
            </a:endParaRPr>
          </a:p>
        </p:txBody>
      </p:sp>
      <p:sp>
        <p:nvSpPr>
          <p:cNvPr id="466" name="Google Shape;466;p15"/>
          <p:cNvSpPr/>
          <p:nvPr/>
        </p:nvSpPr>
        <p:spPr>
          <a:xfrm>
            <a:off x="8491502" y="3923926"/>
            <a:ext cx="2858038" cy="753939"/>
          </a:xfrm>
          <a:prstGeom prst="roundRect">
            <a:avLst>
              <a:gd fmla="val 16667" name="adj"/>
            </a:avLst>
          </a:prstGeom>
          <a:solidFill>
            <a:srgbClr val="F2F2F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ダッシュボード</a:t>
            </a:r>
            <a:endParaRPr sz="1800">
              <a:solidFill>
                <a:schemeClr val="dk1"/>
              </a:solidFill>
              <a:latin typeface="Arial"/>
              <a:ea typeface="Arial"/>
              <a:cs typeface="Arial"/>
              <a:sym typeface="Arial"/>
            </a:endParaRPr>
          </a:p>
          <a:p>
            <a:pPr indent="0" lvl="0" marL="0" marR="0" rtl="0" algn="ctr">
              <a:spcBef>
                <a:spcPts val="0"/>
              </a:spcBef>
              <a:spcAft>
                <a:spcPts val="0"/>
              </a:spcAft>
              <a:buNone/>
            </a:pPr>
            <a:r>
              <a:rPr lang="ja-JP" sz="1800">
                <a:solidFill>
                  <a:schemeClr val="dk1"/>
                </a:solidFill>
                <a:latin typeface="Arial"/>
                <a:ea typeface="Arial"/>
                <a:cs typeface="Arial"/>
                <a:sym typeface="Arial"/>
              </a:rPr>
              <a:t>を構成するテンプレート</a:t>
            </a:r>
            <a:endParaRPr sz="1800">
              <a:solidFill>
                <a:schemeClr val="dk1"/>
              </a:solidFill>
              <a:latin typeface="Arial"/>
              <a:ea typeface="Arial"/>
              <a:cs typeface="Arial"/>
              <a:sym typeface="Arial"/>
            </a:endParaRPr>
          </a:p>
        </p:txBody>
      </p:sp>
      <p:sp>
        <p:nvSpPr>
          <p:cNvPr id="467" name="Google Shape;467;p15"/>
          <p:cNvSpPr/>
          <p:nvPr/>
        </p:nvSpPr>
        <p:spPr>
          <a:xfrm>
            <a:off x="2571184" y="3173706"/>
            <a:ext cx="8620190" cy="33688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払い出し時に自動的に設定される</a:t>
            </a:r>
            <a:r>
              <a:rPr b="1" lang="ja-JP" sz="1800">
                <a:solidFill>
                  <a:schemeClr val="dk1"/>
                </a:solidFill>
                <a:latin typeface="Arial"/>
                <a:ea typeface="Arial"/>
                <a:cs typeface="Arial"/>
                <a:sym typeface="Arial"/>
              </a:rPr>
              <a:t>予防的・発見的統制</a:t>
            </a:r>
            <a:endParaRPr/>
          </a:p>
        </p:txBody>
      </p:sp>
      <p:sp>
        <p:nvSpPr>
          <p:cNvPr id="468" name="Google Shape;468;p15"/>
          <p:cNvSpPr/>
          <p:nvPr/>
        </p:nvSpPr>
        <p:spPr>
          <a:xfrm>
            <a:off x="2571184" y="2759276"/>
            <a:ext cx="8620190" cy="33688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800">
                <a:solidFill>
                  <a:schemeClr val="dk1"/>
                </a:solidFill>
                <a:latin typeface="Arial"/>
                <a:ea typeface="Arial"/>
                <a:cs typeface="Arial"/>
                <a:sym typeface="Arial"/>
              </a:rPr>
              <a:t>テンプレート</a:t>
            </a:r>
            <a:r>
              <a:rPr lang="ja-JP" sz="1800">
                <a:solidFill>
                  <a:schemeClr val="dk1"/>
                </a:solidFill>
                <a:latin typeface="Arial"/>
                <a:ea typeface="Arial"/>
                <a:cs typeface="Arial"/>
                <a:sym typeface="Arial"/>
              </a:rPr>
              <a:t>を使って構築することで実現されるセキュリティ</a:t>
            </a:r>
            <a:endParaRPr/>
          </a:p>
        </p:txBody>
      </p:sp>
      <p:sp>
        <p:nvSpPr>
          <p:cNvPr id="469" name="Google Shape;469;p15"/>
          <p:cNvSpPr/>
          <p:nvPr/>
        </p:nvSpPr>
        <p:spPr>
          <a:xfrm>
            <a:off x="2571184" y="2344846"/>
            <a:ext cx="8620190" cy="33688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800">
                <a:solidFill>
                  <a:schemeClr val="dk1"/>
                </a:solidFill>
                <a:latin typeface="Arial"/>
                <a:ea typeface="Arial"/>
                <a:cs typeface="Arial"/>
                <a:sym typeface="Arial"/>
              </a:rPr>
              <a:t>ダッシュボード</a:t>
            </a:r>
            <a:r>
              <a:rPr lang="ja-JP" sz="1800">
                <a:solidFill>
                  <a:schemeClr val="dk1"/>
                </a:solidFill>
                <a:latin typeface="Arial"/>
                <a:ea typeface="Arial"/>
                <a:cs typeface="Arial"/>
                <a:sym typeface="Arial"/>
              </a:rPr>
              <a:t>によるセキュリティ状況の可視化</a:t>
            </a:r>
            <a:endParaRPr/>
          </a:p>
        </p:txBody>
      </p:sp>
      <p:sp>
        <p:nvSpPr>
          <p:cNvPr id="470" name="Google Shape;470;p15"/>
          <p:cNvSpPr/>
          <p:nvPr/>
        </p:nvSpPr>
        <p:spPr>
          <a:xfrm>
            <a:off x="2571184" y="1537412"/>
            <a:ext cx="4246075" cy="729887"/>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責任共有モデルで絞り込んだ範囲で</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従来どおりのセキュリティ対策</a:t>
            </a:r>
            <a:endParaRPr/>
          </a:p>
        </p:txBody>
      </p:sp>
      <p:sp>
        <p:nvSpPr>
          <p:cNvPr id="471" name="Google Shape;471;p15"/>
          <p:cNvSpPr/>
          <p:nvPr/>
        </p:nvSpPr>
        <p:spPr>
          <a:xfrm>
            <a:off x="6945299" y="1537412"/>
            <a:ext cx="4246075" cy="729887"/>
          </a:xfrm>
          <a:prstGeom prst="rect">
            <a:avLst/>
          </a:prstGeom>
          <a:solidFill>
            <a:srgbClr val="FBE4D4"/>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意図したシステム構成になっているか</a:t>
            </a:r>
            <a:br>
              <a:rPr lang="ja-JP" sz="1800">
                <a:solidFill>
                  <a:schemeClr val="dk1"/>
                </a:solidFill>
                <a:latin typeface="Arial"/>
                <a:ea typeface="Arial"/>
                <a:cs typeface="Arial"/>
                <a:sym typeface="Arial"/>
              </a:rPr>
            </a:br>
            <a:r>
              <a:rPr lang="ja-JP" sz="1800">
                <a:solidFill>
                  <a:schemeClr val="dk1"/>
                </a:solidFill>
                <a:latin typeface="Arial"/>
                <a:ea typeface="Arial"/>
                <a:cs typeface="Arial"/>
                <a:sym typeface="Arial"/>
              </a:rPr>
              <a:t>を日常的に監視し修正</a:t>
            </a:r>
            <a:endParaRPr sz="1800">
              <a:solidFill>
                <a:schemeClr val="dk1"/>
              </a:solidFill>
              <a:latin typeface="Arial"/>
              <a:ea typeface="Arial"/>
              <a:cs typeface="Arial"/>
              <a:sym typeface="Arial"/>
            </a:endParaRPr>
          </a:p>
        </p:txBody>
      </p:sp>
      <p:sp>
        <p:nvSpPr>
          <p:cNvPr id="472" name="Google Shape;472;p15"/>
          <p:cNvSpPr/>
          <p:nvPr/>
        </p:nvSpPr>
        <p:spPr>
          <a:xfrm>
            <a:off x="10010329" y="5070151"/>
            <a:ext cx="1181045" cy="495248"/>
          </a:xfrm>
          <a:prstGeom prst="can">
            <a:avLst>
              <a:gd fmla="val 1973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全システムの</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ログアーカイブ</a:t>
            </a:r>
            <a:endParaRPr/>
          </a:p>
        </p:txBody>
      </p:sp>
      <p:sp>
        <p:nvSpPr>
          <p:cNvPr id="473" name="Google Shape;473;p15"/>
          <p:cNvSpPr/>
          <p:nvPr/>
        </p:nvSpPr>
        <p:spPr>
          <a:xfrm>
            <a:off x="838200" y="5804686"/>
            <a:ext cx="1484164" cy="454847"/>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CSP</a:t>
            </a:r>
            <a:endParaRPr sz="1400">
              <a:solidFill>
                <a:schemeClr val="dk1"/>
              </a:solidFill>
              <a:latin typeface="Arial"/>
              <a:ea typeface="Arial"/>
              <a:cs typeface="Arial"/>
              <a:sym typeface="Arial"/>
            </a:endParaRPr>
          </a:p>
        </p:txBody>
      </p:sp>
      <p:sp>
        <p:nvSpPr>
          <p:cNvPr id="474" name="Google Shape;474;p15"/>
          <p:cNvSpPr/>
          <p:nvPr/>
        </p:nvSpPr>
        <p:spPr>
          <a:xfrm>
            <a:off x="2413016" y="5804686"/>
            <a:ext cx="8936524" cy="45484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800">
                <a:solidFill>
                  <a:schemeClr val="dk1"/>
                </a:solidFill>
                <a:latin typeface="Arial"/>
                <a:ea typeface="Arial"/>
                <a:cs typeface="Arial"/>
                <a:sym typeface="Arial"/>
              </a:rPr>
              <a:t>インフラやサービス自体のセキュリティ</a:t>
            </a:r>
            <a:endParaRPr b="1" sz="1800">
              <a:solidFill>
                <a:schemeClr val="dk1"/>
              </a:solidFill>
              <a:latin typeface="Arial"/>
              <a:ea typeface="Arial"/>
              <a:cs typeface="Arial"/>
              <a:sym typeface="Arial"/>
            </a:endParaRPr>
          </a:p>
        </p:txBody>
      </p:sp>
      <p:cxnSp>
        <p:nvCxnSpPr>
          <p:cNvPr id="475" name="Google Shape;475;p15"/>
          <p:cNvCxnSpPr/>
          <p:nvPr/>
        </p:nvCxnSpPr>
        <p:spPr>
          <a:xfrm>
            <a:off x="838200" y="5716327"/>
            <a:ext cx="10498667" cy="0"/>
          </a:xfrm>
          <a:prstGeom prst="straightConnector1">
            <a:avLst/>
          </a:prstGeom>
          <a:noFill/>
          <a:ln cap="flat" cmpd="sng" w="28575">
            <a:solidFill>
              <a:schemeClr val="dk1"/>
            </a:solidFill>
            <a:prstDash val="solid"/>
            <a:miter lim="800000"/>
            <a:headEnd len="sm" w="sm" type="none"/>
            <a:tailEnd len="sm" w="sm" type="none"/>
          </a:ln>
        </p:spPr>
      </p:cxnSp>
      <p:cxnSp>
        <p:nvCxnSpPr>
          <p:cNvPr id="476" name="Google Shape;476;p15"/>
          <p:cNvCxnSpPr/>
          <p:nvPr/>
        </p:nvCxnSpPr>
        <p:spPr>
          <a:xfrm>
            <a:off x="821267" y="4767903"/>
            <a:ext cx="10515600" cy="0"/>
          </a:xfrm>
          <a:prstGeom prst="straightConnector1">
            <a:avLst/>
          </a:prstGeom>
          <a:noFill/>
          <a:ln cap="flat" cmpd="sng" w="28575">
            <a:solidFill>
              <a:schemeClr val="dk1"/>
            </a:solidFill>
            <a:prstDash val="solid"/>
            <a:miter lim="800000"/>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6"/>
          <p:cNvSpPr/>
          <p:nvPr/>
        </p:nvSpPr>
        <p:spPr>
          <a:xfrm>
            <a:off x="3552305" y="2376772"/>
            <a:ext cx="2374927" cy="51395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絞り込んだ範囲で</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従来のセキュリティ対策</a:t>
            </a:r>
            <a:endParaRPr sz="1400">
              <a:solidFill>
                <a:schemeClr val="dk1"/>
              </a:solidFill>
              <a:latin typeface="Arial"/>
              <a:ea typeface="Arial"/>
              <a:cs typeface="Arial"/>
              <a:sym typeface="Arial"/>
            </a:endParaRPr>
          </a:p>
        </p:txBody>
      </p:sp>
      <p:sp>
        <p:nvSpPr>
          <p:cNvPr id="483" name="Google Shape;483;p16"/>
          <p:cNvSpPr/>
          <p:nvPr/>
        </p:nvSpPr>
        <p:spPr>
          <a:xfrm>
            <a:off x="6296351" y="2376771"/>
            <a:ext cx="2902487" cy="51395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システム構成が意図したとおりか</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常に確認</a:t>
            </a:r>
            <a:endParaRPr/>
          </a:p>
        </p:txBody>
      </p:sp>
      <p:sp>
        <p:nvSpPr>
          <p:cNvPr id="484" name="Google Shape;484;p16"/>
          <p:cNvSpPr/>
          <p:nvPr/>
        </p:nvSpPr>
        <p:spPr>
          <a:xfrm>
            <a:off x="9567955" y="2376771"/>
            <a:ext cx="1785841" cy="51395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重大になる前に</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日々の改善活動</a:t>
            </a:r>
            <a:endParaRPr/>
          </a:p>
        </p:txBody>
      </p:sp>
      <p:sp>
        <p:nvSpPr>
          <p:cNvPr id="485" name="Google Shape;485;p16"/>
          <p:cNvSpPr txBox="1"/>
          <p:nvPr>
            <p:ph type="title"/>
          </p:nvPr>
        </p:nvSpPr>
        <p:spPr>
          <a:xfrm>
            <a:off x="838200" y="158470"/>
            <a:ext cx="10515600" cy="1313308"/>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範囲の絞り込みと日常的な監視と修正の具体的イメージ</a:t>
            </a:r>
            <a:endParaRPr/>
          </a:p>
        </p:txBody>
      </p:sp>
      <p:sp>
        <p:nvSpPr>
          <p:cNvPr id="486" name="Google Shape;486;p16"/>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487" name="Google Shape;487;p16"/>
          <p:cNvSpPr/>
          <p:nvPr/>
        </p:nvSpPr>
        <p:spPr>
          <a:xfrm>
            <a:off x="838199" y="1944280"/>
            <a:ext cx="2294299" cy="348916"/>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設計方針</a:t>
            </a:r>
            <a:endParaRPr/>
          </a:p>
        </p:txBody>
      </p:sp>
      <p:sp>
        <p:nvSpPr>
          <p:cNvPr id="488" name="Google Shape;488;p16"/>
          <p:cNvSpPr/>
          <p:nvPr/>
        </p:nvSpPr>
        <p:spPr>
          <a:xfrm>
            <a:off x="3552305" y="1944278"/>
            <a:ext cx="5646533" cy="348916"/>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セキュリティ対応策</a:t>
            </a:r>
            <a:endParaRPr/>
          </a:p>
        </p:txBody>
      </p:sp>
      <p:sp>
        <p:nvSpPr>
          <p:cNvPr id="489" name="Google Shape;489;p16"/>
          <p:cNvSpPr/>
          <p:nvPr/>
        </p:nvSpPr>
        <p:spPr>
          <a:xfrm>
            <a:off x="9567959" y="1944278"/>
            <a:ext cx="1785841" cy="348916"/>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lt1"/>
                </a:solidFill>
                <a:latin typeface="Arial"/>
                <a:ea typeface="Arial"/>
                <a:cs typeface="Arial"/>
                <a:sym typeface="Arial"/>
              </a:rPr>
              <a:t>運用</a:t>
            </a:r>
            <a:endParaRPr/>
          </a:p>
        </p:txBody>
      </p:sp>
      <p:sp>
        <p:nvSpPr>
          <p:cNvPr id="490" name="Google Shape;490;p16"/>
          <p:cNvSpPr/>
          <p:nvPr/>
        </p:nvSpPr>
        <p:spPr>
          <a:xfrm>
            <a:off x="838200" y="2382107"/>
            <a:ext cx="2294298" cy="508617"/>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責任共有モデルで</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範囲を絞り込み</a:t>
            </a:r>
            <a:endParaRPr/>
          </a:p>
        </p:txBody>
      </p:sp>
      <p:sp>
        <p:nvSpPr>
          <p:cNvPr id="491" name="Google Shape;491;p16"/>
          <p:cNvSpPr/>
          <p:nvPr/>
        </p:nvSpPr>
        <p:spPr>
          <a:xfrm>
            <a:off x="838199" y="2382107"/>
            <a:ext cx="2294299" cy="1999769"/>
          </a:xfrm>
          <a:prstGeom prst="rect">
            <a:avLst/>
          </a:prstGeom>
          <a:noFill/>
          <a:ln cap="flat" cmpd="sng" w="9525">
            <a:solidFill>
              <a:schemeClr val="dk1"/>
            </a:solidFill>
            <a:prstDash val="solid"/>
            <a:miter lim="800000"/>
            <a:headEnd len="sm" w="sm" type="none"/>
            <a:tailEnd len="sm" w="sm" type="none"/>
          </a:ln>
        </p:spPr>
        <p:txBody>
          <a:bodyPr anchorCtr="0" anchor="t" bIns="46800" lIns="91425" spcFirstLastPara="1" rIns="91425" wrap="square" tIns="108000">
            <a:no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a:p>
            <a:pPr indent="0" lvl="0" marL="0" marR="0" rtl="0" algn="l">
              <a:spcBef>
                <a:spcPts val="0"/>
              </a:spcBef>
              <a:spcAft>
                <a:spcPts val="0"/>
              </a:spcAft>
              <a:buNone/>
            </a:pPr>
            <a:br>
              <a:rPr lang="ja-JP"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179388" lvl="0" marL="179388" marR="0" rtl="0" algn="l">
              <a:spcBef>
                <a:spcPts val="0"/>
              </a:spcBef>
              <a:spcAft>
                <a:spcPts val="0"/>
              </a:spcAft>
              <a:buClr>
                <a:schemeClr val="dk1"/>
              </a:buClr>
              <a:buSzPts val="1400"/>
              <a:buFont typeface="Arial"/>
              <a:buChar char="•"/>
            </a:pPr>
            <a:r>
              <a:rPr lang="ja-JP" sz="1400">
                <a:solidFill>
                  <a:schemeClr val="dk1"/>
                </a:solidFill>
                <a:latin typeface="Arial"/>
                <a:ea typeface="Arial"/>
                <a:cs typeface="Arial"/>
                <a:sym typeface="Arial"/>
              </a:rPr>
              <a:t>マネージドサービスを</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使う</a:t>
            </a:r>
            <a:endParaRPr sz="1400">
              <a:solidFill>
                <a:schemeClr val="dk1"/>
              </a:solidFill>
              <a:latin typeface="Arial"/>
              <a:ea typeface="Arial"/>
              <a:cs typeface="Arial"/>
              <a:sym typeface="Arial"/>
            </a:endParaRPr>
          </a:p>
          <a:p>
            <a:pPr indent="-179388" lvl="0" marL="179388" marR="0" rtl="0" algn="l">
              <a:spcBef>
                <a:spcPts val="0"/>
              </a:spcBef>
              <a:spcAft>
                <a:spcPts val="0"/>
              </a:spcAft>
              <a:buClr>
                <a:schemeClr val="dk1"/>
              </a:buClr>
              <a:buSzPts val="1400"/>
              <a:buFont typeface="Arial"/>
              <a:buChar char="•"/>
            </a:pPr>
            <a:r>
              <a:rPr lang="ja-JP" sz="1400">
                <a:solidFill>
                  <a:schemeClr val="dk1"/>
                </a:solidFill>
                <a:latin typeface="Arial"/>
                <a:ea typeface="Arial"/>
                <a:cs typeface="Arial"/>
                <a:sym typeface="Arial"/>
              </a:rPr>
              <a:t>OSを稼働させない</a:t>
            </a:r>
            <a:br>
              <a:rPr lang="ja-JP" sz="1400">
                <a:solidFill>
                  <a:schemeClr val="dk1"/>
                </a:solidFill>
                <a:latin typeface="Arial"/>
                <a:ea typeface="Arial"/>
                <a:cs typeface="Arial"/>
                <a:sym typeface="Arial"/>
              </a:rPr>
            </a:br>
            <a:r>
              <a:rPr lang="ja-JP" sz="1200">
                <a:solidFill>
                  <a:schemeClr val="dk1"/>
                </a:solidFill>
                <a:latin typeface="Arial"/>
                <a:ea typeface="Arial"/>
                <a:cs typeface="Arial"/>
                <a:sym typeface="Arial"/>
              </a:rPr>
              <a:t>（OS運用やメンテの仕組み</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不要に）</a:t>
            </a:r>
            <a:endParaRPr sz="1400">
              <a:solidFill>
                <a:schemeClr val="dk1"/>
              </a:solidFill>
              <a:latin typeface="Arial"/>
              <a:ea typeface="Arial"/>
              <a:cs typeface="Arial"/>
              <a:sym typeface="Arial"/>
            </a:endParaRPr>
          </a:p>
        </p:txBody>
      </p:sp>
      <p:sp>
        <p:nvSpPr>
          <p:cNvPr id="492" name="Google Shape;492;p16"/>
          <p:cNvSpPr/>
          <p:nvPr/>
        </p:nvSpPr>
        <p:spPr>
          <a:xfrm>
            <a:off x="838200" y="4504870"/>
            <a:ext cx="2294298" cy="508617"/>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外部通信を絞る</a:t>
            </a:r>
            <a:endParaRPr/>
          </a:p>
        </p:txBody>
      </p:sp>
      <p:sp>
        <p:nvSpPr>
          <p:cNvPr id="493" name="Google Shape;493;p16"/>
          <p:cNvSpPr/>
          <p:nvPr/>
        </p:nvSpPr>
        <p:spPr>
          <a:xfrm>
            <a:off x="838199" y="4502036"/>
            <a:ext cx="2294299" cy="1699584"/>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179388" lvl="0" marL="179388" marR="0" rtl="0" algn="l">
              <a:spcBef>
                <a:spcPts val="0"/>
              </a:spcBef>
              <a:spcAft>
                <a:spcPts val="0"/>
              </a:spcAft>
              <a:buClr>
                <a:schemeClr val="dk1"/>
              </a:buClr>
              <a:buSzPts val="1400"/>
              <a:buFont typeface="Arial"/>
              <a:buChar char="•"/>
            </a:pPr>
            <a:r>
              <a:rPr lang="ja-JP" sz="1400">
                <a:solidFill>
                  <a:schemeClr val="dk1"/>
                </a:solidFill>
                <a:latin typeface="Arial"/>
                <a:ea typeface="Arial"/>
                <a:cs typeface="Arial"/>
                <a:sym typeface="Arial"/>
              </a:rPr>
              <a:t>HTTPS通信のみにする</a:t>
            </a:r>
            <a:br>
              <a:rPr lang="ja-JP" sz="1400">
                <a:solidFill>
                  <a:schemeClr val="dk1"/>
                </a:solidFill>
                <a:latin typeface="Arial"/>
                <a:ea typeface="Arial"/>
                <a:cs typeface="Arial"/>
                <a:sym typeface="Arial"/>
              </a:rPr>
            </a:br>
            <a:r>
              <a:rPr lang="ja-JP" sz="1200">
                <a:solidFill>
                  <a:schemeClr val="dk1"/>
                </a:solidFill>
                <a:latin typeface="Arial"/>
                <a:ea typeface="Arial"/>
                <a:cs typeface="Arial"/>
                <a:sym typeface="Arial"/>
              </a:rPr>
              <a:t>（モダンなアプリケー</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ションでは一般的）</a:t>
            </a:r>
            <a:endParaRPr sz="1400">
              <a:solidFill>
                <a:schemeClr val="dk1"/>
              </a:solidFill>
              <a:latin typeface="Arial"/>
              <a:ea typeface="Arial"/>
              <a:cs typeface="Arial"/>
              <a:sym typeface="Arial"/>
            </a:endParaRPr>
          </a:p>
        </p:txBody>
      </p:sp>
      <p:sp>
        <p:nvSpPr>
          <p:cNvPr id="494" name="Google Shape;494;p16"/>
          <p:cNvSpPr/>
          <p:nvPr/>
        </p:nvSpPr>
        <p:spPr>
          <a:xfrm>
            <a:off x="3552308" y="2376772"/>
            <a:ext cx="2366026" cy="382485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95" name="Google Shape;495;p16"/>
          <p:cNvSpPr/>
          <p:nvPr/>
        </p:nvSpPr>
        <p:spPr>
          <a:xfrm>
            <a:off x="6296354" y="2376770"/>
            <a:ext cx="2902486" cy="382485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96" name="Google Shape;496;p16"/>
          <p:cNvSpPr/>
          <p:nvPr/>
        </p:nvSpPr>
        <p:spPr>
          <a:xfrm>
            <a:off x="5956737" y="3736889"/>
            <a:ext cx="213610" cy="217424"/>
          </a:xfrm>
          <a:prstGeom prst="plus">
            <a:avLst>
              <a:gd fmla="val 40942"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7" name="Google Shape;497;p16"/>
          <p:cNvSpPr/>
          <p:nvPr/>
        </p:nvSpPr>
        <p:spPr>
          <a:xfrm flipH="1" rot="-5400000">
            <a:off x="3167944" y="3999197"/>
            <a:ext cx="348917" cy="259149"/>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8" name="Google Shape;498;p16"/>
          <p:cNvSpPr/>
          <p:nvPr/>
        </p:nvSpPr>
        <p:spPr>
          <a:xfrm>
            <a:off x="6431973" y="3014097"/>
            <a:ext cx="1278975" cy="64175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構成変更の</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記録と検知</a:t>
            </a:r>
            <a:endParaRPr sz="1400">
              <a:solidFill>
                <a:schemeClr val="dk1"/>
              </a:solidFill>
              <a:latin typeface="Arial"/>
              <a:ea typeface="Arial"/>
              <a:cs typeface="Arial"/>
              <a:sym typeface="Arial"/>
            </a:endParaRPr>
          </a:p>
        </p:txBody>
      </p:sp>
      <p:sp>
        <p:nvSpPr>
          <p:cNvPr id="499" name="Google Shape;499;p16"/>
          <p:cNvSpPr/>
          <p:nvPr/>
        </p:nvSpPr>
        <p:spPr>
          <a:xfrm>
            <a:off x="7784061" y="3014097"/>
            <a:ext cx="1278975" cy="64175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クラウド操作</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の全ログ取り</a:t>
            </a:r>
            <a:endParaRPr sz="1400">
              <a:solidFill>
                <a:schemeClr val="dk1"/>
              </a:solidFill>
              <a:latin typeface="Arial"/>
              <a:ea typeface="Arial"/>
              <a:cs typeface="Arial"/>
              <a:sym typeface="Arial"/>
            </a:endParaRPr>
          </a:p>
        </p:txBody>
      </p:sp>
      <p:sp>
        <p:nvSpPr>
          <p:cNvPr id="500" name="Google Shape;500;p16"/>
          <p:cNvSpPr/>
          <p:nvPr/>
        </p:nvSpPr>
        <p:spPr>
          <a:xfrm>
            <a:off x="6431973" y="3964001"/>
            <a:ext cx="2631062" cy="64175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CISベンチマーク自動チェック</a:t>
            </a:r>
            <a:endParaRPr sz="12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200"/>
              <a:buFont typeface="Arial"/>
              <a:buChar char="•"/>
            </a:pPr>
            <a:r>
              <a:rPr lang="ja-JP" sz="1200">
                <a:solidFill>
                  <a:schemeClr val="dk1"/>
                </a:solidFill>
                <a:latin typeface="Arial"/>
                <a:ea typeface="Arial"/>
                <a:cs typeface="Arial"/>
                <a:sym typeface="Arial"/>
              </a:rPr>
              <a:t>ベストプラクティス自動チェック</a:t>
            </a:r>
            <a:endParaRPr sz="1200">
              <a:solidFill>
                <a:schemeClr val="dk1"/>
              </a:solidFill>
              <a:latin typeface="Arial"/>
              <a:ea typeface="Arial"/>
              <a:cs typeface="Arial"/>
              <a:sym typeface="Arial"/>
            </a:endParaRPr>
          </a:p>
        </p:txBody>
      </p:sp>
      <p:sp>
        <p:nvSpPr>
          <p:cNvPr id="501" name="Google Shape;501;p16"/>
          <p:cNvSpPr/>
          <p:nvPr/>
        </p:nvSpPr>
        <p:spPr>
          <a:xfrm>
            <a:off x="6431973" y="4716667"/>
            <a:ext cx="2631062" cy="64175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構成変更ルール違反自動検出</a:t>
            </a:r>
            <a:endParaRPr sz="1400">
              <a:solidFill>
                <a:schemeClr val="dk1"/>
              </a:solidFill>
              <a:latin typeface="Arial"/>
              <a:ea typeface="Arial"/>
              <a:cs typeface="Arial"/>
              <a:sym typeface="Arial"/>
            </a:endParaRPr>
          </a:p>
        </p:txBody>
      </p:sp>
      <p:sp>
        <p:nvSpPr>
          <p:cNvPr id="502" name="Google Shape;502;p16"/>
          <p:cNvSpPr/>
          <p:nvPr/>
        </p:nvSpPr>
        <p:spPr>
          <a:xfrm flipH="1">
            <a:off x="6960906" y="3708691"/>
            <a:ext cx="219562" cy="211789"/>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3" name="Google Shape;503;p16"/>
          <p:cNvSpPr/>
          <p:nvPr/>
        </p:nvSpPr>
        <p:spPr>
          <a:xfrm flipH="1">
            <a:off x="8312994" y="3707169"/>
            <a:ext cx="219562" cy="211789"/>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4" name="Google Shape;504;p16"/>
          <p:cNvSpPr/>
          <p:nvPr/>
        </p:nvSpPr>
        <p:spPr>
          <a:xfrm flipH="1" rot="-5400000">
            <a:off x="9290200" y="4074479"/>
            <a:ext cx="219562" cy="259148"/>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5" name="Google Shape;505;p16"/>
          <p:cNvSpPr/>
          <p:nvPr/>
        </p:nvSpPr>
        <p:spPr>
          <a:xfrm>
            <a:off x="9705315" y="3947076"/>
            <a:ext cx="1509754" cy="51395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チャット</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通知</a:t>
            </a:r>
            <a:endParaRPr sz="1400">
              <a:solidFill>
                <a:schemeClr val="dk1"/>
              </a:solidFill>
              <a:latin typeface="Arial"/>
              <a:ea typeface="Arial"/>
              <a:cs typeface="Arial"/>
              <a:sym typeface="Arial"/>
            </a:endParaRPr>
          </a:p>
        </p:txBody>
      </p:sp>
      <p:sp>
        <p:nvSpPr>
          <p:cNvPr id="506" name="Google Shape;506;p16"/>
          <p:cNvSpPr/>
          <p:nvPr/>
        </p:nvSpPr>
        <p:spPr>
          <a:xfrm>
            <a:off x="9698461" y="4872946"/>
            <a:ext cx="727343" cy="51395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即時対応</a:t>
            </a:r>
            <a:endParaRPr sz="1200">
              <a:solidFill>
                <a:schemeClr val="dk1"/>
              </a:solidFill>
              <a:latin typeface="Arial"/>
              <a:ea typeface="Arial"/>
              <a:cs typeface="Arial"/>
              <a:sym typeface="Arial"/>
            </a:endParaRPr>
          </a:p>
        </p:txBody>
      </p:sp>
      <p:sp>
        <p:nvSpPr>
          <p:cNvPr id="507" name="Google Shape;507;p16"/>
          <p:cNvSpPr/>
          <p:nvPr/>
        </p:nvSpPr>
        <p:spPr>
          <a:xfrm>
            <a:off x="10491974" y="4872946"/>
            <a:ext cx="727343" cy="51395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週次</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レビュー</a:t>
            </a:r>
            <a:endParaRPr sz="1200">
              <a:solidFill>
                <a:schemeClr val="dk1"/>
              </a:solidFill>
              <a:latin typeface="Arial"/>
              <a:ea typeface="Arial"/>
              <a:cs typeface="Arial"/>
              <a:sym typeface="Arial"/>
            </a:endParaRPr>
          </a:p>
        </p:txBody>
      </p:sp>
      <p:sp>
        <p:nvSpPr>
          <p:cNvPr id="508" name="Google Shape;508;p16"/>
          <p:cNvSpPr/>
          <p:nvPr/>
        </p:nvSpPr>
        <p:spPr>
          <a:xfrm>
            <a:off x="10487725" y="5597134"/>
            <a:ext cx="727343" cy="51395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対応</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リリース</a:t>
            </a:r>
            <a:endParaRPr sz="1200">
              <a:solidFill>
                <a:schemeClr val="dk1"/>
              </a:solidFill>
              <a:latin typeface="Arial"/>
              <a:ea typeface="Arial"/>
              <a:cs typeface="Arial"/>
              <a:sym typeface="Arial"/>
            </a:endParaRPr>
          </a:p>
        </p:txBody>
      </p:sp>
      <p:sp>
        <p:nvSpPr>
          <p:cNvPr id="509" name="Google Shape;509;p16"/>
          <p:cNvSpPr/>
          <p:nvPr/>
        </p:nvSpPr>
        <p:spPr>
          <a:xfrm>
            <a:off x="9705315" y="3019023"/>
            <a:ext cx="1509755" cy="51395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ダッシュボードで</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対応状況可視化</a:t>
            </a:r>
            <a:endParaRPr sz="1400">
              <a:solidFill>
                <a:schemeClr val="dk1"/>
              </a:solidFill>
              <a:latin typeface="Arial"/>
              <a:ea typeface="Arial"/>
              <a:cs typeface="Arial"/>
              <a:sym typeface="Arial"/>
            </a:endParaRPr>
          </a:p>
        </p:txBody>
      </p:sp>
      <p:sp>
        <p:nvSpPr>
          <p:cNvPr id="510" name="Google Shape;510;p16"/>
          <p:cNvSpPr/>
          <p:nvPr/>
        </p:nvSpPr>
        <p:spPr>
          <a:xfrm>
            <a:off x="3642074" y="3014098"/>
            <a:ext cx="2175933" cy="74322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HTTPS通信に対する</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セキュリティ対策</a:t>
            </a:r>
            <a:br>
              <a:rPr lang="ja-JP" sz="1400">
                <a:solidFill>
                  <a:schemeClr val="dk1"/>
                </a:solidFill>
                <a:latin typeface="Arial"/>
                <a:ea typeface="Arial"/>
                <a:cs typeface="Arial"/>
                <a:sym typeface="Arial"/>
              </a:rPr>
            </a:br>
            <a:r>
              <a:rPr lang="ja-JP" sz="1200">
                <a:solidFill>
                  <a:schemeClr val="dk1"/>
                </a:solidFill>
                <a:latin typeface="Arial"/>
                <a:ea typeface="Arial"/>
                <a:cs typeface="Arial"/>
                <a:sym typeface="Arial"/>
              </a:rPr>
              <a:t>（WAF監視）</a:t>
            </a:r>
            <a:endParaRPr/>
          </a:p>
        </p:txBody>
      </p:sp>
      <p:sp>
        <p:nvSpPr>
          <p:cNvPr id="511" name="Google Shape;511;p16"/>
          <p:cNvSpPr/>
          <p:nvPr/>
        </p:nvSpPr>
        <p:spPr>
          <a:xfrm>
            <a:off x="9567959" y="2376770"/>
            <a:ext cx="1785840" cy="382485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cxnSp>
        <p:nvCxnSpPr>
          <p:cNvPr id="512" name="Google Shape;512;p16"/>
          <p:cNvCxnSpPr>
            <a:stCxn id="505" idx="0"/>
            <a:endCxn id="509" idx="2"/>
          </p:cNvCxnSpPr>
          <p:nvPr/>
        </p:nvCxnSpPr>
        <p:spPr>
          <a:xfrm rot="10800000">
            <a:off x="10460192" y="3533076"/>
            <a:ext cx="0" cy="414000"/>
          </a:xfrm>
          <a:prstGeom prst="straightConnector1">
            <a:avLst/>
          </a:prstGeom>
          <a:noFill/>
          <a:ln cap="flat" cmpd="sng" w="9525">
            <a:solidFill>
              <a:schemeClr val="dk1"/>
            </a:solidFill>
            <a:prstDash val="solid"/>
            <a:miter lim="800000"/>
            <a:headEnd len="sm" w="sm" type="none"/>
            <a:tailEnd len="med" w="med" type="triangle"/>
          </a:ln>
        </p:spPr>
      </p:cxnSp>
      <p:cxnSp>
        <p:nvCxnSpPr>
          <p:cNvPr id="513" name="Google Shape;513;p16"/>
          <p:cNvCxnSpPr>
            <a:stCxn id="505" idx="2"/>
            <a:endCxn id="506" idx="0"/>
          </p:cNvCxnSpPr>
          <p:nvPr/>
        </p:nvCxnSpPr>
        <p:spPr>
          <a:xfrm flipH="1">
            <a:off x="10062092" y="4461030"/>
            <a:ext cx="398100" cy="411900"/>
          </a:xfrm>
          <a:prstGeom prst="straightConnector1">
            <a:avLst/>
          </a:prstGeom>
          <a:noFill/>
          <a:ln cap="flat" cmpd="sng" w="9525">
            <a:solidFill>
              <a:schemeClr val="dk1"/>
            </a:solidFill>
            <a:prstDash val="solid"/>
            <a:miter lim="800000"/>
            <a:headEnd len="sm" w="sm" type="none"/>
            <a:tailEnd len="med" w="med" type="triangle"/>
          </a:ln>
        </p:spPr>
      </p:cxnSp>
      <p:cxnSp>
        <p:nvCxnSpPr>
          <p:cNvPr id="514" name="Google Shape;514;p16"/>
          <p:cNvCxnSpPr>
            <a:stCxn id="505" idx="2"/>
            <a:endCxn id="507" idx="0"/>
          </p:cNvCxnSpPr>
          <p:nvPr/>
        </p:nvCxnSpPr>
        <p:spPr>
          <a:xfrm>
            <a:off x="10460192" y="4461030"/>
            <a:ext cx="395400" cy="411900"/>
          </a:xfrm>
          <a:prstGeom prst="straightConnector1">
            <a:avLst/>
          </a:prstGeom>
          <a:noFill/>
          <a:ln cap="flat" cmpd="sng" w="9525">
            <a:solidFill>
              <a:schemeClr val="dk1"/>
            </a:solidFill>
            <a:prstDash val="solid"/>
            <a:miter lim="800000"/>
            <a:headEnd len="sm" w="sm" type="none"/>
            <a:tailEnd len="med" w="med" type="triangle"/>
          </a:ln>
        </p:spPr>
      </p:cxnSp>
      <p:cxnSp>
        <p:nvCxnSpPr>
          <p:cNvPr id="515" name="Google Shape;515;p16"/>
          <p:cNvCxnSpPr>
            <a:stCxn id="507" idx="2"/>
            <a:endCxn id="508" idx="0"/>
          </p:cNvCxnSpPr>
          <p:nvPr/>
        </p:nvCxnSpPr>
        <p:spPr>
          <a:xfrm flipH="1">
            <a:off x="10851446" y="5386900"/>
            <a:ext cx="4200" cy="210300"/>
          </a:xfrm>
          <a:prstGeom prst="straightConnector1">
            <a:avLst/>
          </a:prstGeom>
          <a:noFill/>
          <a:ln cap="flat" cmpd="sng" w="9525">
            <a:solidFill>
              <a:schemeClr val="dk1"/>
            </a:solidFill>
            <a:prstDash val="solid"/>
            <a:miter lim="800000"/>
            <a:headEnd len="sm" w="sm" type="none"/>
            <a:tailEnd len="med" w="med" type="triangle"/>
          </a:ln>
        </p:spPr>
      </p:cxnSp>
      <p:sp>
        <p:nvSpPr>
          <p:cNvPr id="516" name="Google Shape;516;p16"/>
          <p:cNvSpPr/>
          <p:nvPr/>
        </p:nvSpPr>
        <p:spPr>
          <a:xfrm flipH="1" rot="-5400000">
            <a:off x="9274433" y="3154078"/>
            <a:ext cx="219562" cy="259149"/>
          </a:xfrm>
          <a:prstGeom prst="downArrow">
            <a:avLst>
              <a:gd fmla="val 50000" name="adj1"/>
              <a:gd fmla="val 50000" name="adj2"/>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7" name="Google Shape;517;p16"/>
          <p:cNvSpPr/>
          <p:nvPr/>
        </p:nvSpPr>
        <p:spPr>
          <a:xfrm>
            <a:off x="3642074" y="4626381"/>
            <a:ext cx="2175933" cy="148470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重要なのは</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アプリケーションや</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インフラリリースの</a:t>
            </a:r>
            <a:br>
              <a:rPr lang="ja-JP" sz="1400">
                <a:solidFill>
                  <a:schemeClr val="dk1"/>
                </a:solidFill>
                <a:latin typeface="Arial"/>
                <a:ea typeface="Arial"/>
                <a:cs typeface="Arial"/>
                <a:sym typeface="Arial"/>
              </a:rPr>
            </a:br>
            <a:r>
              <a:rPr lang="ja-JP" sz="1400">
                <a:solidFill>
                  <a:schemeClr val="dk1"/>
                </a:solidFill>
                <a:latin typeface="Arial"/>
                <a:ea typeface="Arial"/>
                <a:cs typeface="Arial"/>
                <a:sym typeface="Arial"/>
              </a:rPr>
              <a:t>セキュリティ</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（セキュアなCI/CDパイプ</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ライン、コードやコンテナ</a:t>
            </a:r>
            <a:br>
              <a:rPr lang="ja-JP" sz="1200">
                <a:solidFill>
                  <a:schemeClr val="dk1"/>
                </a:solidFill>
                <a:latin typeface="Arial"/>
                <a:ea typeface="Arial"/>
                <a:cs typeface="Arial"/>
                <a:sym typeface="Arial"/>
              </a:rPr>
            </a:br>
            <a:r>
              <a:rPr lang="ja-JP" sz="1200">
                <a:solidFill>
                  <a:schemeClr val="dk1"/>
                </a:solidFill>
                <a:latin typeface="Arial"/>
                <a:ea typeface="Arial"/>
                <a:cs typeface="Arial"/>
                <a:sym typeface="Arial"/>
              </a:rPr>
              <a:t>のセキュリティ）</a:t>
            </a:r>
            <a:endParaRPr sz="1400">
              <a:solidFill>
                <a:schemeClr val="dk1"/>
              </a:solidFill>
              <a:latin typeface="Arial"/>
              <a:ea typeface="Arial"/>
              <a:cs typeface="Arial"/>
              <a:sym typeface="Arial"/>
            </a:endParaRPr>
          </a:p>
        </p:txBody>
      </p:sp>
      <p:sp>
        <p:nvSpPr>
          <p:cNvPr id="518" name="Google Shape;518;p16"/>
          <p:cNvSpPr/>
          <p:nvPr/>
        </p:nvSpPr>
        <p:spPr>
          <a:xfrm>
            <a:off x="6431973" y="5469333"/>
            <a:ext cx="2631062" cy="641755"/>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AIによる不正自動検出</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200">
                <a:solidFill>
                  <a:schemeClr val="dk1"/>
                </a:solidFill>
                <a:latin typeface="Arial"/>
                <a:ea typeface="Arial"/>
                <a:cs typeface="Arial"/>
                <a:sym typeface="Arial"/>
              </a:rPr>
              <a:t>（クラウドサービスの利用）</a:t>
            </a:r>
            <a:endParaRPr sz="1200">
              <a:solidFill>
                <a:schemeClr val="dk1"/>
              </a:solidFill>
              <a:latin typeface="Arial"/>
              <a:ea typeface="Arial"/>
              <a:cs typeface="Arial"/>
              <a:sym typeface="Arial"/>
            </a:endParaRPr>
          </a:p>
        </p:txBody>
      </p:sp>
      <p:sp>
        <p:nvSpPr>
          <p:cNvPr id="519" name="Google Shape;519;p16"/>
          <p:cNvSpPr/>
          <p:nvPr/>
        </p:nvSpPr>
        <p:spPr>
          <a:xfrm>
            <a:off x="3642074" y="3821838"/>
            <a:ext cx="2175933" cy="74322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400">
                <a:solidFill>
                  <a:schemeClr val="dk1"/>
                </a:solidFill>
                <a:latin typeface="Arial"/>
                <a:ea typeface="Arial"/>
                <a:cs typeface="Arial"/>
                <a:sym typeface="Arial"/>
              </a:rPr>
              <a:t>OSを稼働させなければ</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インフラメンテの仕組み</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ja-JP" sz="1400">
                <a:solidFill>
                  <a:schemeClr val="dk1"/>
                </a:solidFill>
                <a:latin typeface="Arial"/>
                <a:ea typeface="Arial"/>
                <a:cs typeface="Arial"/>
                <a:sym typeface="Arial"/>
              </a:rPr>
              <a:t>の大部分がそもそも不要に</a:t>
            </a:r>
            <a:endParaRPr sz="12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17"/>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ガバメントクラウドでの実践例</a:t>
            </a:r>
            <a:endParaRPr/>
          </a:p>
        </p:txBody>
      </p:sp>
      <p:sp>
        <p:nvSpPr>
          <p:cNvPr id="525" name="Google Shape;525;p17"/>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pic>
        <p:nvPicPr>
          <p:cNvPr id="526" name="Google Shape;526;p17"/>
          <p:cNvPicPr preferRelativeResize="0"/>
          <p:nvPr/>
        </p:nvPicPr>
        <p:blipFill rotWithShape="1">
          <a:blip r:embed="rId3">
            <a:alphaModFix/>
          </a:blip>
          <a:srcRect b="0" l="0" r="748" t="8184"/>
          <a:stretch/>
        </p:blipFill>
        <p:spPr>
          <a:xfrm>
            <a:off x="7962988" y="4313828"/>
            <a:ext cx="3283648" cy="1708672"/>
          </a:xfrm>
          <a:prstGeom prst="rect">
            <a:avLst/>
          </a:prstGeom>
          <a:noFill/>
          <a:ln>
            <a:noFill/>
          </a:ln>
        </p:spPr>
      </p:pic>
      <p:pic>
        <p:nvPicPr>
          <p:cNvPr id="527" name="Google Shape;527;p17"/>
          <p:cNvPicPr preferRelativeResize="0"/>
          <p:nvPr/>
        </p:nvPicPr>
        <p:blipFill rotWithShape="1">
          <a:blip r:embed="rId4">
            <a:alphaModFix/>
          </a:blip>
          <a:srcRect b="0" l="0" r="0" t="0"/>
          <a:stretch/>
        </p:blipFill>
        <p:spPr>
          <a:xfrm>
            <a:off x="4484037" y="3290564"/>
            <a:ext cx="1970413" cy="2731936"/>
          </a:xfrm>
          <a:prstGeom prst="rect">
            <a:avLst/>
          </a:prstGeom>
          <a:noFill/>
          <a:ln>
            <a:noFill/>
          </a:ln>
        </p:spPr>
      </p:pic>
      <p:pic>
        <p:nvPicPr>
          <p:cNvPr id="528" name="Google Shape;528;p17"/>
          <p:cNvPicPr preferRelativeResize="0"/>
          <p:nvPr/>
        </p:nvPicPr>
        <p:blipFill rotWithShape="1">
          <a:blip r:embed="rId5">
            <a:alphaModFix/>
          </a:blip>
          <a:srcRect b="0" l="0" r="0" t="0"/>
          <a:stretch/>
        </p:blipFill>
        <p:spPr>
          <a:xfrm>
            <a:off x="6113283" y="5010784"/>
            <a:ext cx="1594685" cy="972369"/>
          </a:xfrm>
          <a:prstGeom prst="rect">
            <a:avLst/>
          </a:prstGeom>
          <a:noFill/>
          <a:ln>
            <a:noFill/>
          </a:ln>
        </p:spPr>
      </p:pic>
      <p:sp>
        <p:nvSpPr>
          <p:cNvPr id="529" name="Google Shape;529;p17"/>
          <p:cNvSpPr txBox="1"/>
          <p:nvPr/>
        </p:nvSpPr>
        <p:spPr>
          <a:xfrm>
            <a:off x="7851211" y="1629797"/>
            <a:ext cx="3503657" cy="17851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CloudWatchダッシュボード</a:t>
            </a:r>
            <a:r>
              <a:rPr lang="ja-JP" sz="1200">
                <a:solidFill>
                  <a:schemeClr val="dk1"/>
                </a:solidFill>
                <a:latin typeface="Arial"/>
                <a:ea typeface="Arial"/>
                <a:cs typeface="Arial"/>
                <a:sym typeface="Arial"/>
              </a:rPr>
              <a:t>で、1日の登録数など業務的なメトリクスも表示（CloudWatch Logsにアプリログを集めて毎分集計）</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運用開始時はCPU使用率でコンテナのAutoScaleをしていたが、うまく負荷が捉えられておらず、試行錯誤の結果、毎秒リクエスト数／コンテナ数（Metric Mathを使用）でしきい値を設定</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これらグラフやコストをダッシュボードとして非エンジニア含め関係者全員に閲覧可能に</a:t>
            </a:r>
            <a:endParaRPr sz="1200">
              <a:solidFill>
                <a:schemeClr val="dk1"/>
              </a:solidFill>
              <a:latin typeface="Arial"/>
              <a:ea typeface="Arial"/>
              <a:cs typeface="Arial"/>
              <a:sym typeface="Arial"/>
            </a:endParaRPr>
          </a:p>
        </p:txBody>
      </p:sp>
      <p:sp>
        <p:nvSpPr>
          <p:cNvPr id="530" name="Google Shape;530;p17"/>
          <p:cNvSpPr txBox="1"/>
          <p:nvPr/>
        </p:nvSpPr>
        <p:spPr>
          <a:xfrm>
            <a:off x="4347551" y="1636920"/>
            <a:ext cx="3503660"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ChatOpsのSlack</a:t>
            </a:r>
            <a:r>
              <a:rPr lang="ja-JP" sz="1200">
                <a:solidFill>
                  <a:schemeClr val="dk1"/>
                </a:solidFill>
                <a:latin typeface="Arial"/>
                <a:ea typeface="Arial"/>
                <a:cs typeface="Arial"/>
                <a:sym typeface="Arial"/>
              </a:rPr>
              <a:t>のチャネルに、発見的統制を実装したSecurity HubやConfig Rulesのアラートをリアルタイムで通知</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チャネル参加者全員で日常的にアラートの確認</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週次でアラート内容やSecurity Hubをレビュー</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月次でTrusted AdvisorやCost Explorerをレビュー</a:t>
            </a:r>
            <a:endParaRPr sz="1100">
              <a:solidFill>
                <a:schemeClr val="dk1"/>
              </a:solidFill>
              <a:latin typeface="Arial"/>
              <a:ea typeface="Arial"/>
              <a:cs typeface="Arial"/>
              <a:sym typeface="Arial"/>
            </a:endParaRPr>
          </a:p>
        </p:txBody>
      </p:sp>
      <p:sp>
        <p:nvSpPr>
          <p:cNvPr id="531" name="Google Shape;531;p17"/>
          <p:cNvSpPr/>
          <p:nvPr/>
        </p:nvSpPr>
        <p:spPr>
          <a:xfrm>
            <a:off x="1642276" y="3910244"/>
            <a:ext cx="2593967" cy="211562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000">
                <a:solidFill>
                  <a:schemeClr val="dk1"/>
                </a:solidFill>
                <a:latin typeface="Arial"/>
                <a:ea typeface="Arial"/>
                <a:cs typeface="Arial"/>
                <a:sym typeface="Arial"/>
              </a:rPr>
              <a:t>AWSアカウント</a:t>
            </a:r>
            <a:endParaRPr sz="1000">
              <a:solidFill>
                <a:schemeClr val="dk1"/>
              </a:solidFill>
              <a:latin typeface="Arial"/>
              <a:ea typeface="Arial"/>
              <a:cs typeface="Arial"/>
              <a:sym typeface="Arial"/>
            </a:endParaRPr>
          </a:p>
        </p:txBody>
      </p:sp>
      <p:sp>
        <p:nvSpPr>
          <p:cNvPr id="532" name="Google Shape;532;p17"/>
          <p:cNvSpPr/>
          <p:nvPr/>
        </p:nvSpPr>
        <p:spPr>
          <a:xfrm>
            <a:off x="838199" y="4595724"/>
            <a:ext cx="659524" cy="132231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利用者</a:t>
            </a:r>
            <a:br>
              <a:rPr lang="ja-JP" sz="1000">
                <a:solidFill>
                  <a:schemeClr val="dk1"/>
                </a:solidFill>
                <a:latin typeface="Arial"/>
                <a:ea typeface="Arial"/>
                <a:cs typeface="Arial"/>
                <a:sym typeface="Arial"/>
              </a:rPr>
            </a:br>
            <a:r>
              <a:rPr lang="ja-JP" sz="1000">
                <a:solidFill>
                  <a:schemeClr val="dk1"/>
                </a:solidFill>
                <a:latin typeface="Arial"/>
                <a:ea typeface="Arial"/>
                <a:cs typeface="Arial"/>
                <a:sym typeface="Arial"/>
              </a:rPr>
              <a:t>拠点</a:t>
            </a:r>
            <a:endParaRPr sz="1000">
              <a:solidFill>
                <a:schemeClr val="dk1"/>
              </a:solidFill>
              <a:latin typeface="Arial"/>
              <a:ea typeface="Arial"/>
              <a:cs typeface="Arial"/>
              <a:sym typeface="Arial"/>
            </a:endParaRPr>
          </a:p>
        </p:txBody>
      </p:sp>
      <p:sp>
        <p:nvSpPr>
          <p:cNvPr id="533" name="Google Shape;533;p17"/>
          <p:cNvSpPr/>
          <p:nvPr/>
        </p:nvSpPr>
        <p:spPr>
          <a:xfrm>
            <a:off x="1721667" y="4595724"/>
            <a:ext cx="2431835" cy="132231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ja-JP" sz="1000">
                <a:solidFill>
                  <a:schemeClr val="dk1"/>
                </a:solidFill>
                <a:latin typeface="Arial"/>
                <a:ea typeface="Arial"/>
                <a:cs typeface="Arial"/>
                <a:sym typeface="Arial"/>
              </a:rPr>
              <a:t>VPC</a:t>
            </a:r>
            <a:endParaRPr sz="1000">
              <a:solidFill>
                <a:schemeClr val="dk1"/>
              </a:solidFill>
              <a:latin typeface="Arial"/>
              <a:ea typeface="Arial"/>
              <a:cs typeface="Arial"/>
              <a:sym typeface="Arial"/>
            </a:endParaRPr>
          </a:p>
        </p:txBody>
      </p:sp>
      <p:sp>
        <p:nvSpPr>
          <p:cNvPr id="534" name="Google Shape;534;p17"/>
          <p:cNvSpPr/>
          <p:nvPr/>
        </p:nvSpPr>
        <p:spPr>
          <a:xfrm>
            <a:off x="1800475" y="5010785"/>
            <a:ext cx="663907" cy="37163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ALB</a:t>
            </a:r>
            <a:endParaRPr sz="1200">
              <a:solidFill>
                <a:schemeClr val="dk1"/>
              </a:solidFill>
              <a:latin typeface="Arial"/>
              <a:ea typeface="Arial"/>
              <a:cs typeface="Arial"/>
              <a:sym typeface="Arial"/>
            </a:endParaRPr>
          </a:p>
        </p:txBody>
      </p:sp>
      <p:sp>
        <p:nvSpPr>
          <p:cNvPr id="535" name="Google Shape;535;p17"/>
          <p:cNvSpPr/>
          <p:nvPr/>
        </p:nvSpPr>
        <p:spPr>
          <a:xfrm>
            <a:off x="2606223" y="4714152"/>
            <a:ext cx="663907" cy="37163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ECS</a:t>
            </a:r>
            <a:endParaRPr/>
          </a:p>
          <a:p>
            <a:pPr indent="0" lvl="0" marL="0" marR="0" rtl="0" algn="ctr">
              <a:spcBef>
                <a:spcPts val="0"/>
              </a:spcBef>
              <a:spcAft>
                <a:spcPts val="0"/>
              </a:spcAft>
              <a:buNone/>
            </a:pPr>
            <a:r>
              <a:rPr lang="ja-JP" sz="1000">
                <a:solidFill>
                  <a:schemeClr val="dk1"/>
                </a:solidFill>
                <a:latin typeface="Arial"/>
                <a:ea typeface="Arial"/>
                <a:cs typeface="Arial"/>
                <a:sym typeface="Arial"/>
              </a:rPr>
              <a:t>on Fargate</a:t>
            </a:r>
            <a:endParaRPr sz="1000">
              <a:solidFill>
                <a:schemeClr val="dk1"/>
              </a:solidFill>
              <a:latin typeface="Arial"/>
              <a:ea typeface="Arial"/>
              <a:cs typeface="Arial"/>
              <a:sym typeface="Arial"/>
            </a:endParaRPr>
          </a:p>
        </p:txBody>
      </p:sp>
      <p:sp>
        <p:nvSpPr>
          <p:cNvPr id="536" name="Google Shape;536;p17"/>
          <p:cNvSpPr/>
          <p:nvPr/>
        </p:nvSpPr>
        <p:spPr>
          <a:xfrm>
            <a:off x="2604922" y="5285881"/>
            <a:ext cx="663907" cy="37163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ECS</a:t>
            </a:r>
            <a:endParaRPr/>
          </a:p>
          <a:p>
            <a:pPr indent="0" lvl="0" marL="0" marR="0" rtl="0" algn="ctr">
              <a:spcBef>
                <a:spcPts val="0"/>
              </a:spcBef>
              <a:spcAft>
                <a:spcPts val="0"/>
              </a:spcAft>
              <a:buNone/>
            </a:pPr>
            <a:r>
              <a:rPr lang="ja-JP" sz="1000">
                <a:solidFill>
                  <a:schemeClr val="dk1"/>
                </a:solidFill>
                <a:latin typeface="Arial"/>
                <a:ea typeface="Arial"/>
                <a:cs typeface="Arial"/>
                <a:sym typeface="Arial"/>
              </a:rPr>
              <a:t>on Fargate</a:t>
            </a:r>
            <a:endParaRPr sz="1000">
              <a:solidFill>
                <a:schemeClr val="dk1"/>
              </a:solidFill>
              <a:latin typeface="Arial"/>
              <a:ea typeface="Arial"/>
              <a:cs typeface="Arial"/>
              <a:sym typeface="Arial"/>
            </a:endParaRPr>
          </a:p>
        </p:txBody>
      </p:sp>
      <p:sp>
        <p:nvSpPr>
          <p:cNvPr id="537" name="Google Shape;537;p17"/>
          <p:cNvSpPr/>
          <p:nvPr/>
        </p:nvSpPr>
        <p:spPr>
          <a:xfrm>
            <a:off x="3403080" y="5010785"/>
            <a:ext cx="663907" cy="37163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Aurora</a:t>
            </a:r>
            <a:endParaRPr sz="1200">
              <a:solidFill>
                <a:schemeClr val="dk1"/>
              </a:solidFill>
              <a:latin typeface="Arial"/>
              <a:ea typeface="Arial"/>
              <a:cs typeface="Arial"/>
              <a:sym typeface="Arial"/>
            </a:endParaRPr>
          </a:p>
        </p:txBody>
      </p:sp>
      <p:cxnSp>
        <p:nvCxnSpPr>
          <p:cNvPr id="538" name="Google Shape;538;p17"/>
          <p:cNvCxnSpPr>
            <a:stCxn id="539" idx="3"/>
            <a:endCxn id="534" idx="1"/>
          </p:cNvCxnSpPr>
          <p:nvPr/>
        </p:nvCxnSpPr>
        <p:spPr>
          <a:xfrm>
            <a:off x="1393310" y="5196601"/>
            <a:ext cx="407100" cy="0"/>
          </a:xfrm>
          <a:prstGeom prst="straightConnector1">
            <a:avLst/>
          </a:prstGeom>
          <a:noFill/>
          <a:ln cap="flat" cmpd="sng" w="9525">
            <a:solidFill>
              <a:schemeClr val="dk1"/>
            </a:solidFill>
            <a:prstDash val="solid"/>
            <a:miter lim="800000"/>
            <a:headEnd len="sm" w="sm" type="none"/>
            <a:tailEnd len="sm" w="sm" type="none"/>
          </a:ln>
        </p:spPr>
      </p:cxnSp>
      <p:cxnSp>
        <p:nvCxnSpPr>
          <p:cNvPr id="540" name="Google Shape;540;p17"/>
          <p:cNvCxnSpPr>
            <a:stCxn id="534" idx="3"/>
            <a:endCxn id="535" idx="1"/>
          </p:cNvCxnSpPr>
          <p:nvPr/>
        </p:nvCxnSpPr>
        <p:spPr>
          <a:xfrm flipH="1" rot="10800000">
            <a:off x="2464382" y="4899901"/>
            <a:ext cx="141900" cy="296700"/>
          </a:xfrm>
          <a:prstGeom prst="straightConnector1">
            <a:avLst/>
          </a:prstGeom>
          <a:noFill/>
          <a:ln cap="flat" cmpd="sng" w="9525">
            <a:solidFill>
              <a:schemeClr val="dk1"/>
            </a:solidFill>
            <a:prstDash val="solid"/>
            <a:miter lim="800000"/>
            <a:headEnd len="sm" w="sm" type="none"/>
            <a:tailEnd len="sm" w="sm" type="none"/>
          </a:ln>
        </p:spPr>
      </p:cxnSp>
      <p:cxnSp>
        <p:nvCxnSpPr>
          <p:cNvPr id="541" name="Google Shape;541;p17"/>
          <p:cNvCxnSpPr>
            <a:stCxn id="534" idx="3"/>
            <a:endCxn id="536" idx="1"/>
          </p:cNvCxnSpPr>
          <p:nvPr/>
        </p:nvCxnSpPr>
        <p:spPr>
          <a:xfrm>
            <a:off x="2464382" y="5196601"/>
            <a:ext cx="140400" cy="275100"/>
          </a:xfrm>
          <a:prstGeom prst="straightConnector1">
            <a:avLst/>
          </a:prstGeom>
          <a:noFill/>
          <a:ln cap="flat" cmpd="sng" w="9525">
            <a:solidFill>
              <a:schemeClr val="dk1"/>
            </a:solidFill>
            <a:prstDash val="solid"/>
            <a:miter lim="800000"/>
            <a:headEnd len="sm" w="sm" type="none"/>
            <a:tailEnd len="sm" w="sm" type="none"/>
          </a:ln>
        </p:spPr>
      </p:cxnSp>
      <p:cxnSp>
        <p:nvCxnSpPr>
          <p:cNvPr id="542" name="Google Shape;542;p17"/>
          <p:cNvCxnSpPr>
            <a:stCxn id="535" idx="3"/>
            <a:endCxn id="537" idx="1"/>
          </p:cNvCxnSpPr>
          <p:nvPr/>
        </p:nvCxnSpPr>
        <p:spPr>
          <a:xfrm>
            <a:off x="3270130" y="4899968"/>
            <a:ext cx="132900" cy="296700"/>
          </a:xfrm>
          <a:prstGeom prst="straightConnector1">
            <a:avLst/>
          </a:prstGeom>
          <a:noFill/>
          <a:ln cap="flat" cmpd="sng" w="9525">
            <a:solidFill>
              <a:schemeClr val="dk1"/>
            </a:solidFill>
            <a:prstDash val="solid"/>
            <a:miter lim="800000"/>
            <a:headEnd len="sm" w="sm" type="none"/>
            <a:tailEnd len="sm" w="sm" type="none"/>
          </a:ln>
        </p:spPr>
      </p:cxnSp>
      <p:cxnSp>
        <p:nvCxnSpPr>
          <p:cNvPr id="543" name="Google Shape;543;p17"/>
          <p:cNvCxnSpPr>
            <a:stCxn id="536" idx="3"/>
            <a:endCxn id="537" idx="1"/>
          </p:cNvCxnSpPr>
          <p:nvPr/>
        </p:nvCxnSpPr>
        <p:spPr>
          <a:xfrm flipH="1" rot="10800000">
            <a:off x="3268829" y="5196597"/>
            <a:ext cx="134400" cy="275100"/>
          </a:xfrm>
          <a:prstGeom prst="straightConnector1">
            <a:avLst/>
          </a:prstGeom>
          <a:noFill/>
          <a:ln cap="flat" cmpd="sng" w="9525">
            <a:solidFill>
              <a:schemeClr val="dk1"/>
            </a:solidFill>
            <a:prstDash val="solid"/>
            <a:miter lim="800000"/>
            <a:headEnd len="sm" w="sm" type="none"/>
            <a:tailEnd len="sm" w="sm" type="none"/>
          </a:ln>
        </p:spPr>
      </p:cxnSp>
      <p:sp>
        <p:nvSpPr>
          <p:cNvPr id="539" name="Google Shape;539;p17"/>
          <p:cNvSpPr/>
          <p:nvPr/>
        </p:nvSpPr>
        <p:spPr>
          <a:xfrm>
            <a:off x="942612" y="5075876"/>
            <a:ext cx="450698" cy="24145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端末</a:t>
            </a:r>
            <a:endParaRPr sz="1000">
              <a:solidFill>
                <a:schemeClr val="dk1"/>
              </a:solidFill>
              <a:latin typeface="Arial"/>
              <a:ea typeface="Arial"/>
              <a:cs typeface="Arial"/>
              <a:sym typeface="Arial"/>
            </a:endParaRPr>
          </a:p>
        </p:txBody>
      </p:sp>
      <p:sp>
        <p:nvSpPr>
          <p:cNvPr id="544" name="Google Shape;544;p17"/>
          <p:cNvSpPr/>
          <p:nvPr/>
        </p:nvSpPr>
        <p:spPr>
          <a:xfrm>
            <a:off x="2604922" y="4106638"/>
            <a:ext cx="663907" cy="37163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200">
                <a:solidFill>
                  <a:schemeClr val="dk1"/>
                </a:solidFill>
                <a:latin typeface="Arial"/>
                <a:ea typeface="Arial"/>
                <a:cs typeface="Arial"/>
                <a:sym typeface="Arial"/>
              </a:rPr>
              <a:t>ECR</a:t>
            </a:r>
            <a:endParaRPr sz="1200">
              <a:solidFill>
                <a:schemeClr val="dk1"/>
              </a:solidFill>
              <a:latin typeface="Arial"/>
              <a:ea typeface="Arial"/>
              <a:cs typeface="Arial"/>
              <a:sym typeface="Arial"/>
            </a:endParaRPr>
          </a:p>
        </p:txBody>
      </p:sp>
      <p:cxnSp>
        <p:nvCxnSpPr>
          <p:cNvPr id="545" name="Google Shape;545;p17"/>
          <p:cNvCxnSpPr>
            <a:stCxn id="544" idx="2"/>
            <a:endCxn id="535" idx="0"/>
          </p:cNvCxnSpPr>
          <p:nvPr/>
        </p:nvCxnSpPr>
        <p:spPr>
          <a:xfrm>
            <a:off x="2936876" y="4478269"/>
            <a:ext cx="1200" cy="235800"/>
          </a:xfrm>
          <a:prstGeom prst="straightConnector1">
            <a:avLst/>
          </a:prstGeom>
          <a:noFill/>
          <a:ln cap="flat" cmpd="sng" w="9525">
            <a:solidFill>
              <a:schemeClr val="dk1"/>
            </a:solidFill>
            <a:prstDash val="solid"/>
            <a:miter lim="800000"/>
            <a:headEnd len="sm" w="sm" type="none"/>
            <a:tailEnd len="sm" w="sm" type="none"/>
          </a:ln>
        </p:spPr>
      </p:cxnSp>
      <p:sp>
        <p:nvSpPr>
          <p:cNvPr id="546" name="Google Shape;546;p17"/>
          <p:cNvSpPr txBox="1"/>
          <p:nvPr/>
        </p:nvSpPr>
        <p:spPr>
          <a:xfrm rot="5400000">
            <a:off x="2688246" y="5656697"/>
            <a:ext cx="47705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000">
                <a:solidFill>
                  <a:schemeClr val="dk1"/>
                </a:solidFill>
                <a:latin typeface="Arial"/>
                <a:ea typeface="Arial"/>
                <a:cs typeface="Arial"/>
                <a:sym typeface="Arial"/>
              </a:rPr>
              <a:t>・・・</a:t>
            </a:r>
            <a:endParaRPr/>
          </a:p>
        </p:txBody>
      </p:sp>
      <p:sp>
        <p:nvSpPr>
          <p:cNvPr id="547" name="Google Shape;547;p17"/>
          <p:cNvSpPr/>
          <p:nvPr/>
        </p:nvSpPr>
        <p:spPr>
          <a:xfrm>
            <a:off x="2604922" y="3432856"/>
            <a:ext cx="663907" cy="37163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Arial"/>
                <a:ea typeface="Arial"/>
                <a:cs typeface="Arial"/>
                <a:sym typeface="Arial"/>
              </a:rPr>
              <a:t>GitHub</a:t>
            </a:r>
            <a:endParaRPr/>
          </a:p>
          <a:p>
            <a:pPr indent="0" lvl="0" marL="0" marR="0" rtl="0" algn="ctr">
              <a:spcBef>
                <a:spcPts val="0"/>
              </a:spcBef>
              <a:spcAft>
                <a:spcPts val="0"/>
              </a:spcAft>
              <a:buNone/>
            </a:pPr>
            <a:r>
              <a:rPr lang="ja-JP" sz="800">
                <a:solidFill>
                  <a:schemeClr val="dk1"/>
                </a:solidFill>
                <a:latin typeface="Arial"/>
                <a:ea typeface="Arial"/>
                <a:cs typeface="Arial"/>
                <a:sym typeface="Arial"/>
              </a:rPr>
              <a:t>w/ Actions</a:t>
            </a:r>
            <a:endParaRPr/>
          </a:p>
        </p:txBody>
      </p:sp>
      <p:cxnSp>
        <p:nvCxnSpPr>
          <p:cNvPr id="548" name="Google Shape;548;p17"/>
          <p:cNvCxnSpPr>
            <a:stCxn id="547" idx="2"/>
            <a:endCxn id="544" idx="0"/>
          </p:cNvCxnSpPr>
          <p:nvPr/>
        </p:nvCxnSpPr>
        <p:spPr>
          <a:xfrm>
            <a:off x="2936876" y="3804487"/>
            <a:ext cx="0" cy="302100"/>
          </a:xfrm>
          <a:prstGeom prst="straightConnector1">
            <a:avLst/>
          </a:prstGeom>
          <a:noFill/>
          <a:ln cap="flat" cmpd="sng" w="9525">
            <a:solidFill>
              <a:schemeClr val="dk1"/>
            </a:solidFill>
            <a:prstDash val="solid"/>
            <a:miter lim="800000"/>
            <a:headEnd len="sm" w="sm" type="none"/>
            <a:tailEnd len="sm" w="sm" type="none"/>
          </a:ln>
        </p:spPr>
      </p:cxnSp>
      <p:sp>
        <p:nvSpPr>
          <p:cNvPr id="549" name="Google Shape;549;p17"/>
          <p:cNvSpPr/>
          <p:nvPr/>
        </p:nvSpPr>
        <p:spPr>
          <a:xfrm>
            <a:off x="3403079" y="4106638"/>
            <a:ext cx="663907" cy="371631"/>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900">
                <a:solidFill>
                  <a:schemeClr val="dk1"/>
                </a:solidFill>
                <a:latin typeface="Arial"/>
                <a:ea typeface="Arial"/>
                <a:cs typeface="Arial"/>
                <a:sym typeface="Arial"/>
              </a:rPr>
              <a:t>CloudWatch</a:t>
            </a:r>
            <a:endParaRPr/>
          </a:p>
          <a:p>
            <a:pPr indent="0" lvl="0" marL="0" marR="0" rtl="0" algn="ctr">
              <a:spcBef>
                <a:spcPts val="0"/>
              </a:spcBef>
              <a:spcAft>
                <a:spcPts val="0"/>
              </a:spcAft>
              <a:buNone/>
            </a:pPr>
            <a:r>
              <a:rPr lang="ja-JP" sz="900">
                <a:solidFill>
                  <a:schemeClr val="dk1"/>
                </a:solidFill>
                <a:latin typeface="Arial"/>
                <a:ea typeface="Arial"/>
                <a:cs typeface="Arial"/>
                <a:sym typeface="Arial"/>
              </a:rPr>
              <a:t>Dashboard</a:t>
            </a:r>
            <a:endParaRPr sz="900">
              <a:solidFill>
                <a:schemeClr val="dk1"/>
              </a:solidFill>
              <a:latin typeface="Arial"/>
              <a:ea typeface="Arial"/>
              <a:cs typeface="Arial"/>
              <a:sym typeface="Arial"/>
            </a:endParaRPr>
          </a:p>
        </p:txBody>
      </p:sp>
      <p:sp>
        <p:nvSpPr>
          <p:cNvPr id="550" name="Google Shape;550;p17"/>
          <p:cNvSpPr txBox="1"/>
          <p:nvPr/>
        </p:nvSpPr>
        <p:spPr>
          <a:xfrm>
            <a:off x="843887" y="1645942"/>
            <a:ext cx="3503664" cy="1600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400">
                <a:solidFill>
                  <a:schemeClr val="dk1"/>
                </a:solidFill>
                <a:latin typeface="Arial"/>
                <a:ea typeface="Arial"/>
                <a:cs typeface="Arial"/>
                <a:sym typeface="Arial"/>
              </a:rPr>
              <a:t>IaC</a:t>
            </a:r>
            <a:r>
              <a:rPr lang="ja-JP" sz="1200">
                <a:solidFill>
                  <a:schemeClr val="dk1"/>
                </a:solidFill>
                <a:latin typeface="Arial"/>
                <a:ea typeface="Arial"/>
                <a:cs typeface="Arial"/>
                <a:sym typeface="Arial"/>
              </a:rPr>
              <a:t>でアプリおよびインフラのデプロイを自動化するCI/CD環境を構築</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すべてマネージドサービスで構成し、EC2は本番環境になし</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ja-JP" sz="1200">
                <a:solidFill>
                  <a:schemeClr val="dk1"/>
                </a:solidFill>
                <a:latin typeface="Arial"/>
                <a:ea typeface="Arial"/>
                <a:cs typeface="Arial"/>
                <a:sym typeface="Arial"/>
              </a:rPr>
              <a:t>インフラの変更はIaCでのみ行い、本番環境にログインする運用はサービスイン後ゼロ</a:t>
            </a:r>
            <a:endParaRPr/>
          </a:p>
          <a:p>
            <a:pPr indent="0" lvl="0" marL="0" marR="0" rtl="0" algn="l">
              <a:spcBef>
                <a:spcPts val="0"/>
              </a:spcBef>
              <a:spcAft>
                <a:spcPts val="0"/>
              </a:spcAft>
              <a:buNone/>
            </a:pPr>
            <a:r>
              <a:rPr lang="ja-JP" sz="1200">
                <a:solidFill>
                  <a:schemeClr val="dk1"/>
                </a:solidFill>
                <a:latin typeface="Arial"/>
                <a:ea typeface="Arial"/>
                <a:cs typeface="Arial"/>
                <a:sym typeface="Arial"/>
              </a:rPr>
              <a:t>踏み台やパッチ管理等も不要で、運用やセキュリティ管理のシンプル化にもつながっている</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18"/>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556" name="Google Shape;556;p18"/>
          <p:cNvSpPr txBox="1"/>
          <p:nvPr>
            <p:ph type="title"/>
          </p:nvPr>
        </p:nvSpPr>
        <p:spPr>
          <a:xfrm>
            <a:off x="838200" y="2683852"/>
            <a:ext cx="10515600" cy="703911"/>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参考</a:t>
            </a:r>
            <a:endParaRPr/>
          </a:p>
        </p:txBody>
      </p:sp>
      <p:sp>
        <p:nvSpPr>
          <p:cNvPr id="557" name="Google Shape;557;p18"/>
          <p:cNvSpPr txBox="1"/>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lang="ja-JP" sz="1200">
                <a:solidFill>
                  <a:srgbClr val="7F7F7F"/>
                </a:solidFill>
                <a:latin typeface="Roboto"/>
                <a:ea typeface="Roboto"/>
                <a:cs typeface="Roboto"/>
                <a:sym typeface="Roboto"/>
              </a:rPr>
              <a:t>‹#›</a:t>
            </a:fld>
            <a:endParaRPr b="0" sz="1200">
              <a:solidFill>
                <a:srgbClr val="7F7F7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19"/>
          <p:cNvSpPr txBox="1"/>
          <p:nvPr>
            <p:ph idx="1" type="body"/>
          </p:nvPr>
        </p:nvSpPr>
        <p:spPr>
          <a:xfrm>
            <a:off x="838200" y="2272419"/>
            <a:ext cx="10515600" cy="391481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Char char="•"/>
            </a:pPr>
            <a:r>
              <a:rPr lang="ja-JP" sz="2400"/>
              <a:t>3.6 セキュリティについて</a:t>
            </a:r>
            <a:endParaRPr sz="2400"/>
          </a:p>
          <a:p>
            <a:pPr indent="-228600" lvl="1" marL="685800" rtl="0" algn="l">
              <a:lnSpc>
                <a:spcPct val="90000"/>
              </a:lnSpc>
              <a:spcBef>
                <a:spcPts val="500"/>
              </a:spcBef>
              <a:spcAft>
                <a:spcPts val="0"/>
              </a:spcAft>
              <a:buClr>
                <a:schemeClr val="dk1"/>
              </a:buClr>
              <a:buSzPts val="2000"/>
              <a:buChar char="•"/>
            </a:pPr>
            <a:r>
              <a:rPr lang="ja-JP" sz="2000"/>
              <a:t>責任共有モデルによる対象の絞り込み</a:t>
            </a:r>
            <a:endParaRPr sz="2000"/>
          </a:p>
          <a:p>
            <a:pPr indent="-228600" lvl="1" marL="685800" rtl="0" algn="l">
              <a:lnSpc>
                <a:spcPct val="90000"/>
              </a:lnSpc>
              <a:spcBef>
                <a:spcPts val="500"/>
              </a:spcBef>
              <a:spcAft>
                <a:spcPts val="0"/>
              </a:spcAft>
              <a:buClr>
                <a:schemeClr val="dk1"/>
              </a:buClr>
              <a:buSzPts val="2000"/>
              <a:buChar char="•"/>
            </a:pPr>
            <a:r>
              <a:rPr lang="ja-JP" sz="2000"/>
              <a:t>リファレンスアーキテクチャへの準拠</a:t>
            </a:r>
            <a:endParaRPr sz="2000"/>
          </a:p>
          <a:p>
            <a:pPr indent="-228600" lvl="1" marL="685800" rtl="0" algn="l">
              <a:lnSpc>
                <a:spcPct val="90000"/>
              </a:lnSpc>
              <a:spcBef>
                <a:spcPts val="500"/>
              </a:spcBef>
              <a:spcAft>
                <a:spcPts val="0"/>
              </a:spcAft>
              <a:buClr>
                <a:schemeClr val="dk1"/>
              </a:buClr>
              <a:buSzPts val="2000"/>
              <a:buChar char="•"/>
            </a:pPr>
            <a:r>
              <a:rPr lang="ja-JP" sz="2000"/>
              <a:t>境界型セキュリティのみに依存しないセキュリティ対策を行う(ゼロトラスト)</a:t>
            </a:r>
            <a:endParaRPr/>
          </a:p>
          <a:p>
            <a:pPr indent="-228600" lvl="1" marL="685800" rtl="0" algn="l">
              <a:lnSpc>
                <a:spcPct val="90000"/>
              </a:lnSpc>
              <a:spcBef>
                <a:spcPts val="500"/>
              </a:spcBef>
              <a:spcAft>
                <a:spcPts val="0"/>
              </a:spcAft>
              <a:buClr>
                <a:schemeClr val="dk1"/>
              </a:buClr>
              <a:buSzPts val="2000"/>
              <a:buChar char="•"/>
            </a:pPr>
            <a:r>
              <a:rPr lang="ja-JP" sz="2000"/>
              <a:t>予防的統制と発見的統制の実施</a:t>
            </a:r>
            <a:endParaRPr sz="2000"/>
          </a:p>
          <a:p>
            <a:pPr indent="-228600" lvl="1" marL="685800" rtl="0" algn="l">
              <a:lnSpc>
                <a:spcPct val="90000"/>
              </a:lnSpc>
              <a:spcBef>
                <a:spcPts val="500"/>
              </a:spcBef>
              <a:spcAft>
                <a:spcPts val="0"/>
              </a:spcAft>
              <a:buClr>
                <a:schemeClr val="dk1"/>
              </a:buClr>
              <a:buSzPts val="2000"/>
              <a:buChar char="•"/>
            </a:pPr>
            <a:r>
              <a:rPr lang="ja-JP" sz="2000"/>
              <a:t>セキュリティ対策の自動化</a:t>
            </a:r>
            <a:endParaRPr sz="2000"/>
          </a:p>
          <a:p>
            <a:pPr indent="-228600" lvl="1" marL="685800" rtl="0" algn="l">
              <a:lnSpc>
                <a:spcPct val="90000"/>
              </a:lnSpc>
              <a:spcBef>
                <a:spcPts val="500"/>
              </a:spcBef>
              <a:spcAft>
                <a:spcPts val="0"/>
              </a:spcAft>
              <a:buClr>
                <a:schemeClr val="dk1"/>
              </a:buClr>
              <a:buSzPts val="2000"/>
              <a:buChar char="•"/>
            </a:pPr>
            <a:r>
              <a:rPr lang="ja-JP" sz="2000"/>
              <a:t>サーバを構築しないアーキテクチャの採用</a:t>
            </a:r>
            <a:endParaRPr sz="2000"/>
          </a:p>
          <a:p>
            <a:pPr indent="-228600" lvl="1" marL="685800" rtl="0" algn="l">
              <a:lnSpc>
                <a:spcPct val="90000"/>
              </a:lnSpc>
              <a:spcBef>
                <a:spcPts val="500"/>
              </a:spcBef>
              <a:spcAft>
                <a:spcPts val="0"/>
              </a:spcAft>
              <a:buClr>
                <a:schemeClr val="dk1"/>
              </a:buClr>
              <a:buSzPts val="2000"/>
              <a:buChar char="•"/>
            </a:pPr>
            <a:r>
              <a:rPr lang="ja-JP" sz="2000"/>
              <a:t>IaCとテンプレート適用による主要セキュリティ対策のデフォルト化と適切なセキュリティ管理</a:t>
            </a:r>
            <a:endParaRPr sz="2000"/>
          </a:p>
          <a:p>
            <a:pPr indent="-228600" lvl="1" marL="685800" rtl="0" algn="l">
              <a:lnSpc>
                <a:spcPct val="90000"/>
              </a:lnSpc>
              <a:spcBef>
                <a:spcPts val="500"/>
              </a:spcBef>
              <a:spcAft>
                <a:spcPts val="0"/>
              </a:spcAft>
              <a:buClr>
                <a:schemeClr val="dk1"/>
              </a:buClr>
              <a:buSzPts val="2000"/>
              <a:buChar char="•"/>
            </a:pPr>
            <a:r>
              <a:rPr lang="ja-JP" sz="2000"/>
              <a:t>定量的計測とダッシュボードによる状況の可視化</a:t>
            </a:r>
            <a:endParaRPr sz="2000"/>
          </a:p>
          <a:p>
            <a:pPr indent="-228600" lvl="1" marL="685800" rtl="0" algn="l">
              <a:lnSpc>
                <a:spcPct val="90000"/>
              </a:lnSpc>
              <a:spcBef>
                <a:spcPts val="500"/>
              </a:spcBef>
              <a:spcAft>
                <a:spcPts val="0"/>
              </a:spcAft>
              <a:buClr>
                <a:schemeClr val="dk1"/>
              </a:buClr>
              <a:buSzPts val="2000"/>
              <a:buChar char="•"/>
            </a:pPr>
            <a:r>
              <a:rPr lang="ja-JP" sz="2000"/>
              <a:t>継続的なアップデートへの対応</a:t>
            </a:r>
            <a:endParaRPr sz="2000"/>
          </a:p>
          <a:p>
            <a:pPr indent="-228600" lvl="1" marL="685800" rtl="0" algn="l">
              <a:lnSpc>
                <a:spcPct val="90000"/>
              </a:lnSpc>
              <a:spcBef>
                <a:spcPts val="500"/>
              </a:spcBef>
              <a:spcAft>
                <a:spcPts val="0"/>
              </a:spcAft>
              <a:buClr>
                <a:schemeClr val="dk1"/>
              </a:buClr>
              <a:buSzPts val="2000"/>
              <a:buChar char="•"/>
            </a:pPr>
            <a:r>
              <a:rPr lang="ja-JP" sz="2000"/>
              <a:t>クラウドに最適化した監査</a:t>
            </a:r>
            <a:endParaRPr sz="2000"/>
          </a:p>
        </p:txBody>
      </p:sp>
      <p:sp>
        <p:nvSpPr>
          <p:cNvPr id="563" name="Google Shape;563;p19"/>
          <p:cNvSpPr txBox="1"/>
          <p:nvPr>
            <p:ph type="title"/>
          </p:nvPr>
        </p:nvSpPr>
        <p:spPr>
          <a:xfrm>
            <a:off x="838200" y="463841"/>
            <a:ext cx="10515600" cy="702565"/>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dk1"/>
              </a:buClr>
              <a:buSzPts val="4400"/>
              <a:buFont typeface="Roboto"/>
              <a:buNone/>
            </a:pPr>
            <a:r>
              <a:rPr lang="ja-JP"/>
              <a:t>（参考）基本方針の3.6</a:t>
            </a:r>
            <a:endParaRPr/>
          </a:p>
        </p:txBody>
      </p:sp>
      <p:sp>
        <p:nvSpPr>
          <p:cNvPr id="564" name="Google Shape;564;p19"/>
          <p:cNvSpPr txBox="1"/>
          <p:nvPr>
            <p:ph idx="12" type="sldNum"/>
          </p:nvPr>
        </p:nvSpPr>
        <p:spPr>
          <a:xfrm>
            <a:off x="8972463" y="63212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ja-JP"/>
              <a:t>‹#›</a:t>
            </a:fld>
            <a:endParaRPr/>
          </a:p>
        </p:txBody>
      </p:sp>
      <p:sp>
        <p:nvSpPr>
          <p:cNvPr id="565" name="Google Shape;565;p19"/>
          <p:cNvSpPr txBox="1"/>
          <p:nvPr/>
        </p:nvSpPr>
        <p:spPr>
          <a:xfrm>
            <a:off x="838200" y="1436193"/>
            <a:ext cx="10437473" cy="5078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ja-JP" sz="1800">
                <a:solidFill>
                  <a:schemeClr val="dk1"/>
                </a:solidFill>
                <a:latin typeface="Arial"/>
                <a:ea typeface="Arial"/>
                <a:cs typeface="Arial"/>
                <a:sym typeface="Arial"/>
              </a:rPr>
              <a:t> 「政府情報システムにおけるクラウドサービスの適切な利用に係る基本方針」</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ja-JP" sz="900">
                <a:solidFill>
                  <a:schemeClr val="dk1"/>
                </a:solidFill>
                <a:latin typeface="Arial"/>
                <a:ea typeface="Arial"/>
                <a:cs typeface="Arial"/>
                <a:sym typeface="Arial"/>
              </a:rPr>
              <a:t>https://www.digital.go.jp/assets/contents/node/basic_page/field_ref_resources/e2a06143-ed29-4f1d-9c31-0f06fca67afc/17ef852e/20221228_resources_standard_guidelines_guideline_01.pdf</a:t>
            </a:r>
            <a:endParaRPr/>
          </a:p>
        </p:txBody>
      </p:sp>
    </p:spTree>
  </p:cSld>
  <p:clrMapOvr>
    <a:masterClrMapping/>
  </p:clrMapOvr>
</p:sld>
</file>

<file path=ppt/theme/theme1.xml><?xml version="1.0" encoding="utf-8"?>
<a:theme xmlns:a="http://schemas.openxmlformats.org/drawingml/2006/main" xmlns:r="http://schemas.openxmlformats.org/officeDocument/2006/relationships" name="デジタル庁_20210907">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2023-01-13T07:10:11Z</dcterms:created>
  <dc:creator>Norihito Yamamoto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0x010100787713CD7D62B14B93394301F5E8D08C</vt:lpwstr>
  </property>
  <property fmtid="{D5CDD505-2E9C-101B-9397-08002B2CF9AE}" pid="3" name="_dlc_DocIdItemGuid">
    <vt:lpwstr>ac1dc56b-3201-4a11-a3b8-ac95b58aef26</vt:lpwstr>
  </property>
  <property fmtid="{D5CDD505-2E9C-101B-9397-08002B2CF9AE}" pid="4" name="Order">
    <vt:r8>3.085541E8</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dlc_DocId">
    <vt:lpwstr>DIGI-808455956-3085547</vt:lpwstr>
  </property>
  <property fmtid="{D5CDD505-2E9C-101B-9397-08002B2CF9AE}" pid="11" name="_dlc_DocIdPersistId">
    <vt:bool>false</vt:bool>
  </property>
  <property fmtid="{D5CDD505-2E9C-101B-9397-08002B2CF9AE}" pid="12" name="_dlc_DocIdUrl">
    <vt:lpwstr>https://digitalgojp.sharepoint.com/sites/digi_portal/_layouts/15/DocIdRedir.aspx?ID=DIGI-808455956-3085547, DIGI-808455956-3085547</vt:lpwstr>
  </property>
  <property fmtid="{D5CDD505-2E9C-101B-9397-08002B2CF9AE}" pid="13" name="MSIP_Label_6d216333-c160-41c4-9762-b9a49726605b_Enabled">
    <vt:lpwstr>true</vt:lpwstr>
  </property>
  <property fmtid="{D5CDD505-2E9C-101B-9397-08002B2CF9AE}" pid="14" name="MSIP_Label_6d216333-c160-41c4-9762-b9a49726605b_SetDate">
    <vt:lpwstr>2023-01-13T07:10:12Z</vt:lpwstr>
  </property>
  <property fmtid="{D5CDD505-2E9C-101B-9397-08002B2CF9AE}" pid="15" name="MSIP_Label_6d216333-c160-41c4-9762-b9a49726605b_Method">
    <vt:lpwstr>Standard</vt:lpwstr>
  </property>
  <property fmtid="{D5CDD505-2E9C-101B-9397-08002B2CF9AE}" pid="16" name="MSIP_Label_6d216333-c160-41c4-9762-b9a49726605b_Name">
    <vt:lpwstr>6d216333-c160-41c4-9762-b9a49726605b</vt:lpwstr>
  </property>
  <property fmtid="{D5CDD505-2E9C-101B-9397-08002B2CF9AE}" pid="17" name="MSIP_Label_6d216333-c160-41c4-9762-b9a49726605b_SiteId">
    <vt:lpwstr>81d61ebf-3b63-4783-bc08-897c1485f98b</vt:lpwstr>
  </property>
  <property fmtid="{D5CDD505-2E9C-101B-9397-08002B2CF9AE}" pid="18" name="MSIP_Label_6d216333-c160-41c4-9762-b9a49726605b_ActionId">
    <vt:lpwstr>f4fac811-e859-4e4f-a382-00008f9ed43d</vt:lpwstr>
  </property>
  <property fmtid="{D5CDD505-2E9C-101B-9397-08002B2CF9AE}" pid="19" name="MSIP_Label_6d216333-c160-41c4-9762-b9a49726605b_ContentBits">
    <vt:lpwstr>0</vt:lpwstr>
  </property>
</Properties>
</file>